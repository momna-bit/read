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0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illaudit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1005840" cy="2624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4688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PDF AUDIT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FINDINGS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48640" y="3794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real bills checked across three brands — what passed, what needs a look, and what we learned building the tool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Momna Ali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6748272"/>
            <a:ext cx="3047924" cy="109728"/>
          </a:xfrm>
          <a:prstGeom prst="rect">
            <a:avLst/>
          </a:prstGeom>
          <a:solidFill>
            <a:srgbClr val="005CB9"/>
          </a:solidFill>
          <a:ln/>
        </p:spPr>
      </p:sp>
      <p:sp>
        <p:nvSpPr>
          <p:cNvPr id="7" name="Shape 4"/>
          <p:cNvSpPr/>
          <p:nvPr/>
        </p:nvSpPr>
        <p:spPr>
          <a:xfrm>
            <a:off x="3047924" y="6748272"/>
            <a:ext cx="3047924" cy="109728"/>
          </a:xfrm>
          <a:prstGeom prst="rect">
            <a:avLst/>
          </a:prstGeom>
          <a:solidFill>
            <a:srgbClr val="00BB86"/>
          </a:solidFill>
          <a:ln/>
        </p:spPr>
      </p:sp>
      <p:sp>
        <p:nvSpPr>
          <p:cNvPr id="8" name="Shape 5"/>
          <p:cNvSpPr/>
          <p:nvPr/>
        </p:nvSpPr>
        <p:spPr>
          <a:xfrm>
            <a:off x="6095848" y="6748272"/>
            <a:ext cx="3047924" cy="109728"/>
          </a:xfrm>
          <a:prstGeom prst="rect">
            <a:avLst/>
          </a:prstGeom>
          <a:solidFill>
            <a:srgbClr val="F4A600"/>
          </a:solidFill>
          <a:ln/>
        </p:spPr>
      </p:sp>
      <p:sp>
        <p:nvSpPr>
          <p:cNvPr id="9" name="Shape 6"/>
          <p:cNvSpPr/>
          <p:nvPr/>
        </p:nvSpPr>
        <p:spPr>
          <a:xfrm>
            <a:off x="9143771" y="6748272"/>
            <a:ext cx="3047924" cy="109728"/>
          </a:xfrm>
          <a:prstGeom prst="rect">
            <a:avLst/>
          </a:prstGeom>
          <a:solidFill>
            <a:srgbClr val="00B9B3"/>
          </a:solidFill>
          <a:ln/>
        </p:spPr>
      </p:sp>
      <p:sp>
        <p:nvSpPr>
          <p:cNvPr id="10" name="Text 7"/>
          <p:cNvSpPr/>
          <p:nvPr/>
        </p:nvSpPr>
        <p:spPr>
          <a:xfrm>
            <a:off x="114757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illaudit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822960" cy="2139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566928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BB8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5669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THE GOAL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We're Doing This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1691640"/>
            <a:ext cx="11247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Abby provided a checklist — the Texas Invoice PDF Display Control Checklist — listing every piece of information a Texas electricity bill is required to show, split into 9 sections. Right now, checking a bill against that list means a person opening the PDF and reading it line by line. This tool does that same read-through automatically, so we can check every bill we have, not just a handful.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57200" y="342900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F5F8F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6118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this tool as a very fast, very literal proofreader. It doesn't understand the bill the way a person does — it just checks "is this required sentence or number written somewhere on this page, yes or no." That's simple on purpose: a simple check is one we can trust and explain, and it can run on hundreds of bills in the time it'd take a person to check five.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50749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scope: presence checks only (is it there or not) — not whether the numbers on the bill are mathematically correct. That's a separate, harder Phase 2 problem.</a:t>
            </a:r>
            <a:endParaRPr lang="en-US" sz="1200" dirty="0"/>
          </a:p>
        </p:txBody>
      </p:sp>
      <p:pic>
        <p:nvPicPr>
          <p:cNvPr id="10" name="Image 1" descr="/home/claude/billaudit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320040"/>
            <a:ext cx="566928" cy="1463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757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illaudit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822960" cy="2139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566928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5CB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5669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THE METHOD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Tool Actually Works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783080"/>
            <a:ext cx="384048" cy="384048"/>
          </a:xfrm>
          <a:prstGeom prst="ellipse">
            <a:avLst/>
          </a:prstGeom>
          <a:solidFill>
            <a:srgbClr val="005CB9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17556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PDF like a person would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60120" y="214884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opens each bill and pulls out every word on every page — the same words you'd see if you opened it and read it yourself.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55080" y="1783080"/>
            <a:ext cx="384048" cy="384048"/>
          </a:xfrm>
          <a:prstGeom prst="ellipse">
            <a:avLst/>
          </a:prstGeom>
          <a:solidFill>
            <a:srgbClr val="00BB86"/>
          </a:solidFill>
          <a:ln/>
        </p:spPr>
      </p:sp>
      <p:sp>
        <p:nvSpPr>
          <p:cNvPr id="11" name="Text 8"/>
          <p:cNvSpPr/>
          <p:nvPr/>
        </p:nvSpPr>
        <p:spPr>
          <a:xfrm>
            <a:off x="635508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858000" y="17556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required words and numbers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858000" y="214884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checklist item, it searches that text for the exact phrase or field it expects — e.g. does the phrase "THINGS YOU SHOULD KNOW ABOUT YOUR BILL" appear anywhere?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" y="3429000"/>
            <a:ext cx="384048" cy="384048"/>
          </a:xfrm>
          <a:prstGeom prst="ellipse">
            <a:avLst/>
          </a:prstGeom>
          <a:solidFill>
            <a:srgbClr val="F4A600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60120" y="34015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each item PASS, FAIL, REVIEW, or SKIP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60120" y="37947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= found it. FAIL = genuinely missing. REVIEW = we can't be 100% sure by text alone, a person should glance at it. SKIP = doesn't apply to this bill.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355080" y="3429000"/>
            <a:ext cx="384048" cy="384048"/>
          </a:xfrm>
          <a:prstGeom prst="ellipse">
            <a:avLst/>
          </a:prstGeom>
          <a:solidFill>
            <a:srgbClr val="00B9B3"/>
          </a:solidFill>
          <a:ln/>
        </p:spPr>
      </p:sp>
      <p:sp>
        <p:nvSpPr>
          <p:cNvPr id="19" name="Text 16"/>
          <p:cNvSpPr/>
          <p:nvPr/>
        </p:nvSpPr>
        <p:spPr>
          <a:xfrm>
            <a:off x="635508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858000" y="34015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 all down, per bill, per item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858000" y="37947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result gets recorded — nothing is summarized away — so you can trace any FAIL back to exactly which bill and why.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limit: </a:t>
            </a:r>
            <a:pPr indent="0" marL="0"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can only find something if it's typed text on the page. A required item that's part of a picture or scanned image (like a barcode) can't be checked this way — flagged honestly as SKIP, not guessed at.</a:t>
            </a:r>
            <a:endParaRPr lang="en-US" sz="1050" dirty="0"/>
          </a:p>
        </p:txBody>
      </p:sp>
      <p:pic>
        <p:nvPicPr>
          <p:cNvPr id="23" name="Image 1" descr="/home/claude/billaudit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320040"/>
            <a:ext cx="566928" cy="14630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14757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illaudit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822960" cy="2139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566928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BB8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5669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Checked — and What We Didn't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828800"/>
            <a:ext cx="11247120" cy="713232"/>
          </a:xfrm>
          <a:prstGeom prst="roundRect">
            <a:avLst>
              <a:gd name="adj" fmla="val 7692"/>
            </a:avLst>
          </a:prstGeom>
          <a:solidFill>
            <a:srgbClr val="F5F8FA"/>
          </a:solidFill>
          <a:ln/>
        </p:spPr>
      </p:sp>
      <p:sp>
        <p:nvSpPr>
          <p:cNvPr id="7" name="Shape 4"/>
          <p:cNvSpPr/>
          <p:nvPr/>
        </p:nvSpPr>
        <p:spPr>
          <a:xfrm>
            <a:off x="685800" y="2029968"/>
            <a:ext cx="310896" cy="310896"/>
          </a:xfrm>
          <a:prstGeom prst="ellipse">
            <a:avLst/>
          </a:prstGeom>
          <a:solidFill>
            <a:srgbClr val="00BB86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88720" y="190195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&amp; Regulatory Notices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0" y="190195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Solar, Refer a Friend, Power to Choose, Critical Care, complaint info, TDU emergency contact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651760"/>
            <a:ext cx="11247120" cy="713232"/>
          </a:xfrm>
          <a:prstGeom prst="roundRect">
            <a:avLst>
              <a:gd name="adj" fmla="val 7692"/>
            </a:avLst>
          </a:prstGeom>
          <a:solidFill>
            <a:srgbClr val="F5F8FA"/>
          </a:solidFill>
          <a:ln/>
        </p:spPr>
      </p:sp>
      <p:sp>
        <p:nvSpPr>
          <p:cNvPr id="12" name="Shape 9"/>
          <p:cNvSpPr/>
          <p:nvPr/>
        </p:nvSpPr>
        <p:spPr>
          <a:xfrm>
            <a:off x="685800" y="2852928"/>
            <a:ext cx="310896" cy="310896"/>
          </a:xfrm>
          <a:prstGeom prst="ellipse">
            <a:avLst/>
          </a:prstGeom>
          <a:solidFill>
            <a:srgbClr val="00BB86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2852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88720" y="272491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Information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0" y="272491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number, service address / ESI ID, customer name &amp; billing address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3474720"/>
            <a:ext cx="11247120" cy="713232"/>
          </a:xfrm>
          <a:prstGeom prst="roundRect">
            <a:avLst>
              <a:gd name="adj" fmla="val 7692"/>
            </a:avLst>
          </a:prstGeom>
          <a:solidFill>
            <a:srgbClr val="F5F8FA"/>
          </a:solidFill>
          <a:ln/>
        </p:spPr>
      </p:sp>
      <p:sp>
        <p:nvSpPr>
          <p:cNvPr id="17" name="Shape 14"/>
          <p:cNvSpPr/>
          <p:nvPr/>
        </p:nvSpPr>
        <p:spPr>
          <a:xfrm>
            <a:off x="685800" y="3675888"/>
            <a:ext cx="310896" cy="310896"/>
          </a:xfrm>
          <a:prstGeom prst="ellipse">
            <a:avLst/>
          </a:prstGeom>
          <a:solidFill>
            <a:srgbClr val="00BB86"/>
          </a:solidFill>
          <a:ln/>
        </p:spPr>
      </p:sp>
      <p:sp>
        <p:nvSpPr>
          <p:cNvPr id="18" name="Text 15"/>
          <p:cNvSpPr/>
          <p:nvPr/>
        </p:nvSpPr>
        <p:spPr>
          <a:xfrm>
            <a:off x="685800" y="3675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88720" y="354787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Summary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0" y="35478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number, bill date, bill period, balances, charges, amount due, due date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4297680"/>
            <a:ext cx="11247120" cy="713232"/>
          </a:xfrm>
          <a:prstGeom prst="roundRect">
            <a:avLst>
              <a:gd name="adj" fmla="val 7692"/>
            </a:avLst>
          </a:prstGeom>
          <a:solidFill>
            <a:srgbClr val="F5F8FA"/>
          </a:solidFill>
          <a:ln/>
        </p:spPr>
      </p:sp>
      <p:sp>
        <p:nvSpPr>
          <p:cNvPr id="22" name="Shape 19"/>
          <p:cNvSpPr/>
          <p:nvPr/>
        </p:nvSpPr>
        <p:spPr>
          <a:xfrm>
            <a:off x="685800" y="4498848"/>
            <a:ext cx="310896" cy="310896"/>
          </a:xfrm>
          <a:prstGeom prst="ellipse">
            <a:avLst/>
          </a:prstGeom>
          <a:solidFill>
            <a:srgbClr val="F4A600"/>
          </a:solidFill>
          <a:ln/>
        </p:spPr>
      </p:sp>
      <p:sp>
        <p:nvSpPr>
          <p:cNvPr id="23" name="Text 20"/>
          <p:cNvSpPr/>
          <p:nvPr/>
        </p:nvSpPr>
        <p:spPr>
          <a:xfrm>
            <a:off x="685800" y="4498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88720" y="437083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Meter, Charges &amp; Taxes, Agreement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0" y="437083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readings, base/energy/delivery charges, taxes, contract dates &amp; messages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5120640"/>
            <a:ext cx="11247120" cy="713232"/>
          </a:xfrm>
          <a:prstGeom prst="roundRect">
            <a:avLst>
              <a:gd name="adj" fmla="val 7692"/>
            </a:avLst>
          </a:prstGeom>
          <a:solidFill>
            <a:srgbClr val="F5F8FA"/>
          </a:solidFill>
          <a:ln/>
        </p:spPr>
      </p:sp>
      <p:sp>
        <p:nvSpPr>
          <p:cNvPr id="27" name="Shape 24"/>
          <p:cNvSpPr/>
          <p:nvPr/>
        </p:nvSpPr>
        <p:spPr>
          <a:xfrm>
            <a:off x="685800" y="5321808"/>
            <a:ext cx="310896" cy="310896"/>
          </a:xfrm>
          <a:prstGeom prst="ellipse">
            <a:avLst/>
          </a:prstGeom>
          <a:solidFill>
            <a:srgbClr val="F4A6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5800" y="5321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8-9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188720" y="519379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History &amp; Payment Coupon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72000" y="519379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chart presence, remittance stub, reference numbers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5943600"/>
            <a:ext cx="11247120" cy="713232"/>
          </a:xfrm>
          <a:prstGeom prst="roundRect">
            <a:avLst>
              <a:gd name="adj" fmla="val 7692"/>
            </a:avLst>
          </a:prstGeom>
          <a:solidFill>
            <a:srgbClr val="F5F8FA"/>
          </a:solidFill>
          <a:ln/>
        </p:spPr>
      </p:sp>
      <p:sp>
        <p:nvSpPr>
          <p:cNvPr id="32" name="Shape 29"/>
          <p:cNvSpPr/>
          <p:nvPr/>
        </p:nvSpPr>
        <p:spPr>
          <a:xfrm>
            <a:off x="685800" y="6144768"/>
            <a:ext cx="310896" cy="310896"/>
          </a:xfrm>
          <a:prstGeom prst="ellipse">
            <a:avLst/>
          </a:prstGeom>
          <a:solidFill>
            <a:srgbClr val="9AA5B1"/>
          </a:solidFill>
          <a:ln/>
        </p:spPr>
      </p:sp>
      <p:sp>
        <p:nvSpPr>
          <p:cNvPr id="33" name="Text 30"/>
          <p:cNvSpPr/>
          <p:nvPr/>
        </p:nvSpPr>
        <p:spPr>
          <a:xfrm>
            <a:off x="685800" y="6144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188720" y="601675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Display &amp; Formatting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4572000" y="601675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 — needs visual/layout analysis, not text search. Separate project.</a:t>
            </a:r>
            <a:endParaRPr lang="en-US" sz="1100" dirty="0"/>
          </a:p>
        </p:txBody>
      </p:sp>
      <p:pic>
        <p:nvPicPr>
          <p:cNvPr id="36" name="Image 1" descr="/home/claude/billaudit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320040"/>
            <a:ext cx="566928" cy="146304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114757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illaudit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822960" cy="2139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566928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4A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5669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Real Bills Taught Us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1508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real bills by hand caught real mismatches — here's what changed because of it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05740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5F8F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14884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number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24688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looked for "Account Number:" — real bills say "Acct #:". Fixed to accept both.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315468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5F8FA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32461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expiration message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35661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Tara/Amigo say "valid contract until..."; Just Energy says "contract valid until..." — swapped word order. Fixed to accept both.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425196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5F8FA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43434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Charge line item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31520" y="46634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Amigo commercial bill has no separate Base Charge line at all — genuinely absent, not a bug. Now flagged as "verify manually" instead of a hard fail.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7200" y="534924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5F8FA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54406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name &amp; billing address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31520" y="57607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bills print these with NO label at all — just plain text. A word-search literally cannot confirm this reliably, so it's marked REVIEW, not PASS or FAIL.</a:t>
            </a:r>
            <a:endParaRPr lang="en-US" sz="1150" dirty="0"/>
          </a:p>
        </p:txBody>
      </p:sp>
      <p:pic>
        <p:nvPicPr>
          <p:cNvPr id="19" name="Image 1" descr="/home/claude/billaudit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320040"/>
            <a:ext cx="566928" cy="14630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4757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illaudit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822960" cy="2139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566928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5CB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5669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Bills Checked — Here's What We Found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9202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5F8F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21488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457200" y="30632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 Checked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9202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5F8FA"/>
          </a:solidFill>
          <a:ln/>
        </p:spPr>
      </p:sp>
      <p:sp>
        <p:nvSpPr>
          <p:cNvPr id="10" name="Text 7"/>
          <p:cNvSpPr/>
          <p:nvPr/>
        </p:nvSpPr>
        <p:spPr>
          <a:xfrm>
            <a:off x="4297680" y="21488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A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4297680" y="30632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Failures Found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138160" y="19202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5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8138160" y="21488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8138160" y="30632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Failures Per Bill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4114800"/>
            <a:ext cx="11247120" cy="1828800"/>
          </a:xfrm>
          <a:prstGeom prst="roundRect">
            <a:avLst>
              <a:gd name="adj" fmla="val 4000"/>
            </a:avLst>
          </a:prstGeom>
          <a:solidFill>
            <a:srgbClr val="F5F8FA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4297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 real, specific things to look at, spread across 34 bills. Not every failure is a real compliance gap — some are genuine brand differences (like the Base Charge example on the last slide) — but every single one is now written down, with the exact reason, in one place.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breakdown — which specific checks fail most often, and on which bills — is in the "Summary" tab of the Excel report (bill_audit_report.xlsx), sorted worst-first so the most common issues are easy to spot without scrolling.</a:t>
            </a:r>
            <a:endParaRPr lang="en-US" sz="1300" dirty="0"/>
          </a:p>
        </p:txBody>
      </p:sp>
      <p:pic>
        <p:nvPicPr>
          <p:cNvPr id="17" name="Image 1" descr="/home/claude/billaudit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320040"/>
            <a:ext cx="566928" cy="14630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4757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illaudit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822960" cy="2139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566928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BB8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5669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Bills, Side by Side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828800"/>
            <a:ext cx="5440680" cy="3931920"/>
          </a:xfrm>
          <a:prstGeom prst="roundRect">
            <a:avLst>
              <a:gd name="adj" fmla="val 1860"/>
            </a:avLst>
          </a:prstGeom>
          <a:solidFill>
            <a:srgbClr val="F5F8FA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 Energy — Residential, TNMP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42316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checks run. Only 2 issues found: the required "Things You Should Know" notice was genuinely missing, and the customer name/address block was flagged REVIEW (no label exists to confirm it automatically — a person should glance at it). Everything else — account number, meter reading, charges, agreement details, remittance stub — passed cleanly.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828800"/>
            <a:ext cx="5440680" cy="3931920"/>
          </a:xfrm>
          <a:prstGeom prst="roundRect">
            <a:avLst>
              <a:gd name="adj" fmla="val 1860"/>
            </a:avLst>
          </a:prstGeom>
          <a:solidFill>
            <a:srgbClr val="F5F8FA"/>
          </a:solidFill>
          <a:ln/>
        </p:spPr>
      </p:sp>
      <p:sp>
        <p:nvSpPr>
          <p:cNvPr id="10" name="Text 7"/>
          <p:cNvSpPr/>
          <p:nvPr/>
        </p:nvSpPr>
        <p:spPr>
          <a:xfrm>
            <a:off x="653796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Tara_Energy_Sample.pdf — A Known Odd File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37960" y="242316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sample file has failed unrelated checks since Phase 1 began — it was already flagged during early validation as an unusual sample (its filename even guessed the wrong account type). It fails Solar, Refer a Friend, and Power to Choose because it's commercial but formatted oddly. Worth a manual look at this specific file rather than trusting its results at face value.</a:t>
            </a:r>
            <a:endParaRPr lang="en-US" sz="1200" dirty="0"/>
          </a:p>
        </p:txBody>
      </p:sp>
      <p:pic>
        <p:nvPicPr>
          <p:cNvPr id="12" name="Image 1" descr="/home/claude/billaudit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320040"/>
            <a:ext cx="566928" cy="1463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4757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illaudit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822960" cy="2139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566928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4A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5669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FINE PRINT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Doesn't Prove Yet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8288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5F8FA"/>
          </a:solidFill>
          <a:ln/>
        </p:spPr>
      </p:sp>
      <p:sp>
        <p:nvSpPr>
          <p:cNvPr id="7" name="Shape 4"/>
          <p:cNvSpPr/>
          <p:nvPr/>
        </p:nvSpPr>
        <p:spPr>
          <a:xfrm>
            <a:off x="685800" y="2029968"/>
            <a:ext cx="128016" cy="128016"/>
          </a:xfrm>
          <a:prstGeom prst="ellipse">
            <a:avLst/>
          </a:prstGeom>
          <a:solidFill>
            <a:srgbClr val="F4A600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19385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bill per brand deeply hand-checked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14400" y="22860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4-6, 8-9 are built from Tara, Amigo, and Just Energy samples — one each. More brand samples may surface more label differences, same as we already found twice.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80760" y="18288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5F8FA"/>
          </a:solidFill>
          <a:ln/>
        </p:spPr>
      </p:sp>
      <p:sp>
        <p:nvSpPr>
          <p:cNvPr id="11" name="Shape 8"/>
          <p:cNvSpPr/>
          <p:nvPr/>
        </p:nvSpPr>
        <p:spPr>
          <a:xfrm>
            <a:off x="6309360" y="2029968"/>
            <a:ext cx="128016" cy="128016"/>
          </a:xfrm>
          <a:prstGeom prst="ellipse">
            <a:avLst/>
          </a:prstGeom>
          <a:solidFill>
            <a:srgbClr val="F4A600"/>
          </a:solidFill>
          <a:ln/>
        </p:spPr>
      </p:sp>
      <p:sp>
        <p:nvSpPr>
          <p:cNvPr id="12" name="Text 9"/>
          <p:cNvSpPr/>
          <p:nvPr/>
        </p:nvSpPr>
        <p:spPr>
          <a:xfrm>
            <a:off x="6537960" y="19385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"REVIEW" isn't the same as "confirmed correct"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537960" y="22860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name and billing address always come back REVIEW, since no label exists on real bills to check automatically. A person still needs to glance at these.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4290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5F8FA"/>
          </a:solidFill>
          <a:ln/>
        </p:spPr>
      </p:sp>
      <p:sp>
        <p:nvSpPr>
          <p:cNvPr id="15" name="Shape 12"/>
          <p:cNvSpPr/>
          <p:nvPr/>
        </p:nvSpPr>
        <p:spPr>
          <a:xfrm>
            <a:off x="685800" y="3630168"/>
            <a:ext cx="128016" cy="128016"/>
          </a:xfrm>
          <a:prstGeom prst="ellipse">
            <a:avLst/>
          </a:prstGeom>
          <a:solidFill>
            <a:srgbClr val="F4A600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35387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price calculation isn't checked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14400" y="38862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confirm the message text is present ("average price you paid..."), not whether the printed cents/kWh number is mathematically correct — that's a different, harder check.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080760" y="34290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5F8FA"/>
          </a:solidFill>
          <a:ln/>
        </p:spPr>
      </p:sp>
      <p:sp>
        <p:nvSpPr>
          <p:cNvPr id="19" name="Shape 16"/>
          <p:cNvSpPr/>
          <p:nvPr/>
        </p:nvSpPr>
        <p:spPr>
          <a:xfrm>
            <a:off x="6309360" y="3630168"/>
            <a:ext cx="128016" cy="128016"/>
          </a:xfrm>
          <a:prstGeom prst="ellipse">
            <a:avLst/>
          </a:prstGeom>
          <a:solidFill>
            <a:srgbClr val="F4A600"/>
          </a:solidFill>
          <a:ln/>
        </p:spPr>
      </p:sp>
      <p:sp>
        <p:nvSpPr>
          <p:cNvPr id="20" name="Text 17"/>
          <p:cNvSpPr/>
          <p:nvPr/>
        </p:nvSpPr>
        <p:spPr>
          <a:xfrm>
            <a:off x="6537960" y="35387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(visual layout) isn't covered at all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537960" y="38862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text, blank pages, font issues — these need to look at the actual page image, not just the text. A separate project, not an extension of this one.</a:t>
            </a:r>
            <a:endParaRPr lang="en-US" sz="1100" dirty="0"/>
          </a:p>
        </p:txBody>
      </p:sp>
      <p:pic>
        <p:nvPicPr>
          <p:cNvPr id="22" name="Image 1" descr="/home/claude/billaudit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320040"/>
            <a:ext cx="566928" cy="14630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4757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illaudit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822960" cy="2139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32588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F5F8FA"/>
          </a:solidFill>
          <a:ln/>
        </p:spPr>
      </p:sp>
      <p:sp>
        <p:nvSpPr>
          <p:cNvPr id="5" name="Shape 2"/>
          <p:cNvSpPr/>
          <p:nvPr/>
        </p:nvSpPr>
        <p:spPr>
          <a:xfrm>
            <a:off x="731520" y="1527048"/>
            <a:ext cx="128016" cy="128016"/>
          </a:xfrm>
          <a:prstGeom prst="ellipse">
            <a:avLst/>
          </a:prstGeom>
          <a:solidFill>
            <a:srgbClr val="005CB9"/>
          </a:solidFill>
          <a:ln/>
        </p:spPr>
      </p:sp>
      <p:sp>
        <p:nvSpPr>
          <p:cNvPr id="6" name="Text 3"/>
          <p:cNvSpPr/>
          <p:nvPr/>
        </p:nvSpPr>
        <p:spPr>
          <a:xfrm>
            <a:off x="960120" y="14173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works, and it's checking real things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60120" y="17647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real bills, 36 checks each, 134 specific real findings — not a demo, an actual working audit.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251460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F5F8FA"/>
          </a:solidFill>
          <a:ln/>
        </p:spPr>
      </p:sp>
      <p:sp>
        <p:nvSpPr>
          <p:cNvPr id="9" name="Shape 6"/>
          <p:cNvSpPr/>
          <p:nvPr/>
        </p:nvSpPr>
        <p:spPr>
          <a:xfrm>
            <a:off x="731520" y="2715768"/>
            <a:ext cx="128016" cy="128016"/>
          </a:xfrm>
          <a:prstGeom prst="ellipse">
            <a:avLst/>
          </a:prstGeom>
          <a:solidFill>
            <a:srgbClr val="00BB86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26060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bills taught us real lessons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60120" y="29535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brand phrases things slightly differently. We found and fixed 4 real label mismatches by checking actual PDFs by hand, not guessing.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370332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F5F8FA"/>
          </a:solidFill>
          <a:ln/>
        </p:spPr>
      </p:sp>
      <p:sp>
        <p:nvSpPr>
          <p:cNvPr id="13" name="Shape 10"/>
          <p:cNvSpPr/>
          <p:nvPr/>
        </p:nvSpPr>
        <p:spPr>
          <a:xfrm>
            <a:off x="731520" y="3904488"/>
            <a:ext cx="128016" cy="128016"/>
          </a:xfrm>
          <a:prstGeom prst="ellipse">
            <a:avLst/>
          </a:prstGeom>
          <a:solidFill>
            <a:srgbClr val="F4A600"/>
          </a:solidFill>
          <a:ln/>
        </p:spPr>
      </p:sp>
      <p:sp>
        <p:nvSpPr>
          <p:cNvPr id="14" name="Text 11"/>
          <p:cNvSpPr/>
          <p:nvPr/>
        </p:nvSpPr>
        <p:spPr>
          <a:xfrm>
            <a:off x="960120" y="37947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things genuinely can't be auto-confirmed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960120" y="414223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name/address has no label on real bills — flagged honestly as REVIEW rather than a false PASS or FAIL.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7200" y="489204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F5F8FA"/>
          </a:solidFill>
          <a:ln/>
        </p:spPr>
      </p:sp>
      <p:sp>
        <p:nvSpPr>
          <p:cNvPr id="17" name="Shape 14"/>
          <p:cNvSpPr/>
          <p:nvPr/>
        </p:nvSpPr>
        <p:spPr>
          <a:xfrm>
            <a:off x="731520" y="5093208"/>
            <a:ext cx="128016" cy="128016"/>
          </a:xfrm>
          <a:prstGeom prst="ellipse">
            <a:avLst/>
          </a:prstGeom>
          <a:solidFill>
            <a:srgbClr val="00B9B3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49834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is broad but not complete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960120" y="533095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of 10 checklist sections are built. Section 10 (visual layout) is a fundamentally different, separate problem.</a:t>
            </a:r>
            <a:endParaRPr lang="en-US" sz="1150" dirty="0"/>
          </a:p>
        </p:txBody>
      </p:sp>
      <p:pic>
        <p:nvPicPr>
          <p:cNvPr id="20" name="Image 1" descr="/home/claude/billaudit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320040"/>
            <a:ext cx="566928" cy="14630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14757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illaudit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822960" cy="2139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943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for Jonathan &amp; Abby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Should we expand brand coverage before trusting Sections 4-9 at scale?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78308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bill per brand deeply validated so far for the newer sections. More samples per brand would tighten confidence.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2560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Is a REVIEW flag on customer name/address acceptable, or does this need a different technical approach?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9718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this gap for real would need to read the PDF's page layout, not just its text — a bigger technical lift.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7490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Does "Required PUCT Public Notices" overlap with what's already built in Section 1?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1605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from the original scope — worth a quick confirm with Abby before assuming it's covered or not.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Is this ready for Abby/Sif to use directly via the Excel export, or does it need a Power BI dashboard first?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53492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Excel report is ready now (Results + Summary + Power BI-ready data tabs). A live dashboard is in progress separately.</a:t>
            </a:r>
            <a:endParaRPr lang="en-US" sz="1200" dirty="0"/>
          </a:p>
        </p:txBody>
      </p:sp>
      <p:pic>
        <p:nvPicPr>
          <p:cNvPr id="12" name="Image 1" descr="/home/claude/billaudit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320040"/>
            <a:ext cx="566928" cy="1463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4757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40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illaudit_deck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822960" cy="2139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57200" y="10515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From Here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965960"/>
            <a:ext cx="310896" cy="310896"/>
          </a:xfrm>
          <a:prstGeom prst="ellipse">
            <a:avLst/>
          </a:prstGeom>
          <a:solidFill>
            <a:srgbClr val="00BB86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920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Summary tab together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22585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bill_audit_report.xlsx with Abby — confirm which FAILs are real gaps vs. brand differences.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3017520"/>
            <a:ext cx="310896" cy="310896"/>
          </a:xfrm>
          <a:prstGeom prst="ellipse">
            <a:avLst/>
          </a:prstGeom>
          <a:solidFill>
            <a:srgbClr val="005CB9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971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brand sample coverage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331012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at least 2-3 more bills per brand for Sections 4-9 to confirm the patterns hold beyond one sample each.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4069080"/>
            <a:ext cx="310896" cy="310896"/>
          </a:xfrm>
          <a:prstGeom prst="ellipse">
            <a:avLst/>
          </a:prstGeom>
          <a:solidFill>
            <a:srgbClr val="F4A600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40233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connecting the Power BI dashboard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14400" y="436168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— will let anyone browse results without opening Excel or running Python.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" y="5120640"/>
            <a:ext cx="310896" cy="310896"/>
          </a:xfrm>
          <a:prstGeom prst="ellipse">
            <a:avLst/>
          </a:prstGeom>
          <a:solidFill>
            <a:srgbClr val="00B9B3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5074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Section 10 as its own project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14400" y="54132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Visual/layout checking needs a different technical approach — worth its own timeline, not bundled into Phase 1.</a:t>
            </a:r>
            <a:endParaRPr lang="en-US" sz="1150" dirty="0"/>
          </a:p>
        </p:txBody>
      </p:sp>
      <p:pic>
        <p:nvPicPr>
          <p:cNvPr id="17" name="Image 1" descr="/home/claude/billaudit_deck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320040"/>
            <a:ext cx="566928" cy="14630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0" y="6748272"/>
            <a:ext cx="3047924" cy="109728"/>
          </a:xfrm>
          <a:prstGeom prst="rect">
            <a:avLst/>
          </a:prstGeom>
          <a:solidFill>
            <a:srgbClr val="005CB9"/>
          </a:solidFill>
          <a:ln/>
        </p:spPr>
      </p:sp>
      <p:sp>
        <p:nvSpPr>
          <p:cNvPr id="19" name="Shape 15"/>
          <p:cNvSpPr/>
          <p:nvPr/>
        </p:nvSpPr>
        <p:spPr>
          <a:xfrm>
            <a:off x="3047924" y="6748272"/>
            <a:ext cx="3047924" cy="109728"/>
          </a:xfrm>
          <a:prstGeom prst="rect">
            <a:avLst/>
          </a:prstGeom>
          <a:solidFill>
            <a:srgbClr val="00BB86"/>
          </a:solidFill>
          <a:ln/>
        </p:spPr>
      </p:sp>
      <p:sp>
        <p:nvSpPr>
          <p:cNvPr id="20" name="Shape 16"/>
          <p:cNvSpPr/>
          <p:nvPr/>
        </p:nvSpPr>
        <p:spPr>
          <a:xfrm>
            <a:off x="6095848" y="6748272"/>
            <a:ext cx="3047924" cy="109728"/>
          </a:xfrm>
          <a:prstGeom prst="rect">
            <a:avLst/>
          </a:prstGeom>
          <a:solidFill>
            <a:srgbClr val="F4A600"/>
          </a:solidFill>
          <a:ln/>
        </p:spPr>
      </p:sp>
      <p:sp>
        <p:nvSpPr>
          <p:cNvPr id="21" name="Shape 17"/>
          <p:cNvSpPr/>
          <p:nvPr/>
        </p:nvSpPr>
        <p:spPr>
          <a:xfrm>
            <a:off x="9143771" y="6748272"/>
            <a:ext cx="3047924" cy="109728"/>
          </a:xfrm>
          <a:prstGeom prst="rect">
            <a:avLst/>
          </a:prstGeom>
          <a:solidFill>
            <a:srgbClr val="00B9B3"/>
          </a:solidFill>
          <a:ln/>
        </p:spPr>
      </p:sp>
      <p:sp>
        <p:nvSpPr>
          <p:cNvPr id="22" name="Text 18"/>
          <p:cNvSpPr/>
          <p:nvPr/>
        </p:nvSpPr>
        <p:spPr>
          <a:xfrm>
            <a:off x="114757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2026-08-20T13:16:35Z</dcterms:created>
  <dcterms:modified xsi:type="dcterms:W3CDTF">2026-08-20T13:16:35Z</dcterms:modified>
</cp:coreProperties>
</file>