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s/slide20.xml" ContentType="application/vnd.openxmlformats-officedocument.presentationml.slide+xml"/>
  <Override PartName="/ppt/charts/chart4.xml" ContentType="application/vnd.openxmlformats-officedocument.drawingml.chart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5" r:id="rId26"/>
    <p:sldId id="271" r:id="rId22"/>
    <p:sldId id="272" r:id="rId23"/>
    <p:sldId id="273" r:id="rId24"/>
    <p:sldId id="274" r:id="rId25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  <Relationship Id="rId15" Type="http://schemas.openxmlformats.org/officeDocument/2006/relationships/slide" Target="slides/slide9.xml"/>
  <Relationship Id="rId16" Type="http://schemas.openxmlformats.org/officeDocument/2006/relationships/slide" Target="slides/slide10.xml"/>
  <Relationship Id="rId17" Type="http://schemas.openxmlformats.org/officeDocument/2006/relationships/slide" Target="slides/slide11.xml"/>
  <Relationship Id="rId18" Type="http://schemas.openxmlformats.org/officeDocument/2006/relationships/slide" Target="slides/slide12.xml"/>
  <Relationship Id="rId19" Type="http://schemas.openxmlformats.org/officeDocument/2006/relationships/slide" Target="slides/slide13.xml"/>
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40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4061"/>
                </a:solidFill>
                <a:latin typeface="Arial"/>
              </a:rPr>
              <a:t>Status of the 254 Customers Who Didn't Re-Enroll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 of Customers</c:v>
                </c:pt>
              </c:strCache>
            </c:strRef>
          </c:tx>
          <c:spPr>
            <a:solidFill>
              <a:srgbClr val="00BB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40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Still Active
(Paying Manually)</c:v>
                  </c:pt>
                  <c:pt idx="1">
                    <c:v>Churned
(Left Us)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40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4546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4546A"/>
                    </a:solidFill>
                    <a:latin typeface="Arial"/>
                  </a:rPr>
                  <a:t>Customer Status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54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A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4546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4546A"/>
                    </a:solidFill>
                    <a:latin typeface="Arial"/>
                  </a:rPr>
                  <a:t>Percent of the 254 Customers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54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40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4061"/>
                </a:solidFill>
                <a:latin typeface="Arial"/>
              </a:rPr>
              <a:t>Chance of Leaving Within 60 Days, by Group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 of Calls with a Written Summary</c:v>
                </c:pt>
              </c:strCache>
            </c:strRef>
          </c:tx>
          <c:spPr>
            <a:solidFill>
              <a:srgbClr val="F4A6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40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Card-Change Callers Who
Never Re-Enrolled (n=254)</c:v>
                  </c:pt>
                  <c:pt idx="1">
                    <c:v>A Typical Customer
(Whole Customer Base)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</c:v>
                </c:pt>
                <c:pt idx="1">
                  <c:v>5.25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40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4546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4546A"/>
                    </a:solidFill>
                    <a:latin typeface="Arial"/>
                  </a:rPr>
                  <a:t>Customer Group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454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A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4546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4546A"/>
                    </a:solidFill>
                    <a:latin typeface="Arial"/>
                  </a:rPr>
                  <a:t>Chance of Churning in 60 Days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54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40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4061"/>
                </a:solidFill>
                <a:latin typeface="Arial"/>
              </a:rPr>
              <a:t>Churned vs. Still Active: Credit Score and Tenure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Churned</c:v>
                </c:pt>
              </c:strCache>
            </c:strRef>
          </c:tx>
          <c:spPr>
            <a:solidFill>
              <a:srgbClr val="F4A6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40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Average Credit Score</c:v>
                </c:pt>
                <c:pt idx="1">
                  <c:v>Average Tenure (Days)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827</c:v>
                </c:pt>
                <c:pt idx="1">
                  <c:v>664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Still Active</c:v>
                </c:pt>
              </c:strCache>
            </c:strRef>
          </c:tx>
          <c:spPr>
            <a:solidFill>
              <a:srgbClr val="00BB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40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Average Credit Score</c:v>
                </c:pt>
                <c:pt idx="1">
                  <c:v>Average Tenure (Days)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803</c:v>
                </c:pt>
                <c:pt idx="1">
                  <c:v>819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40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4546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4546A"/>
                    </a:solidFill>
                    <a:latin typeface="Arial"/>
                  </a:rPr>
                  <a:t>Metric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54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A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4546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4546A"/>
                    </a:solidFill>
                    <a:latin typeface="Arial"/>
                  </a:rPr>
                  <a:t>Average Value (Score or Days)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54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 b="0" i="0" u="none" strike="noStrike">
              <a:solidFill>
                <a:srgbClr val="44546A"/>
              </a:solidFill>
              <a:latin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40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4061"/>
                </a:solidFill>
                <a:latin typeface="Arial"/>
              </a:rPr>
              <a:t>How Much of the 254-Customer Group Had a Credit Score on File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dPt>
            <c:idx val="0"/>
            <c:bubble3D val="0"/>
            <c:spPr>
              <a:solidFill>
                <a:srgbClr val="00BB86"/>
              </a:solidFill>
              <a:effectLst/>
            </c:spPr>
          </c:dPt>
          <c:dPt>
            <c:idx val="1"/>
            <c:bubble3D val="0"/>
            <c:spPr>
              <a:solidFill>
                <a:srgbClr val="F4A600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Included — Had a Credit Score on File (181)</c:v>
                </c:pt>
                <c:pt idx="1">
                  <c:v>Excluded — No Credit Score on File (73)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</c:v>
                </c:pt>
                <c:pt idx="1">
                  <c:v>73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 b="0" i="0" u="none" strike="noStrike">
              <a:solidFill>
                <a:srgbClr val="44546A"/>
              </a:solidFill>
              <a:latin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/Relationships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0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09360"/>
            <a:ext cx="3047924" cy="548640"/>
          </a:xfrm>
          <a:prstGeom prst="rect">
            <a:avLst/>
          </a:prstGeom>
          <a:solidFill>
            <a:srgbClr val="005CB9"/>
          </a:solidFill>
          <a:ln/>
        </p:spPr>
      </p:sp>
      <p:sp>
        <p:nvSpPr>
          <p:cNvPr id="3" name="Shape 1"/>
          <p:cNvSpPr/>
          <p:nvPr/>
        </p:nvSpPr>
        <p:spPr>
          <a:xfrm>
            <a:off x="3047924" y="6309360"/>
            <a:ext cx="3047924" cy="548640"/>
          </a:xfrm>
          <a:prstGeom prst="rect">
            <a:avLst/>
          </a:prstGeom>
          <a:solidFill>
            <a:srgbClr val="00BB86"/>
          </a:solidFill>
          <a:ln/>
        </p:spPr>
      </p:sp>
      <p:sp>
        <p:nvSpPr>
          <p:cNvPr id="4" name="Shape 2"/>
          <p:cNvSpPr/>
          <p:nvPr/>
        </p:nvSpPr>
        <p:spPr>
          <a:xfrm>
            <a:off x="6095848" y="6309360"/>
            <a:ext cx="3047924" cy="548640"/>
          </a:xfrm>
          <a:prstGeom prst="rect">
            <a:avLst/>
          </a:prstGeom>
          <a:solidFill>
            <a:srgbClr val="F4A600"/>
          </a:solidFill>
          <a:ln/>
        </p:spPr>
      </p:sp>
      <p:sp>
        <p:nvSpPr>
          <p:cNvPr id="5" name="Shape 3"/>
          <p:cNvSpPr/>
          <p:nvPr/>
        </p:nvSpPr>
        <p:spPr>
          <a:xfrm>
            <a:off x="9143771" y="6309360"/>
            <a:ext cx="3047924" cy="548640"/>
          </a:xfrm>
          <a:prstGeom prst="rect">
            <a:avLst/>
          </a:prstGeom>
          <a:solidFill>
            <a:srgbClr val="00B9B3"/>
          </a:solidFill>
          <a:ln/>
        </p:spPr>
      </p:sp>
      <p:pic>
        <p:nvPicPr>
          <p:cNvPr id="6" name="Image 0" descr="/home/claude/repeat_caller_deck/ig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417320" cy="3694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AUTOPAY CARD EXPIRES, WHERE DO CUSTOMERS GO?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22960" y="3383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found, and what it really means</a:t>
            </a:r>
            <a:endParaRPr lang="en-US" sz="1600" dirty="0"/>
          </a:p>
        </p:txBody>
      </p:sp>
      <p:pic>
        <p:nvPicPr>
          <p:cNvPr id="9" name="Image 1" descr="/home/claude/repeat_caller_deck/ig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73952"/>
            <a:ext cx="777240" cy="202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856232" cy="274320"/>
          </a:xfrm>
          <a:prstGeom prst="roundRect">
            <a:avLst>
              <a:gd name="adj" fmla="val 166667"/>
            </a:avLst>
          </a:prstGeom>
          <a:solidFill>
            <a:srgbClr val="005CB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856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THE GOAL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We're Doing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881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customer's card expires or gets replaced, some of them turn off autopay instead of just updating their card — often because they don't have the new card in hand yet. Most turn it back on soon after. But a small group never does. We wanted to know: are those customers quietly still with us, or have they actually left?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5F8F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40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terms: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wanted to find out: of the customers who don't turn autopay back on within 60 days of a card-related call, how many are still active, and how many have actually left us?</a:t>
            </a:r>
            <a:endParaRPr lang="en-US" sz="1500" dirty="0"/>
          </a:p>
        </p:txBody>
      </p:sp>
      <p:pic>
        <p:nvPicPr>
          <p:cNvPr id="9" name="Image 0" descr="/home/claude/repeat_caller_deck/ig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777240" cy="20299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48256" cy="274320"/>
          </a:xfrm>
          <a:prstGeom prst="roundRect">
            <a:avLst>
              <a:gd name="adj" fmla="val 166667"/>
            </a:avLst>
          </a:prstGeom>
          <a:solidFill>
            <a:srgbClr val="00BB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THE METHOD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Did This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005CB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4440" y="150876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every card-related autopay removal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187452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searched real call notes for card-change language (expired, lost, replaced, new card) and matched those calls to autopay removals within the same week.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502920" cy="502920"/>
          </a:xfrm>
          <a:prstGeom prst="ellipse">
            <a:avLst/>
          </a:prstGeom>
          <a:solidFill>
            <a:srgbClr val="005CB9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06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256032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who came back within 60 days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34440" y="292608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of those customers, we checked whether autopay was turned back on again within 60 days.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005CB9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657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361188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what happened to the ones who didn't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34440" y="397764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customers who never re-enrolled, we checked whether they are still an active customer today, or have since left.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709160"/>
            <a:ext cx="502920" cy="502920"/>
          </a:xfrm>
          <a:prstGeom prst="ellipse">
            <a:avLst/>
          </a:prstGeom>
          <a:solidFill>
            <a:srgbClr val="005CB9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34440" y="466344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this group to a typical customer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34440" y="502920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measured how often this specific group leaves compared to a typical customer over the same 60-day window, and compared their credit score and tenure.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5F8FA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74243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used: 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SQL — a way of asking our company's databases direct questions — to pull and cross-check real records from our billing, autopay, and call systems. Data covers autopay removals from April 2 to August 8, 2026 (about 4 months). Nothing outside our own data.</a:t>
            </a:r>
            <a:endParaRPr lang="en-US" sz="1300" dirty="0"/>
          </a:p>
        </p:txBody>
      </p:sp>
      <p:pic>
        <p:nvPicPr>
          <p:cNvPr id="23" name="Image 0" descr="/home/claude/repeat_caller_deck/ig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777240" cy="202997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568196" cy="274320"/>
          </a:xfrm>
          <a:prstGeom prst="roundRect">
            <a:avLst>
              <a:gd name="adj" fmla="val 166667"/>
            </a:avLst>
          </a:prstGeom>
          <a:solidFill>
            <a:srgbClr val="00BB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5681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QUESTION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They Leaving, or Just Paying Manually?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these customers are still with us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691640"/>
          <a:ext cx="105156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62356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5F8FA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574243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terms: 85% of the 254 customers who never turned autopay back on are still active today, most likely paying their bill manually. Only 15% (38 customers) have actually left.</a:t>
            </a:r>
            <a:endParaRPr lang="en-US" sz="1250" dirty="0"/>
          </a:p>
        </p:txBody>
      </p:sp>
      <p:pic>
        <p:nvPicPr>
          <p:cNvPr id="9" name="Image 0" descr="/home/claude/repeat_caller_deck/ig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73952"/>
            <a:ext cx="777240" cy="202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856232" cy="274320"/>
          </a:xfrm>
          <a:prstGeom prst="roundRect">
            <a:avLst>
              <a:gd name="adj" fmla="val 166667"/>
            </a:avLst>
          </a:prstGeom>
          <a:solidFill>
            <a:srgbClr val="F4A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856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QUESTION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Group Riskier Than a Typical Customer?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groups, same 60-day measure — not two slices of one pie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691640"/>
          <a:ext cx="105156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62356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5F8FA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574243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terms: these two bars are not parts of the same 100% — they're two separate groups. The left bar is the 254 card-change customers from the last slide (15% of them left). The right bar is a typical customer, picked from our whole customer base (about 5% leave in any 60-day window). This group leaves about 3 times more often than a typical customer — a real signal, even though it's not costing us much today.</a:t>
            </a:r>
            <a:endParaRPr lang="en-US" sz="1250" dirty="0"/>
          </a:p>
        </p:txBody>
      </p:sp>
      <p:pic>
        <p:nvPicPr>
          <p:cNvPr id="9" name="Image 0" descr="/home/claude/repeat_caller_deck/ig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73952"/>
            <a:ext cx="777240" cy="202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624328" cy="274320"/>
          </a:xfrm>
          <a:prstGeom prst="roundRect">
            <a:avLst>
              <a:gd name="adj" fmla="val 166667"/>
            </a:avLst>
          </a:prstGeom>
          <a:solidFill>
            <a:srgbClr val="F4A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MONEY QUESTION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It's Costing Us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what the 38 customers who left actually owed us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9448" y="1691640"/>
            <a:ext cx="5257800" cy="4160520"/>
          </a:xfrm>
          <a:prstGeom prst="roundRect">
            <a:avLst>
              <a:gd name="adj" fmla="val 1758"/>
            </a:avLst>
          </a:prstGeom>
          <a:solidFill>
            <a:srgbClr val="F5F8FA"/>
          </a:solidFill>
          <a:ln/>
        </p:spPr>
      </p:sp>
      <p:sp>
        <p:nvSpPr>
          <p:cNvPr id="7" name="Shape 5"/>
          <p:cNvSpPr/>
          <p:nvPr/>
        </p:nvSpPr>
        <p:spPr>
          <a:xfrm>
            <a:off x="929488" y="1984248"/>
            <a:ext cx="457200" cy="54864"/>
          </a:xfrm>
          <a:prstGeom prst="rect">
            <a:avLst/>
          </a:prstGeom>
          <a:solidFill>
            <a:srgbClr val="F4A600"/>
          </a:solidFill>
          <a:ln/>
        </p:spPr>
      </p:sp>
      <p:sp>
        <p:nvSpPr>
          <p:cNvPr id="8" name="Text 6"/>
          <p:cNvSpPr/>
          <p:nvPr/>
        </p:nvSpPr>
        <p:spPr>
          <a:xfrm>
            <a:off x="929488" y="214884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Most Left Owing Nothing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29488" y="2788920"/>
            <a:ext cx="4617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31 of the 38 customers who left (82%) owed us nothing at all when they left.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29488" y="3840480"/>
            <a:ext cx="4617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Only 7 of the 38 (18%) left with any past-due balance on their account.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29488" y="4892040"/>
            <a:ext cx="4617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Across all 38 customers, total past-due debt was $1,959.28 — about $52 per customer on average.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24448" y="1691640"/>
            <a:ext cx="5257800" cy="4160520"/>
          </a:xfrm>
          <a:prstGeom prst="roundRect">
            <a:avLst>
              <a:gd name="adj" fmla="val 1758"/>
            </a:avLst>
          </a:prstGeom>
          <a:solidFill>
            <a:srgbClr val="F5F8FA"/>
          </a:solidFill>
          <a:ln/>
        </p:spPr>
      </p:sp>
      <p:sp>
        <p:nvSpPr>
          <p:cNvPr id="13" name="Shape 11"/>
          <p:cNvSpPr/>
          <p:nvPr/>
        </p:nvSpPr>
        <p:spPr>
          <a:xfrm>
            <a:off x="6644488" y="1984248"/>
            <a:ext cx="457200" cy="54864"/>
          </a:xfrm>
          <a:prstGeom prst="rect">
            <a:avLst/>
          </a:prstGeom>
          <a:solidFill>
            <a:srgbClr val="005CB9"/>
          </a:solidFill>
          <a:ln/>
        </p:spPr>
      </p:sp>
      <p:sp>
        <p:nvSpPr>
          <p:cNvPr id="14" name="Text 12"/>
          <p:cNvSpPr/>
          <p:nvPr/>
        </p:nvSpPr>
        <p:spPr>
          <a:xfrm>
            <a:off x="6644488" y="214884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Money at Risk Is Small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44488" y="2788920"/>
            <a:ext cx="4617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Total amount owed across all 38 departed customers (past-due plus current charges) was $6,285.25.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44488" y="3840480"/>
            <a:ext cx="4617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That works out to under $166 per customer on average across the whole departed group.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44488" y="4892040"/>
            <a:ext cx="4617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This is a real signal worth tracking, but not a financial emergency.</a:t>
            </a:r>
            <a:endParaRPr lang="en-US" sz="1100" dirty="0"/>
          </a:p>
        </p:txBody>
      </p:sp>
      <p:pic>
        <p:nvPicPr>
          <p:cNvPr id="18" name="Image 0" descr="/home/claude/repeat_caller_deck/ig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777240" cy="202997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568196" cy="274320"/>
          </a:xfrm>
          <a:prstGeom prst="roundRect">
            <a:avLst>
              <a:gd name="adj" fmla="val 166667"/>
            </a:avLst>
          </a:prstGeom>
          <a:solidFill>
            <a:srgbClr val="00BB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5681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SURPRISE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Are These 38 Customers?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the 181 of 254 customers who had a credit score on file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691640"/>
          <a:ext cx="105156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62356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5F8FA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574243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terms: among the 181 customers with a credit score on file (28 who churned, 153 still active), those who left actually have a slightly higher average credit score (827) than those who stayed (803), and somewhat shorter tenure (664 days vs. 819 days). This isn't a low-credit-risk group leaving — it looks more like ordinary customer turnover. (The next slide covers the 73 customers left out of this comparison.)</a:t>
            </a:r>
            <a:endParaRPr lang="en-US" sz="1250" dirty="0"/>
          </a:p>
        </p:txBody>
      </p:sp>
      <p:pic>
        <p:nvPicPr>
          <p:cNvPr id="9" name="Image 0" descr="/home/claude/repeat_caller_deck/ig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73952"/>
            <a:ext cx="777240" cy="202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624328" cy="274320"/>
          </a:xfrm>
          <a:prstGeom prst="roundRect">
            <a:avLst>
              <a:gd name="adj" fmla="val 166667"/>
            </a:avLst>
          </a:prstGeom>
          <a:solidFill>
            <a:srgbClr val="F4A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UPFRONT ABOUT SCOPE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Haven't Checked Yet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analysis answers the core question, but it has real limits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9448" y="1691640"/>
            <a:ext cx="5257800" cy="4160520"/>
          </a:xfrm>
          <a:prstGeom prst="roundRect">
            <a:avLst>
              <a:gd name="adj" fmla="val 1758"/>
            </a:avLst>
          </a:prstGeom>
          <a:solidFill>
            <a:srgbClr val="F5F8FA"/>
          </a:solidFill>
          <a:ln/>
        </p:spPr>
      </p:sp>
      <p:sp>
        <p:nvSpPr>
          <p:cNvPr id="7" name="Shape 5"/>
          <p:cNvSpPr/>
          <p:nvPr/>
        </p:nvSpPr>
        <p:spPr>
          <a:xfrm>
            <a:off x="929488" y="1984248"/>
            <a:ext cx="457200" cy="54864"/>
          </a:xfrm>
          <a:prstGeom prst="rect">
            <a:avLst/>
          </a:prstGeom>
          <a:solidFill>
            <a:srgbClr val="F4A600"/>
          </a:solidFill>
          <a:ln/>
        </p:spPr>
      </p:sp>
      <p:sp>
        <p:nvSpPr>
          <p:cNvPr id="8" name="Text 6"/>
          <p:cNvSpPr/>
          <p:nvPr/>
        </p:nvSpPr>
        <p:spPr>
          <a:xfrm>
            <a:off x="929488" y="214884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What We Did Check (71% of the group)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29488" y="2788920"/>
            <a:ext cx="4617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Of the 254 non-re-enrolled customers, 181 (71%) had a valid credit score on file and are included in the credit/tenure comparison.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29488" y="3840480"/>
            <a:ext cx="4617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We confirmed churn status, financial exposure, and a fair baseline comparison for the full group of 254.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29488" y="4892040"/>
            <a:ext cx="4617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Every number in this deck is checked against real records, not estimated.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24448" y="1691640"/>
            <a:ext cx="5257800" cy="4160520"/>
          </a:xfrm>
          <a:prstGeom prst="roundRect">
            <a:avLst>
              <a:gd name="adj" fmla="val 1758"/>
            </a:avLst>
          </a:prstGeom>
          <a:solidFill>
            <a:srgbClr val="F5F8FA"/>
          </a:solidFill>
          <a:ln/>
        </p:spPr>
      </p:sp>
      <p:sp>
        <p:nvSpPr>
          <p:cNvPr id="13" name="Shape 11"/>
          <p:cNvSpPr/>
          <p:nvPr/>
        </p:nvSpPr>
        <p:spPr>
          <a:xfrm>
            <a:off x="6644488" y="1984248"/>
            <a:ext cx="457200" cy="54864"/>
          </a:xfrm>
          <a:prstGeom prst="rect">
            <a:avLst/>
          </a:prstGeom>
          <a:solidFill>
            <a:srgbClr val="005CB9"/>
          </a:solidFill>
          <a:ln/>
        </p:spPr>
      </p:sp>
      <p:sp>
        <p:nvSpPr>
          <p:cNvPr id="14" name="Text 12"/>
          <p:cNvSpPr/>
          <p:nvPr/>
        </p:nvSpPr>
        <p:spPr>
          <a:xfrm>
            <a:off x="6644488" y="214884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What's Left to Check (remaining 29%)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44488" y="2788920"/>
            <a:ext cx="4617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73 of the 254 customers (29%) had no credit score on file and were left out of the credit/tenure comparison.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44488" y="3840480"/>
            <a:ext cx="4617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We haven't yet checked how many days typically pass between the card-change call and churn, or whether these customers called in before leaving.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44488" y="4892040"/>
            <a:ext cx="4617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We also haven't confirmed with the Chase account team whether card type explains why some cards update automatically and others don't.</a:t>
            </a:r>
            <a:endParaRPr lang="en-US" sz="1100" dirty="0"/>
          </a:p>
        </p:txBody>
      </p:sp>
      <p:pic>
        <p:nvPicPr>
          <p:cNvPr id="18" name="Image 0" descr="/home/claude/repeat_caller_deck/ig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777240" cy="202997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11064240" cy="886968"/>
          </a:xfrm>
          <a:prstGeom prst="roundRect">
            <a:avLst>
              <a:gd name="adj" fmla="val 6186"/>
            </a:avLst>
          </a:prstGeom>
          <a:solidFill>
            <a:srgbClr val="F5F8F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837944"/>
            <a:ext cx="365760" cy="54864"/>
          </a:xfrm>
          <a:prstGeom prst="rect">
            <a:avLst/>
          </a:prstGeom>
          <a:solidFill>
            <a:srgbClr val="00BB8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customers who don't re-enroll are still with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31343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(216 of 254) of the customers who removed autopay after a card-change call and never turned it back on are still active today — most likely paying manually.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1064240" cy="886968"/>
          </a:xfrm>
          <a:prstGeom prst="roundRect">
            <a:avLst>
              <a:gd name="adj" fmla="val 6186"/>
            </a:avLst>
          </a:prstGeom>
          <a:solidFill>
            <a:srgbClr val="F5F8FA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2889504"/>
            <a:ext cx="365760" cy="54864"/>
          </a:xfrm>
          <a:prstGeom prst="rect">
            <a:avLst/>
          </a:prstGeom>
          <a:solidFill>
            <a:srgbClr val="F4A6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175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15% who left churn at about 3 times the normal rate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36499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to a 5.25% baseline churn rate for a typical customer, this group's 15% churn rate is a real, elevated signal — not noise.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794760"/>
            <a:ext cx="11064240" cy="886968"/>
          </a:xfrm>
          <a:prstGeom prst="roundRect">
            <a:avLst>
              <a:gd name="adj" fmla="val 6186"/>
            </a:avLst>
          </a:prstGeom>
          <a:solidFill>
            <a:srgbClr val="F5F8F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7240" y="3941064"/>
            <a:ext cx="365760" cy="54864"/>
          </a:xfrm>
          <a:prstGeom prst="rect">
            <a:avLst/>
          </a:prstGeom>
          <a:solidFill>
            <a:srgbClr val="005CB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06908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money at risk is small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4416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38 customers who left owed a total of $1,959.28 past-due — about $52 each on average. This is not a costly problem today.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846320"/>
            <a:ext cx="11064240" cy="886968"/>
          </a:xfrm>
          <a:prstGeom prst="roundRect">
            <a:avLst>
              <a:gd name="adj" fmla="val 6186"/>
            </a:avLst>
          </a:prstGeom>
          <a:solidFill>
            <a:srgbClr val="F5F8FA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992624"/>
            <a:ext cx="365760" cy="54864"/>
          </a:xfrm>
          <a:prstGeom prst="rect">
            <a:avLst/>
          </a:prstGeom>
          <a:solidFill>
            <a:srgbClr val="00B9B3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1206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not our riskiest customers who are leaving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546811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who left actually have a slightly higher credit score and shorter tenure than those who stayed — this looks like normal turnover, not a credit-risk red flag.</a:t>
            </a:r>
            <a:endParaRPr lang="en-US" sz="1150" dirty="0"/>
          </a:p>
        </p:txBody>
      </p:sp>
      <p:pic>
        <p:nvPicPr>
          <p:cNvPr id="19" name="Image 0" descr="/home/claude/repeat_caller_deck/ig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777240" cy="202997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for Jonathan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11064240" cy="886968"/>
          </a:xfrm>
          <a:prstGeom prst="roundRect">
            <a:avLst>
              <a:gd name="adj" fmla="val 6186"/>
            </a:avLst>
          </a:prstGeom>
          <a:solidFill>
            <a:srgbClr val="F5F8F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837944"/>
            <a:ext cx="365760" cy="54864"/>
          </a:xfrm>
          <a:prstGeom prst="rect">
            <a:avLst/>
          </a:prstGeom>
          <a:solidFill>
            <a:srgbClr val="00BB8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3x-elevated churn rate worth a proactive fix?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31343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though the money at risk is small today, is this worth a light-touch fix like a reminder to re-enroll, or is it acceptable normal churn?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1064240" cy="886968"/>
          </a:xfrm>
          <a:prstGeom prst="roundRect">
            <a:avLst>
              <a:gd name="adj" fmla="val 6186"/>
            </a:avLst>
          </a:prstGeom>
          <a:solidFill>
            <a:srgbClr val="F5F8FA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2889504"/>
            <a:ext cx="365760" cy="54864"/>
          </a:xfrm>
          <a:prstGeom prst="rect">
            <a:avLst/>
          </a:prstGeom>
          <a:solidFill>
            <a:srgbClr val="F4A6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175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we fold in the reminder-communication idea from the Remy meeting?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36499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Remy suggested a friendly reminder to re-enroll in autopay — should that be scoped as the direct follow-up action here?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794760"/>
            <a:ext cx="11064240" cy="886968"/>
          </a:xfrm>
          <a:prstGeom prst="roundRect">
            <a:avLst>
              <a:gd name="adj" fmla="val 6186"/>
            </a:avLst>
          </a:prstGeom>
          <a:solidFill>
            <a:srgbClr val="F5F8F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7240" y="3941064"/>
            <a:ext cx="365760" cy="54864"/>
          </a:xfrm>
          <a:prstGeom prst="rect">
            <a:avLst/>
          </a:prstGeom>
          <a:solidFill>
            <a:srgbClr val="005CB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06908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we confirm the Chase seamless-update mechanism before going further?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4416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Segmenting removals by card type/issuer would sharpen this analysis, but depends on confirming that mechanism with the Chase account team first — worth chasing down now?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846320"/>
            <a:ext cx="11064240" cy="886968"/>
          </a:xfrm>
          <a:prstGeom prst="roundRect">
            <a:avLst>
              <a:gd name="adj" fmla="val 6186"/>
            </a:avLst>
          </a:prstGeom>
          <a:solidFill>
            <a:srgbClr val="F5F8FA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992624"/>
            <a:ext cx="365760" cy="54864"/>
          </a:xfrm>
          <a:prstGeom prst="rect">
            <a:avLst/>
          </a:prstGeom>
          <a:solidFill>
            <a:srgbClr val="00B9B3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1206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want the 73 excluded customers looked at separately?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546811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a meaningful 29% of the group and were left out of the credit/tenure comparison entirely because of a missing credit score — worth a follow-up look?</a:t>
            </a:r>
            <a:endParaRPr lang="en-US" sz="1150" dirty="0"/>
          </a:p>
        </p:txBody>
      </p:sp>
      <p:pic>
        <p:nvPicPr>
          <p:cNvPr id="19" name="Image 0" descr="/home/claude/repeat_caller_deck/ig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777240" cy="202997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40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peat_caller_deck/ig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1280160" cy="3337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64008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from here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40080" y="2404872"/>
            <a:ext cx="365760" cy="365760"/>
          </a:xfrm>
          <a:prstGeom prst="ellipse">
            <a:avLst/>
          </a:prstGeom>
          <a:solidFill>
            <a:srgbClr val="F4A600"/>
          </a:solidFill>
          <a:ln/>
        </p:spPr>
      </p:sp>
      <p:sp>
        <p:nvSpPr>
          <p:cNvPr id="6" name="Text 3"/>
          <p:cNvSpPr/>
          <p:nvPr/>
        </p:nvSpPr>
        <p:spPr>
          <a:xfrm>
            <a:off x="1143000" y="23500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timing between the card-change call and churn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43000" y="2706624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many days typically pass before a non-re-enrolled customer actually leaves — tells us if this is an early-warning signal or a lagging one.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0080" y="3364992"/>
            <a:ext cx="365760" cy="365760"/>
          </a:xfrm>
          <a:prstGeom prst="ellipse">
            <a:avLst/>
          </a:prstGeom>
          <a:solidFill>
            <a:srgbClr val="00BB86"/>
          </a:solidFill>
          <a:ln/>
        </p:spPr>
      </p:sp>
      <p:sp>
        <p:nvSpPr>
          <p:cNvPr id="9" name="Text 6"/>
          <p:cNvSpPr/>
          <p:nvPr/>
        </p:nvSpPr>
        <p:spPr>
          <a:xfrm>
            <a:off x="1143000" y="331012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whether these customers called in before leaving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143000" y="3666744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if there was a collections or disconnect-related call before churn, to understand whether the exit was visible to us or a quiet walk-away.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0080" y="4325112"/>
            <a:ext cx="365760" cy="365760"/>
          </a:xfrm>
          <a:prstGeom prst="ellipse">
            <a:avLst/>
          </a:prstGeom>
          <a:solidFill>
            <a:srgbClr val="005CB9"/>
          </a:solidFill>
          <a:ln/>
        </p:spPr>
      </p:sp>
      <p:sp>
        <p:nvSpPr>
          <p:cNvPr id="12" name="Text 9"/>
          <p:cNvSpPr/>
          <p:nvPr/>
        </p:nvSpPr>
        <p:spPr>
          <a:xfrm>
            <a:off x="1143000" y="427024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Chase seamless-update mechanism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43000" y="4626864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the Chase account team to confirm which card types auto-update on expiration, so we can segment removals by card type with confidence.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5285232"/>
            <a:ext cx="365760" cy="365760"/>
          </a:xfrm>
          <a:prstGeom prst="ellipse">
            <a:avLst/>
          </a:prstGeom>
          <a:solidFill>
            <a:srgbClr val="00B9B3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" y="5230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a lightweight re-enrollment reminder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43000" y="5586984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elevated but low-cost churn signal, a simple reminder to re-enroll (as Remy suggested) may be enough — no major process change needed.</a:t>
            </a:r>
            <a:endParaRPr lang="en-US" sz="1150" dirty="0"/>
          </a:p>
        </p:txBody>
      </p:sp>
      <p:pic>
        <p:nvPicPr>
          <p:cNvPr id="17" name="Image 1" descr="/home/claude/repeat_caller_deck/ig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73952"/>
            <a:ext cx="777240" cy="20299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568196" cy="274320"/>
          </a:xfrm>
          <a:prstGeom prst="roundRect">
            <a:avLst>
              <a:gd name="adj" fmla="val 166667"/>
            </a:avLst>
          </a:prstGeom>
          <a:solidFill>
            <a:srgbClr val="00BB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5681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FINE PRINT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Group Could We Actually Compare?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credit score and tenure numbers on the last slide only cover part of the group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691640"/>
          <a:ext cx="105156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62356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5F8FA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574243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terms: of the 254 customers who never re-enrolled, 181 (71%) had a valid credit score on file and are the ones behind the 827 / 803 credit-score comparison on the previous slide. The remaining 73 (29%) had no credit score on file at all and could not be included in that comparison.</a:t>
            </a:r>
            <a:endParaRPr lang="en-US" sz="1250" dirty="0"/>
          </a:p>
        </p:txBody>
      </p:sp>
      <p:pic>
        <p:nvPicPr>
          <p:cNvPr id="9" name="Image 0" descr="/home/claude/repeat_caller_deck/ig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73952"/>
            <a:ext cx="777240" cy="202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2026-08-05T17:34:30Z</dcterms:created>
  <dcterms:modified xsi:type="dcterms:W3CDTF">2026-08-05T17:34:30Z</dcterms:modified>
</cp:coreProperties>
</file>