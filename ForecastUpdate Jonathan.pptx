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Index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1.107</c:v>
                </c:pt>
                <c:pt idx="1">
                  <c:v>1.214</c:v>
                </c:pt>
                <c:pt idx="2">
                  <c:v>1.049</c:v>
                </c:pt>
                <c:pt idx="3">
                  <c:v>0.931</c:v>
                </c:pt>
                <c:pt idx="4">
                  <c:v>0.928</c:v>
                </c:pt>
                <c:pt idx="5">
                  <c:v>0.955</c:v>
                </c:pt>
                <c:pt idx="6">
                  <c:v>1.074</c:v>
                </c:pt>
                <c:pt idx="7">
                  <c:v>1.085</c:v>
                </c:pt>
                <c:pt idx="8">
                  <c:v>1.059</c:v>
                </c:pt>
                <c:pt idx="9">
                  <c:v>0.935</c:v>
                </c:pt>
                <c:pt idx="10">
                  <c:v>0.848</c:v>
                </c:pt>
                <c:pt idx="11">
                  <c:v>0.802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Payment
Arrangement</c:v>
                  </c:pt>
                  <c:pt idx="1">
                    <c:v>Bill
Explanation</c:v>
                  </c:pt>
                  <c:pt idx="2">
                    <c:v>Payment
Help</c:v>
                  </c:pt>
                  <c:pt idx="3">
                    <c:v>Payment
Status</c:v>
                  </c:pt>
                  <c:pt idx="4">
                    <c:v>Enrollment</c:v>
                  </c:pt>
                  <c:pt idx="5">
                    <c:v>Reconnection
Timeframe</c:v>
                  </c:pt>
                  <c:pt idx="6">
                    <c:v>Cancellation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51279</c:v>
                </c:pt>
                <c:pt idx="1">
                  <c:v>35421</c:v>
                </c:pt>
                <c:pt idx="2">
                  <c:v>29642</c:v>
                </c:pt>
                <c:pt idx="3">
                  <c:v>20529</c:v>
                </c:pt>
                <c:pt idx="4">
                  <c:v>20460</c:v>
                </c:pt>
                <c:pt idx="5">
                  <c:v>13688</c:v>
                </c:pt>
                <c:pt idx="6">
                  <c:v>11438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UPDATE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Seasonality, Recent-Data Blend, Cohort Scoping &amp; Call-Reason Breakdown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502920" cy="54864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to the Care Call Forecast Refresh  •  South Mass Market &amp; Canada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Momna Ali  •  Prepared for Jonathan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the Recent-Data Blend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items you asked us to add to the long-term forecast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Index by Month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92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average month. Jan/Feb run highest — not summer, as first assumed.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Reworked Blend: Recent 180 Days vs. Full History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349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6916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48920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day-of-week shape in both (Monday highest, Sunday zero) — only the level has shifted, as fewer calls now need an agent.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Update: Seasonality, Recent-Data Blend, Cohorts &amp; Call Reasons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Model: Scoping Check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size x credit quality — is there enough volume per cohort to build on?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737360"/>
          <a:ext cx="9601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606040"/>
                <a:gridCol w="2606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Calls/Customer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(≤500)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(≤500)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(≤500)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(700+)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(700+)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(700+)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130,689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526280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681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Low-credit customers call 2–3x more often than high-credit customers at every bill size — a stronger signal than bill size alone. Every cohort cell has healthy volume (smallest: 5,830 customers). The model is feasible, and worth prioritizing sooner rather than treating as a someday item.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Update: Seasonality, Recent-Data Blend, Cohorts &amp; Call Reasons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Call-Reason Breakdown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reason, last 180 days — not just total call counts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Arrangement is the single largest driver — confirms what you flagged: it's about a quarter of all calls, and the top target for portal/IVR self-service to reduce agent volume.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Update: Seasonality, Recent-Data Blend, Cohorts &amp; Call Reasons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out of all four workstreams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83664"/>
            <a:ext cx="365760" cy="54864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is real, but not where expected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January/February run highest (up to 21% above average), not summer. Worth building into the forecast.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35224"/>
            <a:ext cx="365760" cy="54864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63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now follows recent behavior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4107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is based on the last 180 days, recomputed periodically — no longer a fixed one-time blend.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986784"/>
            <a:ext cx="365760" cy="54864"/>
          </a:xfrm>
          <a:prstGeom prst="rect">
            <a:avLst/>
          </a:prstGeom>
          <a:solidFill>
            <a:srgbClr val="1E7B4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modeling looks promising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4622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is a stronger call-rate signal than bill size alone, and every cohort has enough volume to build 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038344"/>
            <a:ext cx="365760" cy="54864"/>
          </a:xfrm>
          <a:prstGeom prst="rect">
            <a:avLst/>
          </a:prstGeom>
          <a:solidFill>
            <a:srgbClr val="C77B1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Arrangement is the #1 call driver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5138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self-service/IVR investment there would have the biggest impact on agent call volume.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Update: Seasonality, Recent-Data Blend, Cohorts &amp; Call Reasons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of these workstreams goes from here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seasonal index into the production forecast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the recent day-of-week rate so the daily forecast reflects both patterns together.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66090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the recent-data rate periodically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9992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monthly, or after any notable phone system change, rather than treating it as a one-time fix.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21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55701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cohort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8953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confirmed — next step is turning the bill-size / credit-tier signal into an actual per-cohort forecast.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4531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call-reason data to catch deviations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7914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daily volume by reason so we can flag when a specific category spikes above its normal pattern.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413248"/>
            <a:ext cx="411480" cy="41148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13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3492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forecast horizon and accuracy target with Louth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5687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2-slide projection example is ready to drive that conversation once he's back.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Update: Seasonality, Recent-Data Blend, Cohorts &amp; Call Reasons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2026-07-28T19:12:00Z</dcterms:created>
  <dcterms:modified xsi:type="dcterms:W3CDTF">2026-07-28T19:12:00Z</dcterms:modified>
</cp:coreProperties>
</file>