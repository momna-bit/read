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04061"/>
                </a:solidFill>
                <a:latin typeface="Arial"/>
              </a:defRPr>
            </a:pPr>
            <a:r>
              <a:rPr sz="1300" b="0" i="0" u="none" strike="noStrike">
                <a:solidFill>
                  <a:srgbClr val="004061"/>
                </a:solidFill>
                <a:latin typeface="Arial"/>
              </a:rPr>
              <a:t>Missed Intervals by Severity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Missed Intervals</c:v>
                </c:pt>
              </c:strCache>
            </c:strRef>
          </c:tx>
          <c:spPr>
            <a:solidFill>
              <a:srgbClr val="F4A6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C465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4A60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07B0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000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Minor</c:v>
                  </c:pt>
                  <c:pt idx="1">
                    <c:v>Moderate</c:v>
                  </c:pt>
                  <c:pt idx="2">
                    <c:v>Severe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19</c:v>
                </c:pt>
                <c:pt idx="2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C465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77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6770"/>
                    </a:solidFill>
                    <a:latin typeface="Arial"/>
                  </a:rPr>
                  <a:t>Severity Band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C465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5E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77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6770"/>
                    </a:solidFill>
                    <a:latin typeface="Arial"/>
                  </a:rPr>
                  <a:t>Number of Intervals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C465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40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AWT Interval Report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3832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B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Automating Bindu's weekly scan for missed 2-minute wait time targets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Momna Ali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6748272"/>
            <a:ext cx="3047238" cy="109728"/>
          </a:xfrm>
          <a:prstGeom prst="rect">
            <a:avLst/>
          </a:prstGeom>
          <a:solidFill>
            <a:srgbClr val="005CB9"/>
          </a:solidFill>
          <a:ln/>
        </p:spPr>
      </p:sp>
      <p:sp>
        <p:nvSpPr>
          <p:cNvPr id="6" name="Shape 4"/>
          <p:cNvSpPr/>
          <p:nvPr/>
        </p:nvSpPr>
        <p:spPr>
          <a:xfrm>
            <a:off x="3047238" y="6748272"/>
            <a:ext cx="3047238" cy="109728"/>
          </a:xfrm>
          <a:prstGeom prst="rect">
            <a:avLst/>
          </a:prstGeom>
          <a:solidFill>
            <a:srgbClr val="00BB86"/>
          </a:solidFill>
          <a:ln/>
        </p:spPr>
      </p:sp>
      <p:sp>
        <p:nvSpPr>
          <p:cNvPr id="7" name="Shape 5"/>
          <p:cNvSpPr/>
          <p:nvPr/>
        </p:nvSpPr>
        <p:spPr>
          <a:xfrm>
            <a:off x="6094476" y="6748272"/>
            <a:ext cx="3047238" cy="109728"/>
          </a:xfrm>
          <a:prstGeom prst="rect">
            <a:avLst/>
          </a:prstGeom>
          <a:solidFill>
            <a:srgbClr val="F4A600"/>
          </a:solidFill>
          <a:ln/>
        </p:spPr>
      </p:sp>
      <p:sp>
        <p:nvSpPr>
          <p:cNvPr id="8" name="Shape 6"/>
          <p:cNvSpPr/>
          <p:nvPr/>
        </p:nvSpPr>
        <p:spPr>
          <a:xfrm>
            <a:off x="9141714" y="6748272"/>
            <a:ext cx="3047238" cy="109728"/>
          </a:xfrm>
          <a:prstGeom prst="rect">
            <a:avLst/>
          </a:prstGeom>
          <a:solidFill>
            <a:srgbClr val="00B9B3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773936" cy="329184"/>
          </a:xfrm>
          <a:prstGeom prst="roundRect">
            <a:avLst>
              <a:gd name="adj" fmla="val 50000"/>
            </a:avLst>
          </a:prstGeom>
          <a:solidFill>
            <a:srgbClr val="005CB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7739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Bindu shouldn't have to hunt for missed intervals by hand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005CB9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4440" y="17830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2176272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week, Bindu manually scans hundreds of half-hour intervals to find where the 2-minute average wait time (AWT) target was missed.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rgbClr val="005CB9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246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4440" y="320040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came from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3593592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directly in the Care Weekly Service Level Performance review on 8/11 - Jonathon and Momna were asked to build an automated view of every interval that misses the target.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663440"/>
            <a:ext cx="457200" cy="457200"/>
          </a:xfrm>
          <a:prstGeom prst="ellipse">
            <a:avLst/>
          </a:prstGeom>
          <a:solidFill>
            <a:srgbClr val="005CB9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663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4440" y="461772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5010912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report that updates itself the moment new weekly data is entered - no manual scanning, no copy-pasting, nothing for Bindu to build herself.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432304" cy="329184"/>
          </a:xfrm>
          <a:prstGeom prst="roundRect">
            <a:avLst>
              <a:gd name="adj" fmla="val 50000"/>
            </a:avLst>
          </a:prstGeom>
          <a:solidFill>
            <a:srgbClr val="00BB8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24323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Plain-English walkthrough of the automation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00BB8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4440" y="1783080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same data Bindu already enters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2176272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existing Data Input tab - the half-hour interval data WFM pastes in every week. Nothing new to fill out.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999232"/>
            <a:ext cx="457200" cy="457200"/>
          </a:xfrm>
          <a:prstGeom prst="ellipse">
            <a:avLst/>
          </a:prstGeom>
          <a:solidFill>
            <a:srgbClr val="00BB86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9992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4440" y="2953512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to misses only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3346704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Pulls out every interval where AWT Minutes exceeded 2:00 - the same threshold already defined in the Criteria Matrix.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169664"/>
            <a:ext cx="457200" cy="457200"/>
          </a:xfrm>
          <a:prstGeom prst="ellipse">
            <a:avLst/>
          </a:prstGeom>
          <a:solidFill>
            <a:srgbClr val="00BB86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1696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4440" y="4123944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 how bad each miss was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4517136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each one Minor (2:01-3:00), Moderate (3:01-5:00), or Severe (over 5:00) - using the severity bands already agreed for the weekly narrative.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5340096"/>
            <a:ext cx="457200" cy="457200"/>
          </a:xfrm>
          <a:prstGeom prst="ellipse">
            <a:avLst/>
          </a:prstGeom>
          <a:solidFill>
            <a:srgbClr val="00BB86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3400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34440" y="5294376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Refreshes on its own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34440" y="5687568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entirely with formulas, not a script. When Bindu pastes next week's numbers into Data Input, the list updates automatically - nothing to run.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F4A6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Bindu sees - a live, filtered list of misses</a:t>
            </a:r>
            <a:endParaRPr lang="en-US" sz="2800" dirty="0"/>
          </a:p>
        </p:txBody>
      </p:sp>
      <p:pic>
        <p:nvPicPr>
          <p:cNvPr id="5" name="Image 0" descr="/home/claude/deck/report_cr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603504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0" y="1737360"/>
            <a:ext cx="4846320" cy="4114800"/>
          </a:xfrm>
          <a:prstGeom prst="roundRect">
            <a:avLst>
              <a:gd name="adj" fmla="val 1778"/>
            </a:avLst>
          </a:prstGeom>
          <a:solidFill>
            <a:srgbClr val="F5F8F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0" y="192024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132320" y="2423160"/>
            <a:ext cx="4297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C4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 is one half-hour interval that missed the 2-minute target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C4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shows severity at a glance - amber (Minor), orange (Moderate), red (Severe)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C4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 and Abandoned Calls sit right next to each miss, so context is visible without opening Data Input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C4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Missed and Severe Misses counts sit at the top, updating live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584448" cy="329184"/>
          </a:xfrm>
          <a:prstGeom prst="roundRect">
            <a:avLst>
              <a:gd name="adj" fmla="val 50000"/>
            </a:avLst>
          </a:prstGeom>
          <a:solidFill>
            <a:srgbClr val="005CB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5844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NUMBERS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of 8/2 - 8/8: what the report is already showing</a:t>
            </a:r>
            <a:endParaRPr lang="en-US" sz="2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53035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126480" y="1828800"/>
            <a:ext cx="5577840" cy="1051560"/>
          </a:xfrm>
          <a:prstGeom prst="roundRect">
            <a:avLst>
              <a:gd name="adj" fmla="val 5217"/>
            </a:avLst>
          </a:prstGeom>
          <a:solidFill>
            <a:srgbClr val="F5F8FB"/>
          </a:solidFill>
          <a:ln/>
        </p:spPr>
      </p:sp>
      <p:sp>
        <p:nvSpPr>
          <p:cNvPr id="7" name="Text 4"/>
          <p:cNvSpPr/>
          <p:nvPr/>
        </p:nvSpPr>
        <p:spPr>
          <a:xfrm>
            <a:off x="6355080" y="19202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of 138 intervals missed the target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355080" y="228600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about 2 in 5 half-hour blocks this week - roughly matching what Bindu was already finding by hand.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126480" y="3063240"/>
            <a:ext cx="5577840" cy="1051560"/>
          </a:xfrm>
          <a:prstGeom prst="roundRect">
            <a:avLst>
              <a:gd name="adj" fmla="val 5217"/>
            </a:avLst>
          </a:prstGeom>
          <a:solidFill>
            <a:srgbClr val="F5F8FB"/>
          </a:solidFill>
          <a:ln/>
        </p:spPr>
      </p:sp>
      <p:sp>
        <p:nvSpPr>
          <p:cNvPr id="10" name="Text 7"/>
          <p:cNvSpPr/>
          <p:nvPr/>
        </p:nvSpPr>
        <p:spPr>
          <a:xfrm>
            <a:off x="6355080" y="31546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misses were Severe (over 5 minutes)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355080" y="35204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a third of all misses were the worst category - concentrated Wednesday evening and Thursday morning.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26480" y="4297680"/>
            <a:ext cx="5577840" cy="1051560"/>
          </a:xfrm>
          <a:prstGeom prst="roundRect">
            <a:avLst>
              <a:gd name="adj" fmla="val 5217"/>
            </a:avLst>
          </a:prstGeom>
          <a:solidFill>
            <a:srgbClr val="F5F8FB"/>
          </a:solidFill>
          <a:ln/>
        </p:spPr>
      </p:sp>
      <p:sp>
        <p:nvSpPr>
          <p:cNvPr id="13" name="Text 10"/>
          <p:cNvSpPr/>
          <p:nvPr/>
        </p:nvSpPr>
        <p:spPr>
          <a:xfrm>
            <a:off x="6355080" y="43891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single miss: 17.8 minutes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355080" y="475488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 7:30 PM - the same spike already flagged in the existing weekly narrative.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4078224" cy="329184"/>
          </a:xfrm>
          <a:prstGeom prst="roundRect">
            <a:avLst>
              <a:gd name="adj" fmla="val 50000"/>
            </a:avLst>
          </a:prstGeom>
          <a:solidFill>
            <a:srgbClr val="00B9B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40782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FOR JONATHON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couple of decisions worth confirming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F5F8F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385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Primary Driver / Action Taken become live weekly inputs?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now those columns pull from Data Input, which is blank per-interval. If WFM starts tagging a driver/action per missed interval, the report will show it automatically - worth deciding if that's the workflow going forward.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F5F8FB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5584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this replace or sit alongside the existing Daily Exception Summary?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37490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Weekly Narrative tab already summarizes misses by day. This new tab shows every individual interval. Useful to confirm both stay, since they answer different questions.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66344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F5F8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7731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this same automation extend to other criteria in the matrix?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Abandonment &gt;7%, forecast variance, and occupancy could get the same treatment if this approach is a good fit.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40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2011680"/>
            <a:ext cx="411480" cy="411480"/>
          </a:xfrm>
          <a:prstGeom prst="ellipse">
            <a:avLst/>
          </a:prstGeom>
          <a:solidFill>
            <a:srgbClr val="00BB86"/>
          </a:solidFill>
          <a:ln/>
        </p:spPr>
      </p:sp>
      <p:sp>
        <p:nvSpPr>
          <p:cNvPr id="4" name="Text 2"/>
          <p:cNvSpPr/>
          <p:nvPr/>
        </p:nvSpPr>
        <p:spPr>
          <a:xfrm>
            <a:off x="1508760" y="19659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the workbook with Jonathon and Bindu for review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926080"/>
            <a:ext cx="411480" cy="411480"/>
          </a:xfrm>
          <a:prstGeom prst="ellipse">
            <a:avLst/>
          </a:prstGeom>
          <a:solidFill>
            <a:srgbClr val="005CB9"/>
          </a:solidFill>
          <a:ln/>
        </p:spPr>
      </p:sp>
      <p:sp>
        <p:nvSpPr>
          <p:cNvPr id="6" name="Text 4"/>
          <p:cNvSpPr/>
          <p:nvPr/>
        </p:nvSpPr>
        <p:spPr>
          <a:xfrm>
            <a:off x="1508760" y="28803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two open questions above before it becomes the standard weekly view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840480"/>
            <a:ext cx="411480" cy="411480"/>
          </a:xfrm>
          <a:prstGeom prst="ellipse">
            <a:avLst/>
          </a:prstGeom>
          <a:solidFill>
            <a:srgbClr val="F4A600"/>
          </a:solidFill>
          <a:ln/>
        </p:spPr>
      </p:sp>
      <p:sp>
        <p:nvSpPr>
          <p:cNvPr id="8" name="Text 6"/>
          <p:cNvSpPr/>
          <p:nvPr/>
        </p:nvSpPr>
        <p:spPr>
          <a:xfrm>
            <a:off x="1508760" y="37947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confirmed, retire the manual scan from Bindu's weekly process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0" y="6748272"/>
            <a:ext cx="3047238" cy="109728"/>
          </a:xfrm>
          <a:prstGeom prst="rect">
            <a:avLst/>
          </a:prstGeom>
          <a:solidFill>
            <a:srgbClr val="005CB9"/>
          </a:solidFill>
          <a:ln/>
        </p:spPr>
      </p:sp>
      <p:sp>
        <p:nvSpPr>
          <p:cNvPr id="10" name="Shape 8"/>
          <p:cNvSpPr/>
          <p:nvPr/>
        </p:nvSpPr>
        <p:spPr>
          <a:xfrm>
            <a:off x="3047238" y="6748272"/>
            <a:ext cx="3047238" cy="109728"/>
          </a:xfrm>
          <a:prstGeom prst="rect">
            <a:avLst/>
          </a:prstGeom>
          <a:solidFill>
            <a:srgbClr val="00BB86"/>
          </a:solidFill>
          <a:ln/>
        </p:spPr>
      </p:sp>
      <p:sp>
        <p:nvSpPr>
          <p:cNvPr id="11" name="Shape 9"/>
          <p:cNvSpPr/>
          <p:nvPr/>
        </p:nvSpPr>
        <p:spPr>
          <a:xfrm>
            <a:off x="6094476" y="6748272"/>
            <a:ext cx="3047238" cy="109728"/>
          </a:xfrm>
          <a:prstGeom prst="rect">
            <a:avLst/>
          </a:prstGeom>
          <a:solidFill>
            <a:srgbClr val="F4A600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1714" y="6748272"/>
            <a:ext cx="3047238" cy="109728"/>
          </a:xfrm>
          <a:prstGeom prst="rect">
            <a:avLst/>
          </a:prstGeom>
          <a:solidFill>
            <a:srgbClr val="00B9B3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2026-08-13T19:10:42Z</dcterms:created>
  <dcterms:modified xsi:type="dcterms:W3CDTF">2026-08-13T19:10:42Z</dcterms:modified>
</cp:coreProperties>
</file>