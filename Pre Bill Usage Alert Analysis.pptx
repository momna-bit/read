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Calibri"/>
              </a:defRPr>
            </a:pPr>
            <a:r>
              <a:rPr sz="1300" b="0" i="0" u="none" strike="noStrike">
                <a:solidFill>
                  <a:srgbClr val="004061"/>
                </a:solidFill>
                <a:latin typeface="Calibri"/>
              </a:rPr>
              <a:t>Switcher Catch Rate by Check-In Day</a:t>
            </a:r>
          </a:p>
        </c:rich>
      </c:tx>
      <c:layout/>
      <c:overlay val="0"/>
    </c:title>
    <c:autoTitleDeleted val="0"/>
    <c:plotArea>
      <c:layout/>
      <c:barChart>
        <c:barDir val="col"/>
        <c:grouping val="clustered"/>
        <c:varyColors val="0"/>
        <c:ser>
          <c:idx val="0"/>
          <c:order val="0"/>
          <c:tx>
            <c:strRef>
              <c:f>Sheet1!$B$1</c:f>
              <c:strCache>
                <c:ptCount val="1"/>
                <c:pt idx="0">
                  <c:v>Customers Flagged (%)</c:v>
                </c:pt>
              </c:strCache>
            </c:strRef>
          </c:tx>
          <c:spPr>
            <a:solidFill>
              <a:srgbClr val="005CB9"/>
            </a:solidFill>
            <a:effectLst/>
          </c:spPr>
          <c:invertIfNegative val="0"/>
          <c:dLbls>
            <c:numFmt formatCode="0.0" sourceLinked="0"/>
            <c:txPr>
              <a:bodyPr/>
              <a:lstStyle/>
              <a:p>
                <a:pPr>
                  <a:defRPr b="0" i="0" strike="noStrike" sz="1000" u="none">
                    <a:solidFill>
                      <a:srgbClr val="3C3C3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Day 7</c:v>
                  </c:pt>
                  <c:pt idx="1">
                    <c:v>Day 10</c:v>
                  </c:pt>
                  <c:pt idx="2">
                    <c:v>Day 14</c:v>
                  </c:pt>
                  <c:pt idx="3">
                    <c:v>Day 21</c:v>
                  </c:pt>
                  <c:pt idx="4">
                    <c:v>Day 28</c:v>
                  </c:pt>
                </c:lvl>
              </c:multiLvlStrCache>
            </c:multiLvlStrRef>
          </c:cat>
          <c:val>
            <c:numRef>
              <c:f>Sheet1!$B$2:$B$6</c:f>
              <c:numCache>
                <c:formatCode>General</c:formatCode>
                <c:ptCount val="5"/>
                <c:pt idx="0">
                  <c:v>37.4</c:v>
                </c:pt>
                <c:pt idx="1">
                  <c:v>38.6</c:v>
                </c:pt>
                <c:pt idx="2">
                  <c:v>39.5</c:v>
                </c:pt>
                <c:pt idx="3">
                  <c:v>43.5</c:v>
                </c:pt>
                <c:pt idx="4">
                  <c:v>45.3</c:v>
                </c:pt>
              </c:numCache>
            </c:numRef>
          </c:val>
        </c:ser>
        <c:dLbls>
          <c:numFmt formatCode="0.0" sourceLinked="0"/>
          <c:txPr>
            <a:bodyPr/>
            <a:lstStyle/>
            <a:p>
              <a:pPr>
                <a:defRPr b="0" i="0" strike="noStrike" sz="1000" u="none">
                  <a:solidFill>
                    <a:srgbClr val="3C3C3C"/>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050" b="0" i="0" u="none" strike="noStrike">
                    <a:solidFill>
                      <a:srgbClr val="9AA5B1"/>
                    </a:solidFill>
                    <a:latin typeface="Arial"/>
                  </a:defRPr>
                </a:pPr>
                <a:r>
                  <a:rPr sz="1050" b="0" i="0" u="none" strike="noStrike">
                    <a:solidFill>
                      <a:srgbClr val="9AA5B1"/>
                    </a:solidFill>
                    <a:latin typeface="Arial"/>
                  </a:rPr>
                  <a:t>Days Into Billing 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3C3C"/>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7E6E6"/>
              </a:solidFill>
              <a:prstDash val="solid"/>
              <a:round/>
            </a:ln>
          </c:spPr>
        </c:majorGridlines>
        <c:title>
          <c:tx>
            <c:rich>
              <a:bodyPr/>
              <a:lstStyle/>
              <a:p>
                <a:pPr>
                  <a:defRPr sz="1050" b="0" i="0" u="none" strike="noStrike">
                    <a:solidFill>
                      <a:srgbClr val="9AA5B1"/>
                    </a:solidFill>
                    <a:latin typeface="Arial"/>
                  </a:defRPr>
                </a:pPr>
                <a:r>
                  <a:rPr sz="1050" b="0" i="0" u="none" strike="noStrike">
                    <a:solidFill>
                      <a:srgbClr val="9AA5B1"/>
                    </a:solidFill>
                    <a:latin typeface="Arial"/>
                  </a:rPr>
                  <a:t>% of Switchers Flagged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5B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Calibri"/>
              </a:defRPr>
            </a:pPr>
            <a:r>
              <a:rPr sz="1300" b="0" i="0" u="none" strike="noStrike">
                <a:solidFill>
                  <a:srgbClr val="004061"/>
                </a:solidFill>
                <a:latin typeface="Calibri"/>
              </a:rPr>
              <a:t>Flag Rate: Known Switchers vs. Customers Who Stayed</a:t>
            </a:r>
          </a:p>
        </c:rich>
      </c:tx>
      <c:layout/>
      <c:overlay val="0"/>
    </c:title>
    <c:autoTitleDeleted val="0"/>
    <c:plotArea>
      <c:layout/>
      <c:barChart>
        <c:barDir val="col"/>
        <c:grouping val="clustered"/>
        <c:varyColors val="0"/>
        <c:ser>
          <c:idx val="0"/>
          <c:order val="0"/>
          <c:tx>
            <c:strRef>
              <c:f>Sheet1!$B$1</c:f>
              <c:strCache>
                <c:ptCount val="1"/>
                <c:pt idx="0">
                  <c:v>Switchers</c:v>
                </c:pt>
              </c:strCache>
            </c:strRef>
          </c:tx>
          <c:spPr>
            <a:solidFill>
              <a:srgbClr val="005CB9"/>
            </a:solidFill>
            <a:effectLst/>
          </c:spPr>
          <c:invertIfNegative val="0"/>
          <c:dLbls>
            <c:numFmt formatCode="0.0" sourceLinked="0"/>
            <c:txPr>
              <a:bodyPr/>
              <a:lstStyle/>
              <a:p>
                <a:pPr>
                  <a:defRPr b="0" i="0" strike="noStrike" sz="900" u="none">
                    <a:solidFill>
                      <a:srgbClr val="3C3C3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Day 7</c:v>
                  </c:pt>
                  <c:pt idx="1">
                    <c:v>Day 10</c:v>
                  </c:pt>
                  <c:pt idx="2">
                    <c:v>Day 14</c:v>
                  </c:pt>
                  <c:pt idx="3">
                    <c:v>Day 21</c:v>
                  </c:pt>
                  <c:pt idx="4">
                    <c:v>Day 28</c:v>
                  </c:pt>
                </c:lvl>
              </c:multiLvlStrCache>
            </c:multiLvlStrRef>
          </c:cat>
          <c:val>
            <c:numRef>
              <c:f>Sheet1!$B$2:$B$6</c:f>
              <c:numCache>
                <c:formatCode>General</c:formatCode>
                <c:ptCount val="5"/>
                <c:pt idx="0">
                  <c:v>37.4</c:v>
                </c:pt>
                <c:pt idx="1">
                  <c:v>38.6</c:v>
                </c:pt>
                <c:pt idx="2">
                  <c:v>39.5</c:v>
                </c:pt>
                <c:pt idx="3">
                  <c:v>43.5</c:v>
                </c:pt>
                <c:pt idx="4">
                  <c:v>45.3</c:v>
                </c:pt>
              </c:numCache>
            </c:numRef>
          </c:val>
        </c:ser>
        <c:ser>
          <c:idx val="1"/>
          <c:order val="1"/>
          <c:tx>
            <c:strRef>
              <c:f>Sheet1!$C$1</c:f>
              <c:strCache>
                <c:ptCount val="1"/>
                <c:pt idx="0">
                  <c:v>Stayed (Control)</c:v>
                </c:pt>
              </c:strCache>
            </c:strRef>
          </c:tx>
          <c:spPr>
            <a:solidFill>
              <a:srgbClr val="9AA5B1"/>
            </a:solidFill>
            <a:effectLst/>
          </c:spPr>
          <c:invertIfNegative val="0"/>
          <c:dLbls>
            <c:numFmt formatCode="0.0" sourceLinked="0"/>
            <c:txPr>
              <a:bodyPr/>
              <a:lstStyle/>
              <a:p>
                <a:pPr>
                  <a:defRPr b="0" i="0" strike="noStrike" sz="900" u="none">
                    <a:solidFill>
                      <a:srgbClr val="3C3C3C"/>
                    </a:solidFill>
                    <a:latin typeface="Arial"/>
                  </a:defRPr>
                </a:pPr>
              </a:p>
            </c:txPr>
            <c:showLegendKey val="0"/>
            <c:showVal val="1"/>
            <c:showCatName val="0"/>
            <c:showSerName val="0"/>
            <c:showPercent val="0"/>
            <c:showBubbleSize val="0"/>
            <c:showLeaderLines val="0"/>
          </c:dLbls>
          <c:cat>
            <c:multiLvlStrRef>
              <c:f>Sheet1!$A$2:$A$6</c:f>
              <c:multiLvlStrCache>
                <c:ptCount val="5"/>
                <c:lvl>
                  <c:pt idx="0">
                    <c:v>Day 7</c:v>
                  </c:pt>
                  <c:pt idx="1">
                    <c:v>Day 10</c:v>
                  </c:pt>
                  <c:pt idx="2">
                    <c:v>Day 14</c:v>
                  </c:pt>
                  <c:pt idx="3">
                    <c:v>Day 21</c:v>
                  </c:pt>
                  <c:pt idx="4">
                    <c:v>Day 28</c:v>
                  </c:pt>
                </c:lvl>
              </c:multiLvlStrCache>
            </c:multiLvlStrRef>
          </c:cat>
          <c:val>
            <c:numRef>
              <c:f>Sheet1!$C$2:$C$6</c:f>
              <c:numCache>
                <c:formatCode>General</c:formatCode>
                <c:ptCount val="5"/>
                <c:pt idx="0">
                  <c:v>0</c:v>
                </c:pt>
                <c:pt idx="1">
                  <c:v>0.5</c:v>
                </c:pt>
                <c:pt idx="2">
                  <c:v>3.7</c:v>
                </c:pt>
                <c:pt idx="3">
                  <c:v>5.3</c:v>
                </c:pt>
                <c:pt idx="4">
                  <c:v>7.5</c:v>
                </c:pt>
              </c:numCache>
            </c:numRef>
          </c:val>
        </c:ser>
        <c:dLbls>
          <c:numFmt formatCode="0.0" sourceLinked="0"/>
          <c:txPr>
            <a:bodyPr/>
            <a:lstStyle/>
            <a:p>
              <a:pPr>
                <a:defRPr b="0" i="0" strike="noStrike" sz="900" u="none">
                  <a:solidFill>
                    <a:srgbClr val="3C3C3C"/>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title>
          <c:tx>
            <c:rich>
              <a:bodyPr/>
              <a:lstStyle/>
              <a:p>
                <a:pPr>
                  <a:defRPr sz="1050" b="0" i="0" u="none" strike="noStrike">
                    <a:solidFill>
                      <a:srgbClr val="9AA5B1"/>
                    </a:solidFill>
                    <a:latin typeface="Arial"/>
                  </a:defRPr>
                </a:pPr>
                <a:r>
                  <a:rPr sz="1050" b="0" i="0" u="none" strike="noStrike">
                    <a:solidFill>
                      <a:srgbClr val="9AA5B1"/>
                    </a:solidFill>
                    <a:latin typeface="Arial"/>
                  </a:rPr>
                  <a:t>Days Into Billing Cycle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3C3C"/>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9525" cap="flat">
              <a:solidFill>
                <a:srgbClr val="E7E6E6"/>
              </a:solidFill>
              <a:prstDash val="solid"/>
              <a:round/>
            </a:ln>
          </c:spPr>
        </c:majorGridlines>
        <c:title>
          <c:tx>
            <c:rich>
              <a:bodyPr/>
              <a:lstStyle/>
              <a:p>
                <a:pPr>
                  <a:defRPr sz="1050" b="0" i="0" u="none" strike="noStrike">
                    <a:solidFill>
                      <a:srgbClr val="9AA5B1"/>
                    </a:solidFill>
                    <a:latin typeface="Arial"/>
                  </a:defRPr>
                </a:pPr>
                <a:r>
                  <a:rPr sz="1050" b="0" i="0" u="none" strike="noStrike">
                    <a:solidFill>
                      <a:srgbClr val="9AA5B1"/>
                    </a:solidFill>
                    <a:latin typeface="Arial"/>
                  </a:rPr>
                  <a:t>% Flagged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5B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C3C3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6-1.png"/><Relationship Id="rId3"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7-1.png"/><Relationship Id="rId3"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61"/>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457200" y="411480"/>
            <a:ext cx="1005840" cy="262433"/>
          </a:xfrm>
          <a:prstGeom prst="rect">
            <a:avLst/>
          </a:prstGeom>
        </p:spPr>
      </p:pic>
      <p:sp>
        <p:nvSpPr>
          <p:cNvPr id="3" name="Text 0"/>
          <p:cNvSpPr/>
          <p:nvPr/>
        </p:nvSpPr>
        <p:spPr>
          <a:xfrm>
            <a:off x="548640" y="2468880"/>
            <a:ext cx="10515600" cy="137160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libri" pitchFamily="34" charset="0"/>
                <a:ea typeface="Calibri" pitchFamily="34" charset="-122"/>
                <a:cs typeface="Calibri" pitchFamily="34" charset="-120"/>
              </a:rPr>
              <a:t>CAN WE CATCH SWITCHERS</a:t>
            </a:r>
            <a:endParaRPr lang="en-US" sz="3600" dirty="0"/>
          </a:p>
          <a:p>
            <a:pPr indent="0" marL="0">
              <a:lnSpc>
                <a:spcPct val="105000"/>
              </a:lnSpc>
              <a:buNone/>
            </a:pPr>
            <a:r>
              <a:rPr lang="en-US" sz="3600" b="1" dirty="0">
                <a:solidFill>
                  <a:srgbClr val="FFFFFF"/>
                </a:solidFill>
                <a:latin typeface="Calibri" pitchFamily="34" charset="0"/>
                <a:ea typeface="Calibri" pitchFamily="34" charset="-122"/>
                <a:cs typeface="Calibri" pitchFamily="34" charset="-120"/>
              </a:rPr>
              <a:t>BEFORE THEY LEAVE?</a:t>
            </a:r>
            <a:endParaRPr lang="en-US" sz="3600" dirty="0"/>
          </a:p>
        </p:txBody>
      </p:sp>
      <p:sp>
        <p:nvSpPr>
          <p:cNvPr id="4" name="Text 1"/>
          <p:cNvSpPr/>
          <p:nvPr/>
        </p:nvSpPr>
        <p:spPr>
          <a:xfrm>
            <a:off x="548640" y="3794760"/>
            <a:ext cx="9875520" cy="640080"/>
          </a:xfrm>
          <a:prstGeom prst="rect">
            <a:avLst/>
          </a:prstGeom>
          <a:noFill/>
          <a:ln/>
        </p:spPr>
        <p:txBody>
          <a:bodyPr wrap="square" lIns="0" tIns="0" rIns="0" bIns="0" rtlCol="0" anchor="ctr"/>
          <a:lstStyle/>
          <a:p>
            <a:pPr indent="0" marL="0">
              <a:buNone/>
            </a:pPr>
            <a:r>
              <a:rPr lang="en-US" sz="1500" dirty="0">
                <a:solidFill>
                  <a:srgbClr val="BFD9F0"/>
                </a:solidFill>
                <a:latin typeface="Calibri" pitchFamily="34" charset="0"/>
                <a:ea typeface="Calibri" pitchFamily="34" charset="-122"/>
                <a:cs typeface="Calibri" pitchFamily="34" charset="-120"/>
              </a:rPr>
              <a:t>A pre-bill usage alert, backtested against real switchers and a real control group — with an honest answer on how early we can catch them</a:t>
            </a:r>
            <a:endParaRPr lang="en-US" sz="1500" dirty="0"/>
          </a:p>
        </p:txBody>
      </p:sp>
      <p:sp>
        <p:nvSpPr>
          <p:cNvPr id="5" name="Text 2"/>
          <p:cNvSpPr/>
          <p:nvPr/>
        </p:nvSpPr>
        <p:spPr>
          <a:xfrm>
            <a:off x="548640" y="6263640"/>
            <a:ext cx="3657600" cy="274320"/>
          </a:xfrm>
          <a:prstGeom prst="rect">
            <a:avLst/>
          </a:prstGeom>
          <a:noFill/>
          <a:ln/>
        </p:spPr>
        <p:txBody>
          <a:bodyPr wrap="square" lIns="0" tIns="0" rIns="0" bIns="0" rtlCol="0" anchor="ctr"/>
          <a:lstStyle/>
          <a:p>
            <a:pPr indent="0" marL="0">
              <a:buNone/>
            </a:pPr>
            <a:r>
              <a:rPr lang="en-US" sz="1100" dirty="0">
                <a:solidFill>
                  <a:srgbClr val="BFD9F0"/>
                </a:solidFill>
                <a:latin typeface="Calibri" pitchFamily="34" charset="0"/>
                <a:ea typeface="Calibri" pitchFamily="34" charset="-122"/>
                <a:cs typeface="Calibri" pitchFamily="34" charset="-120"/>
              </a:rPr>
              <a:t>Prepared by Momna Ali</a:t>
            </a:r>
            <a:endParaRPr lang="en-US" sz="1100" dirty="0"/>
          </a:p>
        </p:txBody>
      </p:sp>
      <p:sp>
        <p:nvSpPr>
          <p:cNvPr id="6" name="Shape 3"/>
          <p:cNvSpPr/>
          <p:nvPr/>
        </p:nvSpPr>
        <p:spPr>
          <a:xfrm>
            <a:off x="0" y="6748272"/>
            <a:ext cx="3047924" cy="109728"/>
          </a:xfrm>
          <a:prstGeom prst="rect">
            <a:avLst/>
          </a:prstGeom>
          <a:solidFill>
            <a:srgbClr val="005CB9"/>
          </a:solidFill>
          <a:ln/>
        </p:spPr>
      </p:sp>
      <p:sp>
        <p:nvSpPr>
          <p:cNvPr id="7" name="Shape 4"/>
          <p:cNvSpPr/>
          <p:nvPr/>
        </p:nvSpPr>
        <p:spPr>
          <a:xfrm>
            <a:off x="3047924" y="6748272"/>
            <a:ext cx="3047924" cy="109728"/>
          </a:xfrm>
          <a:prstGeom prst="rect">
            <a:avLst/>
          </a:prstGeom>
          <a:solidFill>
            <a:srgbClr val="00BB86"/>
          </a:solidFill>
          <a:ln/>
        </p:spPr>
      </p:sp>
      <p:sp>
        <p:nvSpPr>
          <p:cNvPr id="8" name="Shape 5"/>
          <p:cNvSpPr/>
          <p:nvPr/>
        </p:nvSpPr>
        <p:spPr>
          <a:xfrm>
            <a:off x="6095848" y="6748272"/>
            <a:ext cx="3047924" cy="109728"/>
          </a:xfrm>
          <a:prstGeom prst="rect">
            <a:avLst/>
          </a:prstGeom>
          <a:solidFill>
            <a:srgbClr val="F4A600"/>
          </a:solidFill>
          <a:ln/>
        </p:spPr>
      </p:sp>
      <p:sp>
        <p:nvSpPr>
          <p:cNvPr id="9" name="Shape 6"/>
          <p:cNvSpPr/>
          <p:nvPr/>
        </p:nvSpPr>
        <p:spPr>
          <a:xfrm>
            <a:off x="9143771" y="6748272"/>
            <a:ext cx="3047924" cy="109728"/>
          </a:xfrm>
          <a:prstGeom prst="rect">
            <a:avLst/>
          </a:prstGeom>
          <a:solidFill>
            <a:srgbClr val="00B9B3"/>
          </a:solidFill>
          <a:ln/>
        </p:spPr>
      </p:sp>
      <p:sp>
        <p:nvSpPr>
          <p:cNvPr id="10" name="Text 7"/>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BFD9F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00BB86"/>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00BB86"/>
                </a:solidFill>
                <a:latin typeface="Calibri" pitchFamily="34" charset="0"/>
                <a:ea typeface="Calibri" pitchFamily="34" charset="-122"/>
                <a:cs typeface="Calibri" pitchFamily="34" charset="-120"/>
              </a:rPr>
              <a:t>STEP 1: THE GOAL</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Why We're Doing This</a:t>
            </a:r>
            <a:endParaRPr lang="en-US" sz="2600" dirty="0"/>
          </a:p>
        </p:txBody>
      </p:sp>
      <p:sp>
        <p:nvSpPr>
          <p:cNvPr id="6" name="Text 3"/>
          <p:cNvSpPr/>
          <p:nvPr/>
        </p:nvSpPr>
        <p:spPr>
          <a:xfrm>
            <a:off x="457200" y="1691640"/>
            <a:ext cx="11247120" cy="1554480"/>
          </a:xfrm>
          <a:prstGeom prst="rect">
            <a:avLst/>
          </a:prstGeom>
          <a:noFill/>
          <a:ln/>
        </p:spPr>
        <p:txBody>
          <a:bodyPr wrap="square" lIns="0" tIns="0" rIns="0" bIns="0" rtlCol="0" anchor="t"/>
          <a:lstStyle/>
          <a:p>
            <a:pPr indent="0" marL="0">
              <a:lnSpc>
                <a:spcPct val="115000"/>
              </a:lnSpc>
              <a:buNone/>
            </a:pPr>
            <a:r>
              <a:rPr lang="en-US" sz="1350" dirty="0">
                <a:solidFill>
                  <a:srgbClr val="3C3C3C"/>
                </a:solidFill>
                <a:latin typeface="Calibri" pitchFamily="34" charset="0"/>
                <a:ea typeface="Calibri" pitchFamily="34" charset="-122"/>
                <a:cs typeface="Calibri" pitchFamily="34" charset="-120"/>
              </a:rPr>
              <a:t>Task 7 started as a simple question: can we predict who's about to call in about a high bill? That model worked (AUC 0.64), but Jonathan redirected to a bigger question: not just who's calling, but who's attriting — and could we have intervened earlier. One segment stood out immediately: customers who switch away before their bill is even due. That's 9% of switchers, but 20% of all bad debt — 22,985 customers, $8.68M.</a:t>
            </a:r>
            <a:endParaRPr lang="en-US" sz="1350" dirty="0"/>
          </a:p>
        </p:txBody>
      </p:sp>
      <p:sp>
        <p:nvSpPr>
          <p:cNvPr id="7" name="Shape 4"/>
          <p:cNvSpPr/>
          <p:nvPr/>
        </p:nvSpPr>
        <p:spPr>
          <a:xfrm>
            <a:off x="457200" y="3429000"/>
            <a:ext cx="11247120" cy="1417320"/>
          </a:xfrm>
          <a:prstGeom prst="roundRect">
            <a:avLst>
              <a:gd name="adj" fmla="val 5161"/>
            </a:avLst>
          </a:prstGeom>
          <a:solidFill>
            <a:srgbClr val="F5F8FA"/>
          </a:solidFill>
          <a:ln/>
        </p:spPr>
      </p:sp>
      <p:sp>
        <p:nvSpPr>
          <p:cNvPr id="8" name="Text 5"/>
          <p:cNvSpPr/>
          <p:nvPr/>
        </p:nvSpPr>
        <p:spPr>
          <a:xfrm>
            <a:off x="731520" y="3611880"/>
            <a:ext cx="10698480" cy="1097280"/>
          </a:xfrm>
          <a:prstGeom prst="rect">
            <a:avLst/>
          </a:prstGeom>
          <a:noFill/>
          <a:ln/>
        </p:spPr>
        <p:txBody>
          <a:bodyPr wrap="square" lIns="0" tIns="0" rIns="0" bIns="0" rtlCol="0" anchor="t"/>
          <a:lstStyle/>
          <a:p>
            <a:pPr indent="0" marL="0">
              <a:lnSpc>
                <a:spcPct val="115000"/>
              </a:lnSpc>
              <a:buNone/>
            </a:pPr>
            <a:r>
              <a:rPr lang="en-US" sz="1300" b="1" dirty="0">
                <a:solidFill>
                  <a:srgbClr val="004061"/>
                </a:solidFill>
                <a:latin typeface="Calibri" pitchFamily="34" charset="0"/>
                <a:ea typeface="Calibri" pitchFamily="34" charset="-122"/>
                <a:cs typeface="Calibri" pitchFamily="34" charset="-120"/>
              </a:rPr>
              <a:t>In plain terms: </a:t>
            </a:r>
            <a:pPr indent="0" marL="0">
              <a:lnSpc>
                <a:spcPct val="115000"/>
              </a:lnSpc>
              <a:buNone/>
            </a:pPr>
            <a:r>
              <a:rPr lang="en-US" sz="1300" dirty="0">
                <a:solidFill>
                  <a:srgbClr val="3C3C3C"/>
                </a:solidFill>
                <a:latin typeface="Calibri" pitchFamily="34" charset="0"/>
                <a:ea typeface="Calibri" pitchFamily="34" charset="-122"/>
                <a:cs typeface="Calibri" pitchFamily="34" charset="-120"/>
              </a:rPr>
              <a:t>these customers may be seeing a bill (or a usage trend pointing toward one) and leaving before we even get a chance to talk to them. The goal isn't fewer calls — a notification might actually increase calls short-term, and that's fine. The real goal is getting the customer informed early enough, while there's still time for them to change their own usage instead of switching out of surprise or confusion.</a:t>
            </a:r>
            <a:endParaRPr lang="en-US" sz="1300" dirty="0"/>
          </a:p>
        </p:txBody>
      </p:sp>
      <p:sp>
        <p:nvSpPr>
          <p:cNvPr id="9" name="Text 6"/>
          <p:cNvSpPr/>
          <p:nvPr/>
        </p:nvSpPr>
        <p:spPr>
          <a:xfrm>
            <a:off x="457200" y="5074920"/>
            <a:ext cx="11247120" cy="457200"/>
          </a:xfrm>
          <a:prstGeom prst="rect">
            <a:avLst/>
          </a:prstGeom>
          <a:noFill/>
          <a:ln/>
        </p:spPr>
        <p:txBody>
          <a:bodyPr wrap="square" lIns="0" tIns="0" rIns="0" bIns="0" rtlCol="0" anchor="ctr"/>
          <a:lstStyle/>
          <a:p>
            <a:pPr indent="0" marL="0">
              <a:buNone/>
            </a:pPr>
            <a:r>
              <a:rPr lang="en-US" sz="1200" i="1" dirty="0">
                <a:solidFill>
                  <a:srgbClr val="9AA5B1"/>
                </a:solidFill>
                <a:latin typeface="Calibri" pitchFamily="34" charset="0"/>
                <a:ea typeface="Calibri" pitchFamily="34" charset="-122"/>
                <a:cs typeface="Calibri" pitchFamily="34" charset="-120"/>
              </a:rPr>
              <a:t>This segment is the leading case, not the only one — the broader question is whether we could have intervened for anyone who leaves owing debt.</a:t>
            </a:r>
            <a:endParaRPr lang="en-US" sz="1200" dirty="0"/>
          </a:p>
        </p:txBody>
      </p:sp>
      <p:pic>
        <p:nvPicPr>
          <p:cNvPr id="10"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11" name="Text 7"/>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005CB9"/>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005CB9"/>
                </a:solidFill>
                <a:latin typeface="Calibri" pitchFamily="34" charset="0"/>
                <a:ea typeface="Calibri" pitchFamily="34" charset="-122"/>
                <a:cs typeface="Calibri" pitchFamily="34" charset="-120"/>
              </a:rPr>
              <a:t>STEP 2: THE METHOD</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How We Did This</a:t>
            </a:r>
            <a:endParaRPr lang="en-US" sz="2600" dirty="0"/>
          </a:p>
        </p:txBody>
      </p:sp>
      <p:sp>
        <p:nvSpPr>
          <p:cNvPr id="6" name="Shape 3"/>
          <p:cNvSpPr/>
          <p:nvPr/>
        </p:nvSpPr>
        <p:spPr>
          <a:xfrm>
            <a:off x="457200" y="1783080"/>
            <a:ext cx="384048" cy="384048"/>
          </a:xfrm>
          <a:prstGeom prst="ellipse">
            <a:avLst/>
          </a:prstGeom>
          <a:solidFill>
            <a:srgbClr val="005CB9"/>
          </a:solidFill>
          <a:ln/>
        </p:spPr>
      </p:sp>
      <p:sp>
        <p:nvSpPr>
          <p:cNvPr id="7" name="Text 4"/>
          <p:cNvSpPr/>
          <p:nvPr/>
        </p:nvSpPr>
        <p:spPr>
          <a:xfrm>
            <a:off x="457200" y="1783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p:nvPr/>
        </p:nvSpPr>
        <p:spPr>
          <a:xfrm>
            <a:off x="960120" y="1755648"/>
            <a:ext cx="48463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Profiled the segment for a shortcut</a:t>
            </a:r>
            <a:endParaRPr lang="en-US" sz="1400" dirty="0"/>
          </a:p>
        </p:txBody>
      </p:sp>
      <p:sp>
        <p:nvSpPr>
          <p:cNvPr id="9" name="Text 6"/>
          <p:cNvSpPr/>
          <p:nvPr/>
        </p:nvSpPr>
        <p:spPr>
          <a:xfrm>
            <a:off x="960120" y="2148840"/>
            <a:ext cx="4846320" cy="105156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Checked tenure, credit score, enrollment type, brand, and utility. None showed a strong concentration — no simple attribute rule can target this group.</a:t>
            </a:r>
            <a:endParaRPr lang="en-US" sz="1150" dirty="0"/>
          </a:p>
        </p:txBody>
      </p:sp>
      <p:sp>
        <p:nvSpPr>
          <p:cNvPr id="10" name="Shape 7"/>
          <p:cNvSpPr/>
          <p:nvPr/>
        </p:nvSpPr>
        <p:spPr>
          <a:xfrm>
            <a:off x="6355080" y="1783080"/>
            <a:ext cx="384048" cy="384048"/>
          </a:xfrm>
          <a:prstGeom prst="ellipse">
            <a:avLst/>
          </a:prstGeom>
          <a:solidFill>
            <a:srgbClr val="00BB86"/>
          </a:solidFill>
          <a:ln/>
        </p:spPr>
      </p:sp>
      <p:sp>
        <p:nvSpPr>
          <p:cNvPr id="11" name="Text 8"/>
          <p:cNvSpPr/>
          <p:nvPr/>
        </p:nvSpPr>
        <p:spPr>
          <a:xfrm>
            <a:off x="6355080" y="17830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p:nvPr/>
        </p:nvSpPr>
        <p:spPr>
          <a:xfrm>
            <a:off x="6858000" y="1755648"/>
            <a:ext cx="48463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Found and validated real usage data</a:t>
            </a:r>
            <a:endParaRPr lang="en-US" sz="1400" dirty="0"/>
          </a:p>
        </p:txBody>
      </p:sp>
      <p:sp>
        <p:nvSpPr>
          <p:cNvPr id="13" name="Text 10"/>
          <p:cNvSpPr/>
          <p:nvPr/>
        </p:nvSpPr>
        <p:spPr>
          <a:xfrm>
            <a:off x="6858000" y="2148840"/>
            <a:ext cx="4846320" cy="105156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Discovered BAT_SMT — true daily and hourly usage tied to the exact billing cycle. The debt-aging fields checked earlier (D10/D20/D30/D60) turned out to be a dead end.</a:t>
            </a:r>
            <a:endParaRPr lang="en-US" sz="1150" dirty="0"/>
          </a:p>
        </p:txBody>
      </p:sp>
      <p:sp>
        <p:nvSpPr>
          <p:cNvPr id="14" name="Shape 11"/>
          <p:cNvSpPr/>
          <p:nvPr/>
        </p:nvSpPr>
        <p:spPr>
          <a:xfrm>
            <a:off x="457200" y="3429000"/>
            <a:ext cx="384048" cy="384048"/>
          </a:xfrm>
          <a:prstGeom prst="ellipse">
            <a:avLst/>
          </a:prstGeom>
          <a:solidFill>
            <a:srgbClr val="F4A600"/>
          </a:solidFill>
          <a:ln/>
        </p:spPr>
      </p:sp>
      <p:sp>
        <p:nvSpPr>
          <p:cNvPr id="15" name="Text 12"/>
          <p:cNvSpPr/>
          <p:nvPr/>
        </p:nvSpPr>
        <p:spPr>
          <a:xfrm>
            <a:off x="457200" y="3429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3"/>
          <p:cNvSpPr/>
          <p:nvPr/>
        </p:nvSpPr>
        <p:spPr>
          <a:xfrm>
            <a:off x="960120" y="3401568"/>
            <a:ext cx="48463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Redesigned the trigger logic mid-stream</a:t>
            </a:r>
            <a:endParaRPr lang="en-US" sz="1400" dirty="0"/>
          </a:p>
        </p:txBody>
      </p:sp>
      <p:sp>
        <p:nvSpPr>
          <p:cNvPr id="17" name="Text 14"/>
          <p:cNvSpPr/>
          <p:nvPr/>
        </p:nvSpPr>
        <p:spPr>
          <a:xfrm>
            <a:off x="960120" y="3794760"/>
            <a:ext cx="4846320" cy="105156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The original plan compared a customer's current cycle to their own past cycle — but the real data only holds one cycle per customer. Rebuilt around early-vs-late usage within that same cycle instead.</a:t>
            </a:r>
            <a:endParaRPr lang="en-US" sz="1150" dirty="0"/>
          </a:p>
        </p:txBody>
      </p:sp>
      <p:sp>
        <p:nvSpPr>
          <p:cNvPr id="18" name="Shape 15"/>
          <p:cNvSpPr/>
          <p:nvPr/>
        </p:nvSpPr>
        <p:spPr>
          <a:xfrm>
            <a:off x="6355080" y="3429000"/>
            <a:ext cx="384048" cy="384048"/>
          </a:xfrm>
          <a:prstGeom prst="ellipse">
            <a:avLst/>
          </a:prstGeom>
          <a:solidFill>
            <a:srgbClr val="00B9B3"/>
          </a:solidFill>
          <a:ln/>
        </p:spPr>
      </p:sp>
      <p:sp>
        <p:nvSpPr>
          <p:cNvPr id="19" name="Text 16"/>
          <p:cNvSpPr/>
          <p:nvPr/>
        </p:nvSpPr>
        <p:spPr>
          <a:xfrm>
            <a:off x="6355080" y="3429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6858000" y="3401568"/>
            <a:ext cx="48463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Backtested against real outcomes, both ways</a:t>
            </a:r>
            <a:endParaRPr lang="en-US" sz="1400" dirty="0"/>
          </a:p>
        </p:txBody>
      </p:sp>
      <p:sp>
        <p:nvSpPr>
          <p:cNvPr id="21" name="Text 18"/>
          <p:cNvSpPr/>
          <p:nvPr/>
        </p:nvSpPr>
        <p:spPr>
          <a:xfrm>
            <a:off x="6858000" y="3794760"/>
            <a:ext cx="4846320" cy="105156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Tested the flag against known switchers (does it catch them, how early) and a real control group of active customers (does it wrongly flag people who stayed).</a:t>
            </a:r>
            <a:endParaRPr lang="en-US" sz="1150" dirty="0"/>
          </a:p>
        </p:txBody>
      </p:sp>
      <p:sp>
        <p:nvSpPr>
          <p:cNvPr id="22" name="Text 19"/>
          <p:cNvSpPr/>
          <p:nvPr/>
        </p:nvSpPr>
        <p:spPr>
          <a:xfrm>
            <a:off x="457200" y="6263640"/>
            <a:ext cx="11247120" cy="320040"/>
          </a:xfrm>
          <a:prstGeom prst="rect">
            <a:avLst/>
          </a:prstGeom>
          <a:noFill/>
          <a:ln/>
        </p:spPr>
        <p:txBody>
          <a:bodyPr wrap="square" lIns="0" tIns="0" rIns="0" bIns="0" rtlCol="0" anchor="ctr"/>
          <a:lstStyle/>
          <a:p>
            <a:pPr indent="0" marL="0">
              <a:buNone/>
            </a:pPr>
            <a:r>
              <a:rPr lang="en-US" sz="1050" b="1" dirty="0">
                <a:solidFill>
                  <a:srgbClr val="9AA5B1"/>
                </a:solidFill>
                <a:latin typeface="Calibri" pitchFamily="34" charset="0"/>
                <a:ea typeface="Calibri" pitchFamily="34" charset="-122"/>
                <a:cs typeface="Calibri" pitchFamily="34" charset="-120"/>
              </a:rPr>
              <a:t>Tools used:  </a:t>
            </a:r>
            <a:pPr indent="0" marL="0">
              <a:buNone/>
            </a:pPr>
            <a:r>
              <a:rPr lang="en-US" sz="1050" dirty="0">
                <a:solidFill>
                  <a:srgbClr val="9AA5B1"/>
                </a:solidFill>
                <a:latin typeface="Calibri" pitchFamily="34" charset="0"/>
                <a:ea typeface="Calibri" pitchFamily="34" charset="-122"/>
                <a:cs typeface="Calibri" pitchFamily="34" charset="-120"/>
              </a:rPr>
              <a:t>SQL (cross-warehouse, joining BAT_SMT with validated customer-attrition data) and Python for the trigger-day backtesting. Nothing outside our own systems.</a:t>
            </a:r>
            <a:endParaRPr lang="en-US" sz="1050" dirty="0"/>
          </a:p>
        </p:txBody>
      </p:sp>
      <p:pic>
        <p:nvPicPr>
          <p:cNvPr id="23"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24" name="Text 20"/>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00BB86"/>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00BB86"/>
                </a:solidFill>
                <a:latin typeface="Calibri" pitchFamily="34" charset="0"/>
                <a:ea typeface="Calibri" pitchFamily="34" charset="-122"/>
                <a:cs typeface="Calibri" pitchFamily="34" charset="-120"/>
              </a:rPr>
              <a:t>REAL WORK, NOT GUESSWORK</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Segment Profiling: No Easy Shortcut</a:t>
            </a:r>
            <a:endParaRPr lang="en-US" sz="2600" dirty="0"/>
          </a:p>
        </p:txBody>
      </p:sp>
      <p:sp>
        <p:nvSpPr>
          <p:cNvPr id="6"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300" i="1" dirty="0">
                <a:solidFill>
                  <a:srgbClr val="9AA5B1"/>
                </a:solidFill>
                <a:latin typeface="Calibri" pitchFamily="34" charset="0"/>
                <a:ea typeface="Calibri" pitchFamily="34" charset="-122"/>
                <a:cs typeface="Calibri" pitchFamily="34" charset="-120"/>
              </a:rPr>
              <a:t>Checked every obvious attribute — none of them concentrate this segment</a:t>
            </a:r>
            <a:endParaRPr lang="en-US" sz="1300" dirty="0"/>
          </a:p>
        </p:txBody>
      </p:sp>
      <p:sp>
        <p:nvSpPr>
          <p:cNvPr id="7" name="Shape 4"/>
          <p:cNvSpPr/>
          <p:nvPr/>
        </p:nvSpPr>
        <p:spPr>
          <a:xfrm>
            <a:off x="457200" y="2011680"/>
            <a:ext cx="5440680" cy="3017520"/>
          </a:xfrm>
          <a:prstGeom prst="roundRect">
            <a:avLst>
              <a:gd name="adj" fmla="val 2424"/>
            </a:avLst>
          </a:prstGeom>
          <a:solidFill>
            <a:srgbClr val="F5F8FA"/>
          </a:solidFill>
          <a:ln/>
        </p:spPr>
      </p:sp>
      <p:sp>
        <p:nvSpPr>
          <p:cNvPr id="8" name="Text 5"/>
          <p:cNvSpPr/>
          <p:nvPr/>
        </p:nvSpPr>
        <p:spPr>
          <a:xfrm>
            <a:off x="731520" y="2194560"/>
            <a:ext cx="4937760" cy="32004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1. What We Checked</a:t>
            </a:r>
            <a:endParaRPr lang="en-US" sz="1400" dirty="0"/>
          </a:p>
        </p:txBody>
      </p:sp>
      <p:sp>
        <p:nvSpPr>
          <p:cNvPr id="9" name="Text 6"/>
          <p:cNvSpPr/>
          <p:nvPr/>
        </p:nvSpPr>
        <p:spPr>
          <a:xfrm>
            <a:off x="731520" y="2606040"/>
            <a:ext cx="4937760" cy="2240280"/>
          </a:xfrm>
          <a:prstGeom prst="rect">
            <a:avLst/>
          </a:prstGeom>
          <a:noFill/>
          <a:ln/>
        </p:spPr>
        <p:txBody>
          <a:bodyPr wrap="square" lIns="0" tIns="0" rIns="0" bIns="0" rtlCol="0" anchor="t"/>
          <a:lstStyle/>
          <a:p>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Tenure: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fairly even spread; shortest-tenure customers carry slightly higher average debt, but not dominant.
</a:t>
            </a:r>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Credit score: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surprisingly spread out — the single largest band is 800-899, a good tier.
</a:t>
            </a:r>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Enrollment type: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Switch enrollees carry ~29% higher average debt than Move-In — the one real signal, but not enough alone.
</a:t>
            </a:r>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Brand &amp; utility: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roughly proportional to overall base, no real concentration.</a:t>
            </a:r>
            <a:endParaRPr lang="en-US" sz="1150" dirty="0"/>
          </a:p>
        </p:txBody>
      </p:sp>
      <p:sp>
        <p:nvSpPr>
          <p:cNvPr id="10" name="Shape 7"/>
          <p:cNvSpPr/>
          <p:nvPr/>
        </p:nvSpPr>
        <p:spPr>
          <a:xfrm>
            <a:off x="6263640" y="2011680"/>
            <a:ext cx="5440680" cy="3017520"/>
          </a:xfrm>
          <a:prstGeom prst="roundRect">
            <a:avLst>
              <a:gd name="adj" fmla="val 2424"/>
            </a:avLst>
          </a:prstGeom>
          <a:solidFill>
            <a:srgbClr val="F5F8FA"/>
          </a:solidFill>
          <a:ln/>
        </p:spPr>
      </p:sp>
      <p:sp>
        <p:nvSpPr>
          <p:cNvPr id="11" name="Text 8"/>
          <p:cNvSpPr/>
          <p:nvPr/>
        </p:nvSpPr>
        <p:spPr>
          <a:xfrm>
            <a:off x="6537960" y="2194560"/>
            <a:ext cx="4937760" cy="32004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2. What It Means</a:t>
            </a:r>
            <a:endParaRPr lang="en-US" sz="1400" dirty="0"/>
          </a:p>
        </p:txBody>
      </p:sp>
      <p:sp>
        <p:nvSpPr>
          <p:cNvPr id="12" name="Text 9"/>
          <p:cNvSpPr/>
          <p:nvPr/>
        </p:nvSpPr>
        <p:spPr>
          <a:xfrm>
            <a:off x="6537960" y="2606040"/>
            <a:ext cx="4937760" cy="2240280"/>
          </a:xfrm>
          <a:prstGeom prst="rect">
            <a:avLst/>
          </a:prstGeom>
          <a:noFill/>
          <a:ln/>
        </p:spPr>
        <p:txBody>
          <a:bodyPr wrap="square" lIns="0" tIns="0" rIns="0" bIns="0" rtlCol="0" anchor="t"/>
          <a:lstStyle/>
          <a:p>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This segment does NOT reduce to a simple static-attribute rule. There's no demographic shortcut here — which is exactly why Jonathan's instinct to use behavioral data (actual usage trending toward a high bill) instead of static demographics turned out to be the right direction.</a:t>
            </a:r>
            <a:endParaRPr lang="en-US" sz="1150" dirty="0"/>
          </a:p>
        </p:txBody>
      </p:sp>
      <p:sp>
        <p:nvSpPr>
          <p:cNvPr id="13" name="Shape 10"/>
          <p:cNvSpPr/>
          <p:nvPr/>
        </p:nvSpPr>
        <p:spPr>
          <a:xfrm>
            <a:off x="457200" y="5257800"/>
            <a:ext cx="11247120" cy="1051560"/>
          </a:xfrm>
          <a:prstGeom prst="roundRect">
            <a:avLst>
              <a:gd name="adj" fmla="val 6957"/>
            </a:avLst>
          </a:prstGeom>
          <a:solidFill>
            <a:srgbClr val="F5F8FA"/>
          </a:solidFill>
          <a:ln/>
        </p:spPr>
      </p:sp>
      <p:sp>
        <p:nvSpPr>
          <p:cNvPr id="14" name="Text 11"/>
          <p:cNvSpPr/>
          <p:nvPr/>
        </p:nvSpPr>
        <p:spPr>
          <a:xfrm>
            <a:off x="731520" y="5440680"/>
            <a:ext cx="10698480" cy="777240"/>
          </a:xfrm>
          <a:prstGeom prst="rect">
            <a:avLst/>
          </a:prstGeom>
          <a:noFill/>
          <a:ln/>
        </p:spPr>
        <p:txBody>
          <a:bodyPr wrap="square" lIns="0" tIns="0" rIns="0" bIns="0" rtlCol="0" anchor="t"/>
          <a:lstStyle/>
          <a:p>
            <a:pPr indent="0" marL="0">
              <a:lnSpc>
                <a:spcPct val="115000"/>
              </a:lnSpc>
              <a:buNone/>
            </a:pPr>
            <a:r>
              <a:rPr lang="en-US" sz="1300" b="1" dirty="0">
                <a:solidFill>
                  <a:srgbClr val="004061"/>
                </a:solidFill>
                <a:latin typeface="Calibri" pitchFamily="34" charset="0"/>
                <a:ea typeface="Calibri" pitchFamily="34" charset="-122"/>
                <a:cs typeface="Calibri" pitchFamily="34" charset="-120"/>
              </a:rPr>
              <a:t>In plain terms: </a:t>
            </a:r>
            <a:pPr indent="0" marL="0">
              <a:lnSpc>
                <a:spcPct val="115000"/>
              </a:lnSpc>
              <a:buNone/>
            </a:pPr>
            <a:r>
              <a:rPr lang="en-US" sz="1300" dirty="0">
                <a:solidFill>
                  <a:srgbClr val="3C3C3C"/>
                </a:solidFill>
                <a:latin typeface="Calibri" pitchFamily="34" charset="0"/>
                <a:ea typeface="Calibri" pitchFamily="34" charset="-122"/>
                <a:cs typeface="Calibri" pitchFamily="34" charset="-120"/>
              </a:rPr>
              <a:t>we checked every obvious way to spot this group ahead of time using who they are — and none of it works well enough on its own. That's why the next step had to be about what they're actually doing, not who they are.</a:t>
            </a:r>
            <a:endParaRPr lang="en-US" sz="1300" dirty="0"/>
          </a:p>
        </p:txBody>
      </p:sp>
      <p:pic>
        <p:nvPicPr>
          <p:cNvPr id="15"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16" name="Text 12"/>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F4A600"/>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F4A600"/>
                </a:solidFill>
                <a:latin typeface="Calibri" pitchFamily="34" charset="0"/>
                <a:ea typeface="Calibri" pitchFamily="34" charset="-122"/>
                <a:cs typeface="Calibri" pitchFamily="34" charset="-120"/>
              </a:rPr>
              <a:t>THE PIVOT</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When the Original Design Hit a Wall</a:t>
            </a:r>
            <a:endParaRPr lang="en-US" sz="2600" dirty="0"/>
          </a:p>
        </p:txBody>
      </p:sp>
      <p:sp>
        <p:nvSpPr>
          <p:cNvPr id="6"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300" i="1" dirty="0">
                <a:solidFill>
                  <a:srgbClr val="9AA5B1"/>
                </a:solidFill>
                <a:latin typeface="Calibri" pitchFamily="34" charset="0"/>
                <a:ea typeface="Calibri" pitchFamily="34" charset="-122"/>
                <a:cs typeface="Calibri" pitchFamily="34" charset="-120"/>
              </a:rPr>
              <a:t>An honest dead end — and what we built instead</a:t>
            </a:r>
            <a:endParaRPr lang="en-US" sz="1300" dirty="0"/>
          </a:p>
        </p:txBody>
      </p:sp>
      <p:sp>
        <p:nvSpPr>
          <p:cNvPr id="7" name="Shape 4"/>
          <p:cNvSpPr/>
          <p:nvPr/>
        </p:nvSpPr>
        <p:spPr>
          <a:xfrm>
            <a:off x="457200" y="2011680"/>
            <a:ext cx="5440680" cy="3017520"/>
          </a:xfrm>
          <a:prstGeom prst="roundRect">
            <a:avLst>
              <a:gd name="adj" fmla="val 2424"/>
            </a:avLst>
          </a:prstGeom>
          <a:solidFill>
            <a:srgbClr val="F5F8FA"/>
          </a:solidFill>
          <a:ln/>
        </p:spPr>
      </p:sp>
      <p:sp>
        <p:nvSpPr>
          <p:cNvPr id="8" name="Text 5"/>
          <p:cNvSpPr/>
          <p:nvPr/>
        </p:nvSpPr>
        <p:spPr>
          <a:xfrm>
            <a:off x="731520" y="2194560"/>
            <a:ext cx="4937760" cy="32004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The Original Plan</a:t>
            </a:r>
            <a:endParaRPr lang="en-US" sz="1400" dirty="0"/>
          </a:p>
        </p:txBody>
      </p:sp>
      <p:sp>
        <p:nvSpPr>
          <p:cNvPr id="9" name="Text 6"/>
          <p:cNvSpPr/>
          <p:nvPr/>
        </p:nvSpPr>
        <p:spPr>
          <a:xfrm>
            <a:off x="731520" y="2606040"/>
            <a:ext cx="4937760" cy="2286000"/>
          </a:xfrm>
          <a:prstGeom prst="rect">
            <a:avLst/>
          </a:prstGeom>
          <a:noFill/>
          <a:ln/>
        </p:spPr>
        <p:txBody>
          <a:bodyPr wrap="square" lIns="0" tIns="0" rIns="0" bIns="0" rtlCol="0" anchor="t"/>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Compare a customer's current-cycle usage pace against that same customer's own previous cycle. Straightforward — until the real data came back 100% "Current" label, 0% "Previous." Andres confirmed why: the table only keeps each customer's latest bill, by design, due to data volume.</a:t>
            </a:r>
            <a:endParaRPr lang="en-US" sz="1200" dirty="0"/>
          </a:p>
        </p:txBody>
      </p:sp>
      <p:sp>
        <p:nvSpPr>
          <p:cNvPr id="10" name="Shape 7"/>
          <p:cNvSpPr/>
          <p:nvPr/>
        </p:nvSpPr>
        <p:spPr>
          <a:xfrm>
            <a:off x="6263640" y="2011680"/>
            <a:ext cx="5440680" cy="3017520"/>
          </a:xfrm>
          <a:prstGeom prst="roundRect">
            <a:avLst>
              <a:gd name="adj" fmla="val 2424"/>
            </a:avLst>
          </a:prstGeom>
          <a:solidFill>
            <a:srgbClr val="F5F8FA"/>
          </a:solidFill>
          <a:ln/>
        </p:spPr>
      </p:sp>
      <p:sp>
        <p:nvSpPr>
          <p:cNvPr id="11" name="Text 8"/>
          <p:cNvSpPr/>
          <p:nvPr/>
        </p:nvSpPr>
        <p:spPr>
          <a:xfrm>
            <a:off x="6537960" y="2194560"/>
            <a:ext cx="4937760" cy="32004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The Redesign</a:t>
            </a:r>
            <a:endParaRPr lang="en-US" sz="1400" dirty="0"/>
          </a:p>
        </p:txBody>
      </p:sp>
      <p:sp>
        <p:nvSpPr>
          <p:cNvPr id="12" name="Text 9"/>
          <p:cNvSpPr/>
          <p:nvPr/>
        </p:nvSpPr>
        <p:spPr>
          <a:xfrm>
            <a:off x="6537960" y="2606040"/>
            <a:ext cx="4937760" cy="2286000"/>
          </a:xfrm>
          <a:prstGeom prst="rect">
            <a:avLst/>
          </a:prstGeom>
          <a:noFill/>
          <a:ln/>
        </p:spPr>
        <p:txBody>
          <a:bodyPr wrap="square" lIns="0" tIns="0" rIns="0" bIns="0" rtlCol="0" anchor="t"/>
          <a:lstStyle/>
          <a:p>
            <a:pPr indent="0" marL="0">
              <a:lnSpc>
                <a:spcPct val="120000"/>
              </a:lnSpc>
              <a:buNone/>
            </a:pPr>
            <a:r>
              <a:rPr lang="en-US" sz="1200" dirty="0">
                <a:solidFill>
                  <a:srgbClr val="3C3C3C"/>
                </a:solidFill>
                <a:latin typeface="Calibri" pitchFamily="34" charset="0"/>
                <a:ea typeface="Calibri" pitchFamily="34" charset="-122"/>
                <a:cs typeface="Calibri" pitchFamily="34" charset="-120"/>
              </a:rPr>
              <a:t>Instead of comparing to a past cycle, compare early days of the SAME cycle to later days of it. A customer's first 5 days set their own "normal" pace; later days get checked against it. This directly catches mid-cycle usage shifts — exactly what Jonathan asked for, not a downgrade from it.</a:t>
            </a:r>
            <a:endParaRPr lang="en-US" sz="1200" dirty="0"/>
          </a:p>
        </p:txBody>
      </p:sp>
      <p:sp>
        <p:nvSpPr>
          <p:cNvPr id="13" name="Shape 10"/>
          <p:cNvSpPr/>
          <p:nvPr/>
        </p:nvSpPr>
        <p:spPr>
          <a:xfrm>
            <a:off x="457200" y="5257800"/>
            <a:ext cx="11247120" cy="1051560"/>
          </a:xfrm>
          <a:prstGeom prst="roundRect">
            <a:avLst>
              <a:gd name="adj" fmla="val 6957"/>
            </a:avLst>
          </a:prstGeom>
          <a:solidFill>
            <a:srgbClr val="F5F8FA"/>
          </a:solidFill>
          <a:ln/>
        </p:spPr>
      </p:sp>
      <p:sp>
        <p:nvSpPr>
          <p:cNvPr id="14" name="Text 11"/>
          <p:cNvSpPr/>
          <p:nvPr/>
        </p:nvSpPr>
        <p:spPr>
          <a:xfrm>
            <a:off x="731520" y="5440680"/>
            <a:ext cx="10698480" cy="777240"/>
          </a:xfrm>
          <a:prstGeom prst="rect">
            <a:avLst/>
          </a:prstGeom>
          <a:noFill/>
          <a:ln/>
        </p:spPr>
        <p:txBody>
          <a:bodyPr wrap="square" lIns="0" tIns="0" rIns="0" bIns="0" rtlCol="0" anchor="t"/>
          <a:lstStyle/>
          <a:p>
            <a:pPr indent="0" marL="0">
              <a:lnSpc>
                <a:spcPct val="115000"/>
              </a:lnSpc>
              <a:buNone/>
            </a:pPr>
            <a:r>
              <a:rPr lang="en-US" sz="1300" b="1" dirty="0">
                <a:solidFill>
                  <a:srgbClr val="004061"/>
                </a:solidFill>
                <a:latin typeface="Calibri" pitchFamily="34" charset="0"/>
                <a:ea typeface="Calibri" pitchFamily="34" charset="-122"/>
                <a:cs typeface="Calibri" pitchFamily="34" charset="-120"/>
              </a:rPr>
              <a:t>In plain terms: </a:t>
            </a:r>
            <a:pPr indent="0" marL="0">
              <a:lnSpc>
                <a:spcPct val="115000"/>
              </a:lnSpc>
              <a:buNone/>
            </a:pPr>
            <a:r>
              <a:rPr lang="en-US" sz="1300" dirty="0">
                <a:solidFill>
                  <a:srgbClr val="3C3C3C"/>
                </a:solidFill>
                <a:latin typeface="Calibri" pitchFamily="34" charset="0"/>
                <a:ea typeface="Calibri" pitchFamily="34" charset="-122"/>
                <a:cs typeface="Calibri" pitchFamily="34" charset="-120"/>
              </a:rPr>
              <a:t>the data didn't support the first design, so we rebuilt around what it actually could support — and the new version still does what Jonathan asked for, just differently than planned.</a:t>
            </a:r>
            <a:endParaRPr lang="en-US" sz="1300" dirty="0"/>
          </a:p>
        </p:txBody>
      </p:sp>
      <p:pic>
        <p:nvPicPr>
          <p:cNvPr id="15"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16" name="Text 12"/>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005CB9"/>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005CB9"/>
                </a:solidFill>
                <a:latin typeface="Calibri" pitchFamily="34" charset="0"/>
                <a:ea typeface="Calibri" pitchFamily="34" charset="-122"/>
                <a:cs typeface="Calibri" pitchFamily="34" charset="-120"/>
              </a:rPr>
              <a:t>THE TRADEOFF</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Choosing How Early to Check</a:t>
            </a:r>
            <a:endParaRPr lang="en-US" sz="2600" dirty="0"/>
          </a:p>
        </p:txBody>
      </p:sp>
      <p:sp>
        <p:nvSpPr>
          <p:cNvPr id="6"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300" i="1" dirty="0">
                <a:solidFill>
                  <a:srgbClr val="9AA5B1"/>
                </a:solidFill>
                <a:latin typeface="Calibri" pitchFamily="34" charset="0"/>
                <a:ea typeface="Calibri" pitchFamily="34" charset="-122"/>
                <a:cs typeface="Calibri" pitchFamily="34" charset="-120"/>
              </a:rPr>
              <a:t>Checking earlier means less noise but also fewer catches</a:t>
            </a:r>
            <a:endParaRPr lang="en-US" sz="1300" dirty="0"/>
          </a:p>
        </p:txBody>
      </p:sp>
      <p:graphicFrame>
        <p:nvGraphicFramePr>
          <p:cNvPr id="7" name="Chart 0" descr=""/>
          <p:cNvGraphicFramePr/>
          <p:nvPr/>
        </p:nvGraphicFramePr>
        <p:xfrm>
          <a:off x="457200" y="1965960"/>
          <a:ext cx="6858000" cy="420624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7498080" y="1965960"/>
            <a:ext cx="4206240" cy="4206240"/>
          </a:xfrm>
          <a:prstGeom prst="roundRect">
            <a:avLst>
              <a:gd name="adj" fmla="val 1739"/>
            </a:avLst>
          </a:prstGeom>
          <a:solidFill>
            <a:srgbClr val="F5F8FA"/>
          </a:solidFill>
          <a:ln/>
        </p:spPr>
      </p:sp>
      <p:sp>
        <p:nvSpPr>
          <p:cNvPr id="9" name="Text 5"/>
          <p:cNvSpPr/>
          <p:nvPr/>
        </p:nvSpPr>
        <p:spPr>
          <a:xfrm>
            <a:off x="7772400" y="2148840"/>
            <a:ext cx="3657600" cy="320040"/>
          </a:xfrm>
          <a:prstGeom prst="rect">
            <a:avLst/>
          </a:prstGeom>
          <a:noFill/>
          <a:ln/>
        </p:spPr>
        <p:txBody>
          <a:bodyPr wrap="square" lIns="0" tIns="0" rIns="0" bIns="0" rtlCol="0" anchor="ctr"/>
          <a:lstStyle/>
          <a:p>
            <a:pPr indent="0" marL="0">
              <a:buNone/>
            </a:pPr>
            <a:r>
              <a:rPr lang="en-US" sz="1300" b="1" dirty="0">
                <a:solidFill>
                  <a:srgbClr val="004061"/>
                </a:solidFill>
                <a:latin typeface="Calibri" pitchFamily="34" charset="0"/>
                <a:ea typeface="Calibri" pitchFamily="34" charset="-122"/>
                <a:cs typeface="Calibri" pitchFamily="34" charset="-120"/>
              </a:rPr>
              <a:t>What This Means</a:t>
            </a:r>
            <a:endParaRPr lang="en-US" sz="1300" dirty="0"/>
          </a:p>
        </p:txBody>
      </p:sp>
      <p:sp>
        <p:nvSpPr>
          <p:cNvPr id="10" name="Text 6"/>
          <p:cNvSpPr/>
          <p:nvPr/>
        </p:nvSpPr>
        <p:spPr>
          <a:xfrm>
            <a:off x="7772400" y="2560320"/>
            <a:ext cx="3657600" cy="3520440"/>
          </a:xfrm>
          <a:prstGeom prst="rect">
            <a:avLst/>
          </a:prstGeom>
          <a:noFill/>
          <a:ln/>
        </p:spPr>
        <p:txBody>
          <a:bodyPr wrap="square" lIns="0" tIns="0" rIns="0" bIns="0" rtlCol="0" anchor="t"/>
          <a:lstStyle/>
          <a:p>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Day 7 gives the most lead time —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about 40 days on average before the customer actually leaves.
</a:t>
            </a:r>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Catch rate climbs with N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(37% at day 7 up to 45% at day 28) — but each extra week of waiting costs real runway to act.
</a:t>
            </a:r>
            <a:pPr indent="0" marL="0">
              <a:lnSpc>
                <a:spcPct val="120000"/>
              </a:lnSpc>
              <a:buNone/>
            </a:pPr>
            <a:r>
              <a:rPr lang="en-US" sz="1150" b="1" dirty="0">
                <a:solidFill>
                  <a:srgbClr val="3C3C3C"/>
                </a:solidFill>
                <a:latin typeface="Calibri" pitchFamily="34" charset="0"/>
                <a:ea typeface="Calibri" pitchFamily="34" charset="-122"/>
                <a:cs typeface="Calibri" pitchFamily="34" charset="-120"/>
              </a:rPr>
              <a:t>Not a single-answer question — </a:t>
            </a:r>
            <a:pPr indent="0" marL="0">
              <a:lnSpc>
                <a:spcPct val="120000"/>
              </a:lnSpc>
              <a:buNone/>
            </a:pPr>
            <a:r>
              <a:rPr lang="en-US" sz="1150" dirty="0">
                <a:solidFill>
                  <a:srgbClr val="3C3C3C"/>
                </a:solidFill>
                <a:latin typeface="Calibri" pitchFamily="34" charset="0"/>
                <a:ea typeface="Calibri" pitchFamily="34" charset="-122"/>
                <a:cs typeface="Calibri" pitchFamily="34" charset="-120"/>
              </a:rPr>
              <a:t>a genuine tradeoff between catching more people and catching them earlier.</a:t>
            </a:r>
            <a:endParaRPr lang="en-US" sz="1150" dirty="0"/>
          </a:p>
        </p:txBody>
      </p:sp>
      <p:pic>
        <p:nvPicPr>
          <p:cNvPr id="11" name="Image 1" descr="/home/claude/task7_deck/igs_logo.png">    </p:cNvPr>
          <p:cNvPicPr>
            <a:picLocks noChangeAspect="1"/>
          </p:cNvPicPr>
          <p:nvPr/>
        </p:nvPicPr>
        <p:blipFill>
          <a:blip r:embed="rId3"/>
          <a:stretch>
            <a:fillRect/>
          </a:stretch>
        </p:blipFill>
        <p:spPr>
          <a:xfrm>
            <a:off x="11064240" y="320040"/>
            <a:ext cx="566928" cy="146304"/>
          </a:xfrm>
          <a:prstGeom prst="rect">
            <a:avLst/>
          </a:prstGeom>
        </p:spPr>
      </p:pic>
      <p:sp>
        <p:nvSpPr>
          <p:cNvPr id="12" name="Text 7"/>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00BB86"/>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00BB86"/>
                </a:solidFill>
                <a:latin typeface="Calibri" pitchFamily="34" charset="0"/>
                <a:ea typeface="Calibri" pitchFamily="34" charset="-122"/>
                <a:cs typeface="Calibri" pitchFamily="34" charset="-120"/>
              </a:rPr>
              <a:t>THE PROOF</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Does the Flag Actually Tell Switchers Apart?</a:t>
            </a:r>
            <a:endParaRPr lang="en-US" sz="2600" dirty="0"/>
          </a:p>
        </p:txBody>
      </p:sp>
      <p:sp>
        <p:nvSpPr>
          <p:cNvPr id="6" name="Text 3"/>
          <p:cNvSpPr/>
          <p:nvPr/>
        </p:nvSpPr>
        <p:spPr>
          <a:xfrm>
            <a:off x="457200" y="1508760"/>
            <a:ext cx="11247120" cy="365760"/>
          </a:xfrm>
          <a:prstGeom prst="rect">
            <a:avLst/>
          </a:prstGeom>
          <a:noFill/>
          <a:ln/>
        </p:spPr>
        <p:txBody>
          <a:bodyPr wrap="square" lIns="0" tIns="0" rIns="0" bIns="0" rtlCol="0" anchor="ctr"/>
          <a:lstStyle/>
          <a:p>
            <a:pPr indent="0" marL="0">
              <a:buNone/>
            </a:pPr>
            <a:r>
              <a:rPr lang="en-US" sz="1300" i="1" dirty="0">
                <a:solidFill>
                  <a:srgbClr val="9AA5B1"/>
                </a:solidFill>
                <a:latin typeface="Calibri" pitchFamily="34" charset="0"/>
                <a:ea typeface="Calibri" pitchFamily="34" charset="-122"/>
                <a:cs typeface="Calibri" pitchFamily="34" charset="-120"/>
              </a:rPr>
              <a:t>Tested against a real control group of customers who stayed — not just known switchers</a:t>
            </a:r>
            <a:endParaRPr lang="en-US" sz="1300" dirty="0"/>
          </a:p>
        </p:txBody>
      </p:sp>
      <p:graphicFrame>
        <p:nvGraphicFramePr>
          <p:cNvPr id="7" name="Chart 0" descr=""/>
          <p:cNvGraphicFramePr/>
          <p:nvPr/>
        </p:nvGraphicFramePr>
        <p:xfrm>
          <a:off x="457200" y="1965960"/>
          <a:ext cx="11247120" cy="4114800"/>
        </p:xfrm>
        <a:graphic xmlns:a="http://schemas.openxmlformats.org/drawingml/2006/main">
          <a:graphicData uri="http://schemas.openxmlformats.org/drawingml/2006/chart">
            <c:chart xmlns:c="http://schemas.openxmlformats.org/drawingml/2006/chart" r:id="rId2"/>
          </a:graphicData>
        </a:graphic>
      </p:graphicFrame>
      <p:pic>
        <p:nvPicPr>
          <p:cNvPr id="8" name="Image 1" descr="/home/claude/task7_deck/igs_logo.png">    </p:cNvPr>
          <p:cNvPicPr>
            <a:picLocks noChangeAspect="1"/>
          </p:cNvPicPr>
          <p:nvPr/>
        </p:nvPicPr>
        <p:blipFill>
          <a:blip r:embed="rId3"/>
          <a:stretch>
            <a:fillRect/>
          </a:stretch>
        </p:blipFill>
        <p:spPr>
          <a:xfrm>
            <a:off x="11064240" y="320040"/>
            <a:ext cx="566928" cy="146304"/>
          </a:xfrm>
          <a:prstGeom prst="rect">
            <a:avLst/>
          </a:prstGeom>
        </p:spPr>
      </p:pic>
      <p:sp>
        <p:nvSpPr>
          <p:cNvPr id="9" name="Text 4"/>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Shape 0"/>
          <p:cNvSpPr/>
          <p:nvPr/>
        </p:nvSpPr>
        <p:spPr>
          <a:xfrm>
            <a:off x="457200" y="566928"/>
            <a:ext cx="2651760" cy="310896"/>
          </a:xfrm>
          <a:prstGeom prst="roundRect">
            <a:avLst>
              <a:gd name="adj" fmla="val 50000"/>
            </a:avLst>
          </a:prstGeom>
          <a:solidFill>
            <a:srgbClr val="FFFFFF"/>
          </a:solidFill>
          <a:ln w="15875">
            <a:solidFill>
              <a:srgbClr val="F4A600"/>
            </a:solidFill>
            <a:prstDash val="solid"/>
          </a:ln>
        </p:spPr>
      </p:sp>
      <p:sp>
        <p:nvSpPr>
          <p:cNvPr id="4" name="Text 1"/>
          <p:cNvSpPr/>
          <p:nvPr/>
        </p:nvSpPr>
        <p:spPr>
          <a:xfrm>
            <a:off x="457200" y="566928"/>
            <a:ext cx="2651760" cy="310896"/>
          </a:xfrm>
          <a:prstGeom prst="rect">
            <a:avLst/>
          </a:prstGeom>
          <a:noFill/>
          <a:ln/>
        </p:spPr>
        <p:txBody>
          <a:bodyPr wrap="square" lIns="0" tIns="0" rIns="0" bIns="0" rtlCol="0" anchor="ctr"/>
          <a:lstStyle/>
          <a:p>
            <a:pPr algn="ctr" indent="0" marL="0">
              <a:buNone/>
            </a:pPr>
            <a:r>
              <a:rPr lang="en-US" sz="1100" b="1" dirty="0">
                <a:solidFill>
                  <a:srgbClr val="F4A600"/>
                </a:solidFill>
                <a:latin typeface="Calibri" pitchFamily="34" charset="0"/>
                <a:ea typeface="Calibri" pitchFamily="34" charset="-122"/>
                <a:cs typeface="Calibri" pitchFamily="34" charset="-120"/>
              </a:rPr>
              <a:t>THE FINE PRINT</a:t>
            </a:r>
            <a:endParaRPr lang="en-US" sz="1100" dirty="0"/>
          </a:p>
        </p:txBody>
      </p:sp>
      <p:sp>
        <p:nvSpPr>
          <p:cNvPr id="5" name="Text 2"/>
          <p:cNvSpPr/>
          <p:nvPr/>
        </p:nvSpPr>
        <p:spPr>
          <a:xfrm>
            <a:off x="457200" y="960120"/>
            <a:ext cx="11247120" cy="50292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What This Doesn't Prove Yet</a:t>
            </a:r>
            <a:endParaRPr lang="en-US" sz="2600" dirty="0"/>
          </a:p>
        </p:txBody>
      </p:sp>
      <p:sp>
        <p:nvSpPr>
          <p:cNvPr id="6" name="Shape 3"/>
          <p:cNvSpPr/>
          <p:nvPr/>
        </p:nvSpPr>
        <p:spPr>
          <a:xfrm>
            <a:off x="457200" y="1828800"/>
            <a:ext cx="5440680" cy="1417320"/>
          </a:xfrm>
          <a:prstGeom prst="roundRect">
            <a:avLst>
              <a:gd name="adj" fmla="val 5161"/>
            </a:avLst>
          </a:prstGeom>
          <a:solidFill>
            <a:srgbClr val="F5F8FA"/>
          </a:solidFill>
          <a:ln/>
        </p:spPr>
      </p:sp>
      <p:sp>
        <p:nvSpPr>
          <p:cNvPr id="7" name="Shape 4"/>
          <p:cNvSpPr/>
          <p:nvPr/>
        </p:nvSpPr>
        <p:spPr>
          <a:xfrm>
            <a:off x="685800" y="2029968"/>
            <a:ext cx="128016" cy="128016"/>
          </a:xfrm>
          <a:prstGeom prst="ellipse">
            <a:avLst/>
          </a:prstGeom>
          <a:solidFill>
            <a:srgbClr val="F4A600"/>
          </a:solidFill>
          <a:ln/>
        </p:spPr>
      </p:sp>
      <p:sp>
        <p:nvSpPr>
          <p:cNvPr id="8" name="Text 5"/>
          <p:cNvSpPr/>
          <p:nvPr/>
        </p:nvSpPr>
        <p:spPr>
          <a:xfrm>
            <a:off x="914400" y="1938528"/>
            <a:ext cx="4846320" cy="320040"/>
          </a:xfrm>
          <a:prstGeom prst="rect">
            <a:avLst/>
          </a:prstGeom>
          <a:noFill/>
          <a:ln/>
        </p:spPr>
        <p:txBody>
          <a:bodyPr wrap="square" lIns="0" tIns="0" rIns="0" bIns="0" rtlCol="0" anchor="ctr"/>
          <a:lstStyle/>
          <a:p>
            <a:pPr indent="0" marL="0">
              <a:buNone/>
            </a:pPr>
            <a:r>
              <a:rPr lang="en-US" sz="1250" b="1" dirty="0">
                <a:solidFill>
                  <a:srgbClr val="004061"/>
                </a:solidFill>
                <a:latin typeface="Calibri" pitchFamily="34" charset="0"/>
                <a:ea typeface="Calibri" pitchFamily="34" charset="-122"/>
                <a:cs typeface="Calibri" pitchFamily="34" charset="-120"/>
              </a:rPr>
              <a:t>Sample size is real but not huge</a:t>
            </a:r>
            <a:endParaRPr lang="en-US" sz="1250" dirty="0"/>
          </a:p>
        </p:txBody>
      </p:sp>
      <p:sp>
        <p:nvSpPr>
          <p:cNvPr id="9" name="Text 6"/>
          <p:cNvSpPr/>
          <p:nvPr/>
        </p:nvSpPr>
        <p:spPr>
          <a:xfrm>
            <a:off x="914400" y="2286000"/>
            <a:ext cx="4846320" cy="868680"/>
          </a:xfrm>
          <a:prstGeom prst="rect">
            <a:avLst/>
          </a:prstGeom>
          <a:noFill/>
          <a:ln/>
        </p:spPr>
        <p:txBody>
          <a:bodyPr wrap="square" lIns="0" tIns="0" rIns="0" bIns="0" rtlCol="0" anchor="t"/>
          <a:lstStyle/>
          <a:p>
            <a:pPr indent="0" marL="0">
              <a:lnSpc>
                <a:spcPct val="115000"/>
              </a:lnSpc>
              <a:buNone/>
            </a:pPr>
            <a:r>
              <a:rPr lang="en-US" sz="1100" dirty="0">
                <a:solidFill>
                  <a:srgbClr val="3C3C3C"/>
                </a:solidFill>
                <a:latin typeface="Calibri" pitchFamily="34" charset="0"/>
                <a:ea typeface="Calibri" pitchFamily="34" charset="-122"/>
                <a:cs typeface="Calibri" pitchFamily="34" charset="-120"/>
              </a:rPr>
              <a:t>~161–198 customers per check-in day, from a 200-customer sample. Directionally strong, but worth a larger backtest before treating the exact percentages as final.</a:t>
            </a:r>
            <a:endParaRPr lang="en-US" sz="1100" dirty="0"/>
          </a:p>
        </p:txBody>
      </p:sp>
      <p:sp>
        <p:nvSpPr>
          <p:cNvPr id="10" name="Shape 7"/>
          <p:cNvSpPr/>
          <p:nvPr/>
        </p:nvSpPr>
        <p:spPr>
          <a:xfrm>
            <a:off x="6080760" y="1828800"/>
            <a:ext cx="5440680" cy="1417320"/>
          </a:xfrm>
          <a:prstGeom prst="roundRect">
            <a:avLst>
              <a:gd name="adj" fmla="val 5161"/>
            </a:avLst>
          </a:prstGeom>
          <a:solidFill>
            <a:srgbClr val="F5F8FA"/>
          </a:solidFill>
          <a:ln/>
        </p:spPr>
      </p:sp>
      <p:sp>
        <p:nvSpPr>
          <p:cNvPr id="11" name="Shape 8"/>
          <p:cNvSpPr/>
          <p:nvPr/>
        </p:nvSpPr>
        <p:spPr>
          <a:xfrm>
            <a:off x="6309360" y="2029968"/>
            <a:ext cx="128016" cy="128016"/>
          </a:xfrm>
          <a:prstGeom prst="ellipse">
            <a:avLst/>
          </a:prstGeom>
          <a:solidFill>
            <a:srgbClr val="F4A600"/>
          </a:solidFill>
          <a:ln/>
        </p:spPr>
      </p:sp>
      <p:sp>
        <p:nvSpPr>
          <p:cNvPr id="12" name="Text 9"/>
          <p:cNvSpPr/>
          <p:nvPr/>
        </p:nvSpPr>
        <p:spPr>
          <a:xfrm>
            <a:off x="6537960" y="1938528"/>
            <a:ext cx="4846320" cy="320040"/>
          </a:xfrm>
          <a:prstGeom prst="rect">
            <a:avLst/>
          </a:prstGeom>
          <a:noFill/>
          <a:ln/>
        </p:spPr>
        <p:txBody>
          <a:bodyPr wrap="square" lIns="0" tIns="0" rIns="0" bIns="0" rtlCol="0" anchor="ctr"/>
          <a:lstStyle/>
          <a:p>
            <a:pPr indent="0" marL="0">
              <a:buNone/>
            </a:pPr>
            <a:r>
              <a:rPr lang="en-US" sz="1250" b="1" dirty="0">
                <a:solidFill>
                  <a:srgbClr val="004061"/>
                </a:solidFill>
                <a:latin typeface="Calibri" pitchFamily="34" charset="0"/>
                <a:ea typeface="Calibri" pitchFamily="34" charset="-122"/>
                <a:cs typeface="Calibri" pitchFamily="34" charset="-120"/>
              </a:rPr>
              <a:t>The baseline window is short</a:t>
            </a:r>
            <a:endParaRPr lang="en-US" sz="1250" dirty="0"/>
          </a:p>
        </p:txBody>
      </p:sp>
      <p:sp>
        <p:nvSpPr>
          <p:cNvPr id="13" name="Text 10"/>
          <p:cNvSpPr/>
          <p:nvPr/>
        </p:nvSpPr>
        <p:spPr>
          <a:xfrm>
            <a:off x="6537960" y="2286000"/>
            <a:ext cx="4846320" cy="868680"/>
          </a:xfrm>
          <a:prstGeom prst="rect">
            <a:avLst/>
          </a:prstGeom>
          <a:noFill/>
          <a:ln/>
        </p:spPr>
        <p:txBody>
          <a:bodyPr wrap="square" lIns="0" tIns="0" rIns="0" bIns="0" rtlCol="0" anchor="t"/>
          <a:lstStyle/>
          <a:p>
            <a:pPr indent="0" marL="0">
              <a:lnSpc>
                <a:spcPct val="115000"/>
              </a:lnSpc>
              <a:buNone/>
            </a:pPr>
            <a:r>
              <a:rPr lang="en-US" sz="1100" dirty="0">
                <a:solidFill>
                  <a:srgbClr val="3C3C3C"/>
                </a:solidFill>
                <a:latin typeface="Calibri" pitchFamily="34" charset="0"/>
                <a:ea typeface="Calibri" pitchFamily="34" charset="-122"/>
                <a:cs typeface="Calibri" pitchFamily="34" charset="-120"/>
              </a:rPr>
              <a:t>5 days sets each customer's "normal" pace. That's enough to work, but it's itself only 5 data points — worth testing whether 7 or 10 days gives a steadier baseline.</a:t>
            </a:r>
            <a:endParaRPr lang="en-US" sz="1100" dirty="0"/>
          </a:p>
        </p:txBody>
      </p:sp>
      <p:sp>
        <p:nvSpPr>
          <p:cNvPr id="14" name="Shape 11"/>
          <p:cNvSpPr/>
          <p:nvPr/>
        </p:nvSpPr>
        <p:spPr>
          <a:xfrm>
            <a:off x="457200" y="3429000"/>
            <a:ext cx="5440680" cy="1417320"/>
          </a:xfrm>
          <a:prstGeom prst="roundRect">
            <a:avLst>
              <a:gd name="adj" fmla="val 5161"/>
            </a:avLst>
          </a:prstGeom>
          <a:solidFill>
            <a:srgbClr val="F5F8FA"/>
          </a:solidFill>
          <a:ln/>
        </p:spPr>
      </p:sp>
      <p:sp>
        <p:nvSpPr>
          <p:cNvPr id="15" name="Shape 12"/>
          <p:cNvSpPr/>
          <p:nvPr/>
        </p:nvSpPr>
        <p:spPr>
          <a:xfrm>
            <a:off x="685800" y="3630168"/>
            <a:ext cx="128016" cy="128016"/>
          </a:xfrm>
          <a:prstGeom prst="ellipse">
            <a:avLst/>
          </a:prstGeom>
          <a:solidFill>
            <a:srgbClr val="F4A600"/>
          </a:solidFill>
          <a:ln/>
        </p:spPr>
      </p:sp>
      <p:sp>
        <p:nvSpPr>
          <p:cNvPr id="16" name="Text 13"/>
          <p:cNvSpPr/>
          <p:nvPr/>
        </p:nvSpPr>
        <p:spPr>
          <a:xfrm>
            <a:off x="914400" y="3538728"/>
            <a:ext cx="4846320" cy="320040"/>
          </a:xfrm>
          <a:prstGeom prst="rect">
            <a:avLst/>
          </a:prstGeom>
          <a:noFill/>
          <a:ln/>
        </p:spPr>
        <p:txBody>
          <a:bodyPr wrap="square" lIns="0" tIns="0" rIns="0" bIns="0" rtlCol="0" anchor="ctr"/>
          <a:lstStyle/>
          <a:p>
            <a:pPr indent="0" marL="0">
              <a:buNone/>
            </a:pPr>
            <a:r>
              <a:rPr lang="en-US" sz="1250" b="1" dirty="0">
                <a:solidFill>
                  <a:srgbClr val="004061"/>
                </a:solidFill>
                <a:latin typeface="Calibri" pitchFamily="34" charset="0"/>
                <a:ea typeface="Calibri" pitchFamily="34" charset="-122"/>
                <a:cs typeface="Calibri" pitchFamily="34" charset="-120"/>
              </a:rPr>
              <a:t>This can only ever be daily-refreshed, not real-time</a:t>
            </a:r>
            <a:endParaRPr lang="en-US" sz="1250" dirty="0"/>
          </a:p>
        </p:txBody>
      </p:sp>
      <p:sp>
        <p:nvSpPr>
          <p:cNvPr id="17" name="Text 14"/>
          <p:cNvSpPr/>
          <p:nvPr/>
        </p:nvSpPr>
        <p:spPr>
          <a:xfrm>
            <a:off x="914400" y="3886200"/>
            <a:ext cx="4846320" cy="868680"/>
          </a:xfrm>
          <a:prstGeom prst="rect">
            <a:avLst/>
          </a:prstGeom>
          <a:noFill/>
          <a:ln/>
        </p:spPr>
        <p:txBody>
          <a:bodyPr wrap="square" lIns="0" tIns="0" rIns="0" bIns="0" rtlCol="0" anchor="t"/>
          <a:lstStyle/>
          <a:p>
            <a:pPr indent="0" marL="0">
              <a:lnSpc>
                <a:spcPct val="115000"/>
              </a:lnSpc>
              <a:buNone/>
            </a:pPr>
            <a:r>
              <a:rPr lang="en-US" sz="1100" dirty="0">
                <a:solidFill>
                  <a:srgbClr val="3C3C3C"/>
                </a:solidFill>
                <a:latin typeface="Calibri" pitchFamily="34" charset="0"/>
                <a:ea typeface="Calibri" pitchFamily="34" charset="-122"/>
                <a:cs typeface="Calibri" pitchFamily="34" charset="-120"/>
              </a:rPr>
              <a:t>BAT_SMT data is current as of yesterday, not live. A same-day alert would need a separate real-time layer built on top.</a:t>
            </a:r>
            <a:endParaRPr lang="en-US" sz="1100" dirty="0"/>
          </a:p>
        </p:txBody>
      </p:sp>
      <p:sp>
        <p:nvSpPr>
          <p:cNvPr id="18" name="Shape 15"/>
          <p:cNvSpPr/>
          <p:nvPr/>
        </p:nvSpPr>
        <p:spPr>
          <a:xfrm>
            <a:off x="6080760" y="3429000"/>
            <a:ext cx="5440680" cy="1417320"/>
          </a:xfrm>
          <a:prstGeom prst="roundRect">
            <a:avLst>
              <a:gd name="adj" fmla="val 5161"/>
            </a:avLst>
          </a:prstGeom>
          <a:solidFill>
            <a:srgbClr val="F5F8FA"/>
          </a:solidFill>
          <a:ln/>
        </p:spPr>
      </p:sp>
      <p:sp>
        <p:nvSpPr>
          <p:cNvPr id="19" name="Shape 16"/>
          <p:cNvSpPr/>
          <p:nvPr/>
        </p:nvSpPr>
        <p:spPr>
          <a:xfrm>
            <a:off x="6309360" y="3630168"/>
            <a:ext cx="128016" cy="128016"/>
          </a:xfrm>
          <a:prstGeom prst="ellipse">
            <a:avLst/>
          </a:prstGeom>
          <a:solidFill>
            <a:srgbClr val="F4A600"/>
          </a:solidFill>
          <a:ln/>
        </p:spPr>
      </p:sp>
      <p:sp>
        <p:nvSpPr>
          <p:cNvPr id="20" name="Text 17"/>
          <p:cNvSpPr/>
          <p:nvPr/>
        </p:nvSpPr>
        <p:spPr>
          <a:xfrm>
            <a:off x="6537960" y="3538728"/>
            <a:ext cx="4846320" cy="320040"/>
          </a:xfrm>
          <a:prstGeom prst="rect">
            <a:avLst/>
          </a:prstGeom>
          <a:noFill/>
          <a:ln/>
        </p:spPr>
        <p:txBody>
          <a:bodyPr wrap="square" lIns="0" tIns="0" rIns="0" bIns="0" rtlCol="0" anchor="ctr"/>
          <a:lstStyle/>
          <a:p>
            <a:pPr indent="0" marL="0">
              <a:buNone/>
            </a:pPr>
            <a:r>
              <a:rPr lang="en-US" sz="1250" b="1" dirty="0">
                <a:solidFill>
                  <a:srgbClr val="004061"/>
                </a:solidFill>
                <a:latin typeface="Calibri" pitchFamily="34" charset="0"/>
                <a:ea typeface="Calibri" pitchFamily="34" charset="-122"/>
                <a:cs typeface="Calibri" pitchFamily="34" charset="-120"/>
              </a:rPr>
              <a:t>Live deployment scope still needs confirming</a:t>
            </a:r>
            <a:endParaRPr lang="en-US" sz="1250" dirty="0"/>
          </a:p>
        </p:txBody>
      </p:sp>
      <p:sp>
        <p:nvSpPr>
          <p:cNvPr id="21" name="Text 18"/>
          <p:cNvSpPr/>
          <p:nvPr/>
        </p:nvSpPr>
        <p:spPr>
          <a:xfrm>
            <a:off x="6537960" y="3886200"/>
            <a:ext cx="4846320" cy="868680"/>
          </a:xfrm>
          <a:prstGeom prst="rect">
            <a:avLst/>
          </a:prstGeom>
          <a:noFill/>
          <a:ln/>
        </p:spPr>
        <p:txBody>
          <a:bodyPr wrap="square" lIns="0" tIns="0" rIns="0" bIns="0" rtlCol="0" anchor="t"/>
          <a:lstStyle/>
          <a:p>
            <a:pPr indent="0" marL="0">
              <a:lnSpc>
                <a:spcPct val="115000"/>
              </a:lnSpc>
              <a:buNone/>
            </a:pPr>
            <a:r>
              <a:rPr lang="en-US" sz="1100" dirty="0">
                <a:solidFill>
                  <a:srgbClr val="3C3C3C"/>
                </a:solidFill>
                <a:latin typeface="Calibri" pitchFamily="34" charset="0"/>
                <a:ea typeface="Calibri" pitchFamily="34" charset="-122"/>
                <a:cs typeface="Calibri" pitchFamily="34" charset="-120"/>
              </a:rPr>
              <a:t>Andres confirmed BAT_SMT covers active customers and customers going to final — good news for a live alert — but production scoring hasn't been scoped yet.</a:t>
            </a:r>
            <a:endParaRPr lang="en-US" sz="1100" dirty="0"/>
          </a:p>
        </p:txBody>
      </p:sp>
      <p:pic>
        <p:nvPicPr>
          <p:cNvPr id="22"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23" name="Text 19"/>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Text 0"/>
          <p:cNvSpPr/>
          <p:nvPr/>
        </p:nvSpPr>
        <p:spPr>
          <a:xfrm>
            <a:off x="457200" y="594360"/>
            <a:ext cx="7315200" cy="45720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Key Findings</a:t>
            </a:r>
            <a:endParaRPr lang="en-US" sz="2600" dirty="0"/>
          </a:p>
        </p:txBody>
      </p:sp>
      <p:sp>
        <p:nvSpPr>
          <p:cNvPr id="4" name="Shape 1"/>
          <p:cNvSpPr/>
          <p:nvPr/>
        </p:nvSpPr>
        <p:spPr>
          <a:xfrm>
            <a:off x="457200" y="1325880"/>
            <a:ext cx="11247120" cy="1051560"/>
          </a:xfrm>
          <a:prstGeom prst="roundRect">
            <a:avLst>
              <a:gd name="adj" fmla="val 6957"/>
            </a:avLst>
          </a:prstGeom>
          <a:solidFill>
            <a:srgbClr val="F5F8FA"/>
          </a:solidFill>
          <a:ln/>
        </p:spPr>
      </p:sp>
      <p:sp>
        <p:nvSpPr>
          <p:cNvPr id="5" name="Shape 2"/>
          <p:cNvSpPr/>
          <p:nvPr/>
        </p:nvSpPr>
        <p:spPr>
          <a:xfrm>
            <a:off x="731520" y="1527048"/>
            <a:ext cx="128016" cy="128016"/>
          </a:xfrm>
          <a:prstGeom prst="ellipse">
            <a:avLst/>
          </a:prstGeom>
          <a:solidFill>
            <a:srgbClr val="005CB9"/>
          </a:solidFill>
          <a:ln/>
        </p:spPr>
      </p:sp>
      <p:sp>
        <p:nvSpPr>
          <p:cNvPr id="6" name="Text 3"/>
          <p:cNvSpPr/>
          <p:nvPr/>
        </p:nvSpPr>
        <p:spPr>
          <a:xfrm>
            <a:off x="960120" y="1417320"/>
            <a:ext cx="10424160" cy="320040"/>
          </a:xfrm>
          <a:prstGeom prst="rect">
            <a:avLst/>
          </a:prstGeom>
          <a:noFill/>
          <a:ln/>
        </p:spPr>
        <p:txBody>
          <a:bodyPr wrap="square" lIns="0" tIns="0" rIns="0" bIns="0"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No demographic shortcut exists for this segment</a:t>
            </a:r>
            <a:endParaRPr lang="en-US" sz="1350" dirty="0"/>
          </a:p>
        </p:txBody>
      </p:sp>
      <p:sp>
        <p:nvSpPr>
          <p:cNvPr id="7" name="Text 4"/>
          <p:cNvSpPr/>
          <p:nvPr/>
        </p:nvSpPr>
        <p:spPr>
          <a:xfrm>
            <a:off x="960120" y="1764792"/>
            <a:ext cx="10424160" cy="54864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Tenure, credit score, enrollment type, brand, and utility all checked — none concentrate the segment enough to target on their own.</a:t>
            </a:r>
            <a:endParaRPr lang="en-US" sz="1150" dirty="0"/>
          </a:p>
        </p:txBody>
      </p:sp>
      <p:sp>
        <p:nvSpPr>
          <p:cNvPr id="8" name="Shape 5"/>
          <p:cNvSpPr/>
          <p:nvPr/>
        </p:nvSpPr>
        <p:spPr>
          <a:xfrm>
            <a:off x="457200" y="2514600"/>
            <a:ext cx="11247120" cy="1051560"/>
          </a:xfrm>
          <a:prstGeom prst="roundRect">
            <a:avLst>
              <a:gd name="adj" fmla="val 6957"/>
            </a:avLst>
          </a:prstGeom>
          <a:solidFill>
            <a:srgbClr val="F5F8FA"/>
          </a:solidFill>
          <a:ln/>
        </p:spPr>
      </p:sp>
      <p:sp>
        <p:nvSpPr>
          <p:cNvPr id="9" name="Shape 6"/>
          <p:cNvSpPr/>
          <p:nvPr/>
        </p:nvSpPr>
        <p:spPr>
          <a:xfrm>
            <a:off x="731520" y="2715768"/>
            <a:ext cx="128016" cy="128016"/>
          </a:xfrm>
          <a:prstGeom prst="ellipse">
            <a:avLst/>
          </a:prstGeom>
          <a:solidFill>
            <a:srgbClr val="00BB86"/>
          </a:solidFill>
          <a:ln/>
        </p:spPr>
      </p:sp>
      <p:sp>
        <p:nvSpPr>
          <p:cNvPr id="10" name="Text 7"/>
          <p:cNvSpPr/>
          <p:nvPr/>
        </p:nvSpPr>
        <p:spPr>
          <a:xfrm>
            <a:off x="960120" y="2606040"/>
            <a:ext cx="10424160" cy="320040"/>
          </a:xfrm>
          <a:prstGeom prst="rect">
            <a:avLst/>
          </a:prstGeom>
          <a:noFill/>
          <a:ln/>
        </p:spPr>
        <p:txBody>
          <a:bodyPr wrap="square" lIns="0" tIns="0" rIns="0" bIns="0"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BAT_SMT gives us real, validated usage data — with one hard limit</a:t>
            </a:r>
            <a:endParaRPr lang="en-US" sz="1350" dirty="0"/>
          </a:p>
        </p:txBody>
      </p:sp>
      <p:sp>
        <p:nvSpPr>
          <p:cNvPr id="11" name="Text 8"/>
          <p:cNvSpPr/>
          <p:nvPr/>
        </p:nvSpPr>
        <p:spPr>
          <a:xfrm>
            <a:off x="960120" y="2953512"/>
            <a:ext cx="10424160" cy="54864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Daily/hourly usage tied to billing cycle, confirmed daily (not cumulative) and covering active customers — but only the latest bill per customer, by design.</a:t>
            </a:r>
            <a:endParaRPr lang="en-US" sz="1150" dirty="0"/>
          </a:p>
        </p:txBody>
      </p:sp>
      <p:sp>
        <p:nvSpPr>
          <p:cNvPr id="12" name="Shape 9"/>
          <p:cNvSpPr/>
          <p:nvPr/>
        </p:nvSpPr>
        <p:spPr>
          <a:xfrm>
            <a:off x="457200" y="3703320"/>
            <a:ext cx="11247120" cy="1051560"/>
          </a:xfrm>
          <a:prstGeom prst="roundRect">
            <a:avLst>
              <a:gd name="adj" fmla="val 6957"/>
            </a:avLst>
          </a:prstGeom>
          <a:solidFill>
            <a:srgbClr val="F5F8FA"/>
          </a:solidFill>
          <a:ln/>
        </p:spPr>
      </p:sp>
      <p:sp>
        <p:nvSpPr>
          <p:cNvPr id="13" name="Shape 10"/>
          <p:cNvSpPr/>
          <p:nvPr/>
        </p:nvSpPr>
        <p:spPr>
          <a:xfrm>
            <a:off x="731520" y="3904488"/>
            <a:ext cx="128016" cy="128016"/>
          </a:xfrm>
          <a:prstGeom prst="ellipse">
            <a:avLst/>
          </a:prstGeom>
          <a:solidFill>
            <a:srgbClr val="F4A600"/>
          </a:solidFill>
          <a:ln/>
        </p:spPr>
      </p:sp>
      <p:sp>
        <p:nvSpPr>
          <p:cNvPr id="14" name="Text 11"/>
          <p:cNvSpPr/>
          <p:nvPr/>
        </p:nvSpPr>
        <p:spPr>
          <a:xfrm>
            <a:off x="960120" y="3794760"/>
            <a:ext cx="10424160" cy="320040"/>
          </a:xfrm>
          <a:prstGeom prst="rect">
            <a:avLst/>
          </a:prstGeom>
          <a:noFill/>
          <a:ln/>
        </p:spPr>
        <p:txBody>
          <a:bodyPr wrap="square" lIns="0" tIns="0" rIns="0" bIns="0"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The redesigned flag logic separates switchers from stayers clearly</a:t>
            </a:r>
            <a:endParaRPr lang="en-US" sz="1350" dirty="0"/>
          </a:p>
        </p:txBody>
      </p:sp>
      <p:sp>
        <p:nvSpPr>
          <p:cNvPr id="15" name="Text 12"/>
          <p:cNvSpPr/>
          <p:nvPr/>
        </p:nvSpPr>
        <p:spPr>
          <a:xfrm>
            <a:off x="960120" y="4142232"/>
            <a:ext cx="10424160" cy="54864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A 35+ point gap between switcher and control flag rates at every check-in day tested — this isn't noise, it's a real signal.</a:t>
            </a:r>
            <a:endParaRPr lang="en-US" sz="1150" dirty="0"/>
          </a:p>
        </p:txBody>
      </p:sp>
      <p:sp>
        <p:nvSpPr>
          <p:cNvPr id="16" name="Shape 13"/>
          <p:cNvSpPr/>
          <p:nvPr/>
        </p:nvSpPr>
        <p:spPr>
          <a:xfrm>
            <a:off x="457200" y="4892040"/>
            <a:ext cx="11247120" cy="1051560"/>
          </a:xfrm>
          <a:prstGeom prst="roundRect">
            <a:avLst>
              <a:gd name="adj" fmla="val 6957"/>
            </a:avLst>
          </a:prstGeom>
          <a:solidFill>
            <a:srgbClr val="F5F8FA"/>
          </a:solidFill>
          <a:ln/>
        </p:spPr>
      </p:sp>
      <p:sp>
        <p:nvSpPr>
          <p:cNvPr id="17" name="Shape 14"/>
          <p:cNvSpPr/>
          <p:nvPr/>
        </p:nvSpPr>
        <p:spPr>
          <a:xfrm>
            <a:off x="731520" y="5093208"/>
            <a:ext cx="128016" cy="128016"/>
          </a:xfrm>
          <a:prstGeom prst="ellipse">
            <a:avLst/>
          </a:prstGeom>
          <a:solidFill>
            <a:srgbClr val="00B9B3"/>
          </a:solidFill>
          <a:ln/>
        </p:spPr>
      </p:sp>
      <p:sp>
        <p:nvSpPr>
          <p:cNvPr id="18" name="Text 15"/>
          <p:cNvSpPr/>
          <p:nvPr/>
        </p:nvSpPr>
        <p:spPr>
          <a:xfrm>
            <a:off x="960120" y="4983480"/>
            <a:ext cx="10424160" cy="320040"/>
          </a:xfrm>
          <a:prstGeom prst="rect">
            <a:avLst/>
          </a:prstGeom>
          <a:noFill/>
          <a:ln/>
        </p:spPr>
        <p:txBody>
          <a:bodyPr wrap="square" lIns="0" tIns="0" rIns="0" bIns="0" rtlCol="0" anchor="ctr"/>
          <a:lstStyle/>
          <a:p>
            <a:pPr indent="0" marL="0">
              <a:buNone/>
            </a:pPr>
            <a:r>
              <a:rPr lang="en-US" sz="1350" b="1" dirty="0">
                <a:solidFill>
                  <a:srgbClr val="004061"/>
                </a:solidFill>
                <a:latin typeface="Calibri" pitchFamily="34" charset="0"/>
                <a:ea typeface="Calibri" pitchFamily="34" charset="-122"/>
                <a:cs typeface="Calibri" pitchFamily="34" charset="-120"/>
              </a:rPr>
              <a:t>Day 7 offers the best early-warning tradeoff</a:t>
            </a:r>
            <a:endParaRPr lang="en-US" sz="1350" dirty="0"/>
          </a:p>
        </p:txBody>
      </p:sp>
      <p:sp>
        <p:nvSpPr>
          <p:cNvPr id="19" name="Text 16"/>
          <p:cNvSpPr/>
          <p:nvPr/>
        </p:nvSpPr>
        <p:spPr>
          <a:xfrm>
            <a:off x="960120" y="5330952"/>
            <a:ext cx="10424160" cy="548640"/>
          </a:xfrm>
          <a:prstGeom prst="rect">
            <a:avLst/>
          </a:prstGeom>
          <a:noFill/>
          <a:ln/>
        </p:spPr>
        <p:txBody>
          <a:bodyPr wrap="square" lIns="0" tIns="0" rIns="0" bIns="0" rtlCol="0" anchor="t"/>
          <a:lstStyle/>
          <a:p>
            <a:pPr indent="0" marL="0">
              <a:lnSpc>
                <a:spcPct val="110000"/>
              </a:lnSpc>
              <a:buNone/>
            </a:pPr>
            <a:r>
              <a:rPr lang="en-US" sz="1150" dirty="0">
                <a:solidFill>
                  <a:srgbClr val="3C3C3C"/>
                </a:solidFill>
                <a:latin typeface="Calibri" pitchFamily="34" charset="0"/>
                <a:ea typeface="Calibri" pitchFamily="34" charset="-122"/>
                <a:cs typeface="Calibri" pitchFamily="34" charset="-120"/>
              </a:rPr>
              <a:t>~37% catch rate with a 0% false-positive rate and ~40 days of average lead time — though catch rate keeps climbing through day 28 if caught later.</a:t>
            </a:r>
            <a:endParaRPr lang="en-US" sz="1150" dirty="0"/>
          </a:p>
        </p:txBody>
      </p:sp>
      <p:pic>
        <p:nvPicPr>
          <p:cNvPr id="20"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21" name="Text 17"/>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Text 0"/>
          <p:cNvSpPr/>
          <p:nvPr/>
        </p:nvSpPr>
        <p:spPr>
          <a:xfrm>
            <a:off x="457200" y="594360"/>
            <a:ext cx="9144000" cy="457200"/>
          </a:xfrm>
          <a:prstGeom prst="rect">
            <a:avLst/>
          </a:prstGeom>
          <a:noFill/>
          <a:ln/>
        </p:spPr>
        <p:txBody>
          <a:bodyPr wrap="square" lIns="0" tIns="0" rIns="0" bIns="0"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Questions for Jonathan</a:t>
            </a:r>
            <a:endParaRPr lang="en-US" sz="2600" dirty="0"/>
          </a:p>
        </p:txBody>
      </p:sp>
      <p:sp>
        <p:nvSpPr>
          <p:cNvPr id="4" name="Text 1"/>
          <p:cNvSpPr/>
          <p:nvPr/>
        </p:nvSpPr>
        <p:spPr>
          <a:xfrm>
            <a:off x="457200" y="1371600"/>
            <a:ext cx="112471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1. Should the trigger be a single check-in day, or a rolling check through day 28?</a:t>
            </a:r>
            <a:endParaRPr lang="en-US" sz="1400" dirty="0"/>
          </a:p>
        </p:txBody>
      </p:sp>
      <p:sp>
        <p:nvSpPr>
          <p:cNvPr id="5" name="Text 2"/>
          <p:cNvSpPr/>
          <p:nvPr/>
        </p:nvSpPr>
        <p:spPr>
          <a:xfrm>
            <a:off x="457200" y="1737360"/>
            <a:ext cx="11247120" cy="685800"/>
          </a:xfrm>
          <a:prstGeom prst="rect">
            <a:avLst/>
          </a:prstGeom>
          <a:noFill/>
          <a:ln/>
        </p:spPr>
        <p:txBody>
          <a:bodyPr wrap="square" lIns="0" tIns="0" rIns="0" bIns="0" rtlCol="0" anchor="t"/>
          <a:lstStyle/>
          <a:p>
            <a:pPr indent="0" marL="0">
              <a:lnSpc>
                <a:spcPct val="115000"/>
              </a:lnSpc>
              <a:buNone/>
            </a:pPr>
            <a:r>
              <a:rPr lang="en-US" sz="1200" dirty="0">
                <a:solidFill>
                  <a:srgbClr val="3C3C3C"/>
                </a:solidFill>
                <a:latin typeface="Calibri" pitchFamily="34" charset="0"/>
                <a:ea typeface="Calibri" pitchFamily="34" charset="-122"/>
                <a:cs typeface="Calibri" pitchFamily="34" charset="-120"/>
              </a:rPr>
              <a:t>You wanted a rolling design, not a single snapshot. Our results support checking starting day 7 and continuing through day 28 — is that the right scope?</a:t>
            </a:r>
            <a:endParaRPr lang="en-US" sz="1200" dirty="0"/>
          </a:p>
        </p:txBody>
      </p:sp>
      <p:sp>
        <p:nvSpPr>
          <p:cNvPr id="6" name="Text 3"/>
          <p:cNvSpPr/>
          <p:nvPr/>
        </p:nvSpPr>
        <p:spPr>
          <a:xfrm>
            <a:off x="457200" y="2606040"/>
            <a:ext cx="112471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2. Is the 30% over-baseline threshold the right cutoff?</a:t>
            </a:r>
            <a:endParaRPr lang="en-US" sz="1400" dirty="0"/>
          </a:p>
        </p:txBody>
      </p:sp>
      <p:sp>
        <p:nvSpPr>
          <p:cNvPr id="7" name="Text 4"/>
          <p:cNvSpPr/>
          <p:nvPr/>
        </p:nvSpPr>
        <p:spPr>
          <a:xfrm>
            <a:off x="457200" y="2971800"/>
            <a:ext cx="11247120" cy="685800"/>
          </a:xfrm>
          <a:prstGeom prst="rect">
            <a:avLst/>
          </a:prstGeom>
          <a:noFill/>
          <a:ln/>
        </p:spPr>
        <p:txBody>
          <a:bodyPr wrap="square" lIns="0" tIns="0" rIns="0" bIns="0" rtlCol="0" anchor="t"/>
          <a:lstStyle/>
          <a:p>
            <a:pPr indent="0" marL="0">
              <a:lnSpc>
                <a:spcPct val="115000"/>
              </a:lnSpc>
              <a:buNone/>
            </a:pPr>
            <a:r>
              <a:rPr lang="en-US" sz="1200" dirty="0">
                <a:solidFill>
                  <a:srgbClr val="3C3C3C"/>
                </a:solidFill>
                <a:latin typeface="Calibri" pitchFamily="34" charset="0"/>
                <a:ea typeface="Calibri" pitchFamily="34" charset="-122"/>
                <a:cs typeface="Calibri" pitchFamily="34" charset="-120"/>
              </a:rPr>
              <a:t>We matched it to the existing Task 3 usage-alert threshold for consistency. Worth testing other cutoffs, or is 30% the right starting point?</a:t>
            </a:r>
            <a:endParaRPr lang="en-US" sz="1200" dirty="0"/>
          </a:p>
        </p:txBody>
      </p:sp>
      <p:sp>
        <p:nvSpPr>
          <p:cNvPr id="8" name="Text 5"/>
          <p:cNvSpPr/>
          <p:nvPr/>
        </p:nvSpPr>
        <p:spPr>
          <a:xfrm>
            <a:off x="457200" y="3840480"/>
            <a:ext cx="112471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3. Should we scope a larger backtest before this goes further?</a:t>
            </a:r>
            <a:endParaRPr lang="en-US" sz="1400" dirty="0"/>
          </a:p>
        </p:txBody>
      </p:sp>
      <p:sp>
        <p:nvSpPr>
          <p:cNvPr id="9" name="Text 6"/>
          <p:cNvSpPr/>
          <p:nvPr/>
        </p:nvSpPr>
        <p:spPr>
          <a:xfrm>
            <a:off x="457200" y="4206240"/>
            <a:ext cx="11247120" cy="685800"/>
          </a:xfrm>
          <a:prstGeom prst="rect">
            <a:avLst/>
          </a:prstGeom>
          <a:noFill/>
          <a:ln/>
        </p:spPr>
        <p:txBody>
          <a:bodyPr wrap="square" lIns="0" tIns="0" rIns="0" bIns="0" rtlCol="0" anchor="t"/>
          <a:lstStyle/>
          <a:p>
            <a:pPr indent="0" marL="0">
              <a:lnSpc>
                <a:spcPct val="115000"/>
              </a:lnSpc>
              <a:buNone/>
            </a:pPr>
            <a:r>
              <a:rPr lang="en-US" sz="1200" dirty="0">
                <a:solidFill>
                  <a:srgbClr val="3C3C3C"/>
                </a:solidFill>
                <a:latin typeface="Calibri" pitchFamily="34" charset="0"/>
                <a:ea typeface="Calibri" pitchFamily="34" charset="-122"/>
                <a:cs typeface="Calibri" pitchFamily="34" charset="-120"/>
              </a:rPr>
              <a:t>Current results are from ~200 customers. A bigger sample would tighten the confidence on these exact percentages.</a:t>
            </a:r>
            <a:endParaRPr lang="en-US" sz="1200" dirty="0"/>
          </a:p>
        </p:txBody>
      </p:sp>
      <p:sp>
        <p:nvSpPr>
          <p:cNvPr id="10" name="Text 7"/>
          <p:cNvSpPr/>
          <p:nvPr/>
        </p:nvSpPr>
        <p:spPr>
          <a:xfrm>
            <a:off x="457200" y="5074920"/>
            <a:ext cx="11247120" cy="365760"/>
          </a:xfrm>
          <a:prstGeom prst="rect">
            <a:avLst/>
          </a:prstGeom>
          <a:noFill/>
          <a:ln/>
        </p:spPr>
        <p:txBody>
          <a:bodyPr wrap="square" lIns="0" tIns="0" rIns="0" bIns="0"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4. Does this move toward a live alert, or stay backtesting for now?</a:t>
            </a:r>
            <a:endParaRPr lang="en-US" sz="1400" dirty="0"/>
          </a:p>
        </p:txBody>
      </p:sp>
      <p:sp>
        <p:nvSpPr>
          <p:cNvPr id="11" name="Text 8"/>
          <p:cNvSpPr/>
          <p:nvPr/>
        </p:nvSpPr>
        <p:spPr>
          <a:xfrm>
            <a:off x="457200" y="5440680"/>
            <a:ext cx="11247120" cy="685800"/>
          </a:xfrm>
          <a:prstGeom prst="rect">
            <a:avLst/>
          </a:prstGeom>
          <a:noFill/>
          <a:ln/>
        </p:spPr>
        <p:txBody>
          <a:bodyPr wrap="square" lIns="0" tIns="0" rIns="0" bIns="0" rtlCol="0" anchor="t"/>
          <a:lstStyle/>
          <a:p>
            <a:pPr indent="0" marL="0">
              <a:lnSpc>
                <a:spcPct val="115000"/>
              </a:lnSpc>
              <a:buNone/>
            </a:pPr>
            <a:r>
              <a:rPr lang="en-US" sz="1200" dirty="0">
                <a:solidFill>
                  <a:srgbClr val="3C3C3C"/>
                </a:solidFill>
                <a:latin typeface="Calibri" pitchFamily="34" charset="0"/>
                <a:ea typeface="Calibri" pitchFamily="34" charset="-122"/>
                <a:cs typeface="Calibri" pitchFamily="34" charset="-120"/>
              </a:rPr>
              <a:t>BAT_SMT does cover active customers, so a live version is technically possible — but production scoring hasn't been scoped or resourced yet.</a:t>
            </a:r>
            <a:endParaRPr lang="en-US" sz="1200" dirty="0"/>
          </a:p>
        </p:txBody>
      </p:sp>
      <p:pic>
        <p:nvPicPr>
          <p:cNvPr id="12"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13" name="Text 9"/>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9AA5B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4061"/>
        </a:solidFill>
      </p:bgPr>
    </p:bg>
    <p:spTree>
      <p:nvGrpSpPr>
        <p:cNvPr id="1" name=""/>
        <p:cNvGrpSpPr/>
        <p:nvPr/>
      </p:nvGrpSpPr>
      <p:grpSpPr>
        <a:xfrm>
          <a:off x="0" y="0"/>
          <a:ext cx="0" cy="0"/>
          <a:chOff x="0" y="0"/>
          <a:chExt cx="0" cy="0"/>
        </a:xfrm>
      </p:grpSpPr>
      <p:pic>
        <p:nvPicPr>
          <p:cNvPr id="2" name="Image 0" descr="/home/claude/task7_deck/igs_logo.png">    </p:cNvPr>
          <p:cNvPicPr>
            <a:picLocks noChangeAspect="1"/>
          </p:cNvPicPr>
          <p:nvPr/>
        </p:nvPicPr>
        <p:blipFill>
          <a:blip r:embed="rId1"/>
          <a:stretch>
            <a:fillRect/>
          </a:stretch>
        </p:blipFill>
        <p:spPr>
          <a:xfrm>
            <a:off x="365760" y="274320"/>
            <a:ext cx="822960" cy="213970"/>
          </a:xfrm>
          <a:prstGeom prst="rect">
            <a:avLst/>
          </a:prstGeom>
        </p:spPr>
      </p:pic>
      <p:sp>
        <p:nvSpPr>
          <p:cNvPr id="3" name="Text 0"/>
          <p:cNvSpPr/>
          <p:nvPr/>
        </p:nvSpPr>
        <p:spPr>
          <a:xfrm>
            <a:off x="457200" y="685800"/>
            <a:ext cx="7315200" cy="365760"/>
          </a:xfrm>
          <a:prstGeom prst="rect">
            <a:avLst/>
          </a:prstGeom>
          <a:noFill/>
          <a:ln/>
        </p:spPr>
        <p:txBody>
          <a:bodyPr wrap="square" lIns="0" tIns="0" rIns="0" bIns="0" rtlCol="0" anchor="ctr"/>
          <a:lstStyle/>
          <a:p>
            <a:pPr indent="0" marL="0">
              <a:buNone/>
            </a:pPr>
            <a:r>
              <a:rPr lang="en-US" sz="1400" b="1" dirty="0">
                <a:solidFill>
                  <a:srgbClr val="00BB86"/>
                </a:solidFill>
                <a:latin typeface="Calibri" pitchFamily="34" charset="0"/>
                <a:ea typeface="Calibri" pitchFamily="34" charset="-122"/>
                <a:cs typeface="Calibri" pitchFamily="34" charset="-120"/>
              </a:rPr>
              <a:t>NEXT STEPS</a:t>
            </a:r>
            <a:endParaRPr lang="en-US" sz="1400" dirty="0"/>
          </a:p>
        </p:txBody>
      </p:sp>
      <p:sp>
        <p:nvSpPr>
          <p:cNvPr id="4" name="Text 1"/>
          <p:cNvSpPr/>
          <p:nvPr/>
        </p:nvSpPr>
        <p:spPr>
          <a:xfrm>
            <a:off x="457200" y="1051560"/>
            <a:ext cx="91440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Where This Goes From Here</a:t>
            </a:r>
            <a:endParaRPr lang="en-US" sz="2600" dirty="0"/>
          </a:p>
        </p:txBody>
      </p:sp>
      <p:sp>
        <p:nvSpPr>
          <p:cNvPr id="5" name="Shape 2"/>
          <p:cNvSpPr/>
          <p:nvPr/>
        </p:nvSpPr>
        <p:spPr>
          <a:xfrm>
            <a:off x="457200" y="1965960"/>
            <a:ext cx="310896" cy="310896"/>
          </a:xfrm>
          <a:prstGeom prst="ellipse">
            <a:avLst/>
          </a:prstGeom>
          <a:solidFill>
            <a:srgbClr val="00BB86"/>
          </a:solidFill>
          <a:ln/>
        </p:spPr>
      </p:sp>
      <p:sp>
        <p:nvSpPr>
          <p:cNvPr id="6" name="Text 3"/>
          <p:cNvSpPr/>
          <p:nvPr/>
        </p:nvSpPr>
        <p:spPr>
          <a:xfrm>
            <a:off x="914400" y="1920240"/>
            <a:ext cx="10515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Confirm the check-in design and threshold with Jonathan</a:t>
            </a:r>
            <a:endParaRPr lang="en-US" sz="1400" dirty="0"/>
          </a:p>
        </p:txBody>
      </p:sp>
      <p:sp>
        <p:nvSpPr>
          <p:cNvPr id="7" name="Text 4"/>
          <p:cNvSpPr/>
          <p:nvPr/>
        </p:nvSpPr>
        <p:spPr>
          <a:xfrm>
            <a:off x="914400" y="2258568"/>
            <a:ext cx="10515600" cy="457200"/>
          </a:xfrm>
          <a:prstGeom prst="rect">
            <a:avLst/>
          </a:prstGeom>
          <a:noFill/>
          <a:ln/>
        </p:spPr>
        <p:txBody>
          <a:bodyPr wrap="square" lIns="0" tIns="0" rIns="0" bIns="0" rtlCol="0" anchor="t"/>
          <a:lstStyle/>
          <a:p>
            <a:pPr indent="0" marL="0">
              <a:lnSpc>
                <a:spcPct val="115000"/>
              </a:lnSpc>
              <a:buNone/>
            </a:pPr>
            <a:r>
              <a:rPr lang="en-US" sz="1150" dirty="0">
                <a:solidFill>
                  <a:srgbClr val="BFD9F0"/>
                </a:solidFill>
                <a:latin typeface="Calibri" pitchFamily="34" charset="0"/>
                <a:ea typeface="Calibri" pitchFamily="34" charset="-122"/>
                <a:cs typeface="Calibri" pitchFamily="34" charset="-120"/>
              </a:rPr>
              <a:t>Rolling vs. single-day, and the 30% cutoff — both need a decision before this goes further.</a:t>
            </a:r>
            <a:endParaRPr lang="en-US" sz="1150" dirty="0"/>
          </a:p>
        </p:txBody>
      </p:sp>
      <p:sp>
        <p:nvSpPr>
          <p:cNvPr id="8" name="Shape 5"/>
          <p:cNvSpPr/>
          <p:nvPr/>
        </p:nvSpPr>
        <p:spPr>
          <a:xfrm>
            <a:off x="457200" y="3017520"/>
            <a:ext cx="310896" cy="310896"/>
          </a:xfrm>
          <a:prstGeom prst="ellipse">
            <a:avLst/>
          </a:prstGeom>
          <a:solidFill>
            <a:srgbClr val="005CB9"/>
          </a:solidFill>
          <a:ln/>
        </p:spPr>
      </p:sp>
      <p:sp>
        <p:nvSpPr>
          <p:cNvPr id="9" name="Text 6"/>
          <p:cNvSpPr/>
          <p:nvPr/>
        </p:nvSpPr>
        <p:spPr>
          <a:xfrm>
            <a:off x="914400" y="2971800"/>
            <a:ext cx="10515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Expand the backtest sample</a:t>
            </a:r>
            <a:endParaRPr lang="en-US" sz="1400" dirty="0"/>
          </a:p>
        </p:txBody>
      </p:sp>
      <p:sp>
        <p:nvSpPr>
          <p:cNvPr id="10" name="Text 7"/>
          <p:cNvSpPr/>
          <p:nvPr/>
        </p:nvSpPr>
        <p:spPr>
          <a:xfrm>
            <a:off x="914400" y="3310128"/>
            <a:ext cx="10515600" cy="457200"/>
          </a:xfrm>
          <a:prstGeom prst="rect">
            <a:avLst/>
          </a:prstGeom>
          <a:noFill/>
          <a:ln/>
        </p:spPr>
        <p:txBody>
          <a:bodyPr wrap="square" lIns="0" tIns="0" rIns="0" bIns="0" rtlCol="0" anchor="t"/>
          <a:lstStyle/>
          <a:p>
            <a:pPr indent="0" marL="0">
              <a:lnSpc>
                <a:spcPct val="115000"/>
              </a:lnSpc>
              <a:buNone/>
            </a:pPr>
            <a:r>
              <a:rPr lang="en-US" sz="1150" dirty="0">
                <a:solidFill>
                  <a:srgbClr val="BFD9F0"/>
                </a:solidFill>
                <a:latin typeface="Calibri" pitchFamily="34" charset="0"/>
                <a:ea typeface="Calibri" pitchFamily="34" charset="-122"/>
                <a:cs typeface="Calibri" pitchFamily="34" charset="-120"/>
              </a:rPr>
              <a:t>Move past the ~200-customer sample for tighter confidence on the exact catch-rate and false-positive numbers.</a:t>
            </a:r>
            <a:endParaRPr lang="en-US" sz="1150" dirty="0"/>
          </a:p>
        </p:txBody>
      </p:sp>
      <p:sp>
        <p:nvSpPr>
          <p:cNvPr id="11" name="Shape 8"/>
          <p:cNvSpPr/>
          <p:nvPr/>
        </p:nvSpPr>
        <p:spPr>
          <a:xfrm>
            <a:off x="457200" y="4069080"/>
            <a:ext cx="310896" cy="310896"/>
          </a:xfrm>
          <a:prstGeom prst="ellipse">
            <a:avLst/>
          </a:prstGeom>
          <a:solidFill>
            <a:srgbClr val="F4A600"/>
          </a:solidFill>
          <a:ln/>
        </p:spPr>
      </p:sp>
      <p:sp>
        <p:nvSpPr>
          <p:cNvPr id="12" name="Text 9"/>
          <p:cNvSpPr/>
          <p:nvPr/>
        </p:nvSpPr>
        <p:spPr>
          <a:xfrm>
            <a:off x="914400" y="4023360"/>
            <a:ext cx="10515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Scope what a live version would require</a:t>
            </a:r>
            <a:endParaRPr lang="en-US" sz="1400" dirty="0"/>
          </a:p>
        </p:txBody>
      </p:sp>
      <p:sp>
        <p:nvSpPr>
          <p:cNvPr id="13" name="Text 10"/>
          <p:cNvSpPr/>
          <p:nvPr/>
        </p:nvSpPr>
        <p:spPr>
          <a:xfrm>
            <a:off x="914400" y="4361688"/>
            <a:ext cx="10515600" cy="457200"/>
          </a:xfrm>
          <a:prstGeom prst="rect">
            <a:avLst/>
          </a:prstGeom>
          <a:noFill/>
          <a:ln/>
        </p:spPr>
        <p:txBody>
          <a:bodyPr wrap="square" lIns="0" tIns="0" rIns="0" bIns="0" rtlCol="0" anchor="t"/>
          <a:lstStyle/>
          <a:p>
            <a:pPr indent="0" marL="0">
              <a:lnSpc>
                <a:spcPct val="115000"/>
              </a:lnSpc>
              <a:buNone/>
            </a:pPr>
            <a:r>
              <a:rPr lang="en-US" sz="1150" dirty="0">
                <a:solidFill>
                  <a:srgbClr val="BFD9F0"/>
                </a:solidFill>
                <a:latin typeface="Calibri" pitchFamily="34" charset="0"/>
                <a:ea typeface="Calibri" pitchFamily="34" charset="-122"/>
                <a:cs typeface="Calibri" pitchFamily="34" charset="-120"/>
              </a:rPr>
              <a:t>BAT_SMT covers active customers, so a live alert is possible — but the production pipeline hasn't been designed yet.</a:t>
            </a:r>
            <a:endParaRPr lang="en-US" sz="1150" dirty="0"/>
          </a:p>
        </p:txBody>
      </p:sp>
      <p:sp>
        <p:nvSpPr>
          <p:cNvPr id="14" name="Shape 11"/>
          <p:cNvSpPr/>
          <p:nvPr/>
        </p:nvSpPr>
        <p:spPr>
          <a:xfrm>
            <a:off x="457200" y="5120640"/>
            <a:ext cx="310896" cy="310896"/>
          </a:xfrm>
          <a:prstGeom prst="ellipse">
            <a:avLst/>
          </a:prstGeom>
          <a:solidFill>
            <a:srgbClr val="00B9B3"/>
          </a:solidFill>
          <a:ln/>
        </p:spPr>
      </p:sp>
      <p:sp>
        <p:nvSpPr>
          <p:cNvPr id="15" name="Text 12"/>
          <p:cNvSpPr/>
          <p:nvPr/>
        </p:nvSpPr>
        <p:spPr>
          <a:xfrm>
            <a:off x="914400" y="5074920"/>
            <a:ext cx="105156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Test the same logic on the other attrition outcomes</a:t>
            </a:r>
            <a:endParaRPr lang="en-US" sz="1400" dirty="0"/>
          </a:p>
        </p:txBody>
      </p:sp>
      <p:sp>
        <p:nvSpPr>
          <p:cNvPr id="16" name="Text 13"/>
          <p:cNvSpPr/>
          <p:nvPr/>
        </p:nvSpPr>
        <p:spPr>
          <a:xfrm>
            <a:off x="914400" y="5413248"/>
            <a:ext cx="10515600" cy="457200"/>
          </a:xfrm>
          <a:prstGeom prst="rect">
            <a:avLst/>
          </a:prstGeom>
          <a:noFill/>
          <a:ln/>
        </p:spPr>
        <p:txBody>
          <a:bodyPr wrap="square" lIns="0" tIns="0" rIns="0" bIns="0" rtlCol="0" anchor="t"/>
          <a:lstStyle/>
          <a:p>
            <a:pPr indent="0" marL="0">
              <a:lnSpc>
                <a:spcPct val="115000"/>
              </a:lnSpc>
              <a:buNone/>
            </a:pPr>
            <a:r>
              <a:rPr lang="en-US" sz="1150" dirty="0">
                <a:solidFill>
                  <a:srgbClr val="BFD9F0"/>
                </a:solidFill>
                <a:latin typeface="Calibri" pitchFamily="34" charset="0"/>
                <a:ea typeface="Calibri" pitchFamily="34" charset="-122"/>
                <a:cs typeface="Calibri" pitchFamily="34" charset="-120"/>
              </a:rPr>
              <a:t>SwitchBeforeBillDue was the leading case — worth checking whether this approach also works for SwitchAfterBillDue and DNP.</a:t>
            </a:r>
            <a:endParaRPr lang="en-US" sz="1150" dirty="0"/>
          </a:p>
        </p:txBody>
      </p:sp>
      <p:pic>
        <p:nvPicPr>
          <p:cNvPr id="17" name="Image 1" descr="/home/claude/task7_deck/igs_logo.png">    </p:cNvPr>
          <p:cNvPicPr>
            <a:picLocks noChangeAspect="1"/>
          </p:cNvPicPr>
          <p:nvPr/>
        </p:nvPicPr>
        <p:blipFill>
          <a:blip r:embed="rId2"/>
          <a:stretch>
            <a:fillRect/>
          </a:stretch>
        </p:blipFill>
        <p:spPr>
          <a:xfrm>
            <a:off x="11064240" y="320040"/>
            <a:ext cx="566928" cy="146304"/>
          </a:xfrm>
          <a:prstGeom prst="rect">
            <a:avLst/>
          </a:prstGeom>
        </p:spPr>
      </p:pic>
      <p:sp>
        <p:nvSpPr>
          <p:cNvPr id="18" name="Shape 14"/>
          <p:cNvSpPr/>
          <p:nvPr/>
        </p:nvSpPr>
        <p:spPr>
          <a:xfrm>
            <a:off x="0" y="6748272"/>
            <a:ext cx="3047924" cy="109728"/>
          </a:xfrm>
          <a:prstGeom prst="rect">
            <a:avLst/>
          </a:prstGeom>
          <a:solidFill>
            <a:srgbClr val="005CB9"/>
          </a:solidFill>
          <a:ln/>
        </p:spPr>
      </p:sp>
      <p:sp>
        <p:nvSpPr>
          <p:cNvPr id="19" name="Shape 15"/>
          <p:cNvSpPr/>
          <p:nvPr/>
        </p:nvSpPr>
        <p:spPr>
          <a:xfrm>
            <a:off x="3047924" y="6748272"/>
            <a:ext cx="3047924" cy="109728"/>
          </a:xfrm>
          <a:prstGeom prst="rect">
            <a:avLst/>
          </a:prstGeom>
          <a:solidFill>
            <a:srgbClr val="00BB86"/>
          </a:solidFill>
          <a:ln/>
        </p:spPr>
      </p:sp>
      <p:sp>
        <p:nvSpPr>
          <p:cNvPr id="20" name="Shape 16"/>
          <p:cNvSpPr/>
          <p:nvPr/>
        </p:nvSpPr>
        <p:spPr>
          <a:xfrm>
            <a:off x="6095848" y="6748272"/>
            <a:ext cx="3047924" cy="109728"/>
          </a:xfrm>
          <a:prstGeom prst="rect">
            <a:avLst/>
          </a:prstGeom>
          <a:solidFill>
            <a:srgbClr val="F4A600"/>
          </a:solidFill>
          <a:ln/>
        </p:spPr>
      </p:sp>
      <p:sp>
        <p:nvSpPr>
          <p:cNvPr id="21" name="Shape 17"/>
          <p:cNvSpPr/>
          <p:nvPr/>
        </p:nvSpPr>
        <p:spPr>
          <a:xfrm>
            <a:off x="9143771" y="6748272"/>
            <a:ext cx="3047924" cy="109728"/>
          </a:xfrm>
          <a:prstGeom prst="rect">
            <a:avLst/>
          </a:prstGeom>
          <a:solidFill>
            <a:srgbClr val="00B9B3"/>
          </a:solidFill>
          <a:ln/>
        </p:spPr>
      </p:sp>
      <p:sp>
        <p:nvSpPr>
          <p:cNvPr id="22" name="Text 18"/>
          <p:cNvSpPr/>
          <p:nvPr/>
        </p:nvSpPr>
        <p:spPr>
          <a:xfrm>
            <a:off x="11475720" y="6492240"/>
            <a:ext cx="594360" cy="228600"/>
          </a:xfrm>
          <a:prstGeom prst="rect">
            <a:avLst/>
          </a:prstGeom>
          <a:noFill/>
          <a:ln/>
        </p:spPr>
        <p:txBody>
          <a:bodyPr wrap="square" lIns="0" tIns="0" rIns="0" bIns="0" rtlCol="0" anchor="ctr"/>
          <a:lstStyle/>
          <a:p>
            <a:pPr algn="r" indent="0" marL="0">
              <a:buNone/>
            </a:pPr>
            <a:r>
              <a:rPr lang="en-US" sz="1000" dirty="0">
                <a:solidFill>
                  <a:srgbClr val="BFD9F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2026-08-19T18:39:31Z</dcterms:created>
  <dcterms:modified xsi:type="dcterms:W3CDTF">2026-08-19T18:39:31Z</dcterms:modified>
</cp:coreProperties>
</file>