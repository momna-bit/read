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A41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2A41"/>
                </a:solidFill>
                <a:latin typeface="Arial"/>
              </a:rPr>
              <a:t>Calls per 1,000 Active Customers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Original (39-day)</c:v>
                </c:pt>
              </c:strCache>
            </c:strRef>
          </c:tx>
          <c:spPr>
            <a:solidFill>
              <a:srgbClr val="44546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Mon</c:v>
                  </c:pt>
                  <c:pt idx="1">
                    <c:v>Tue</c:v>
                  </c:pt>
                  <c:pt idx="2">
                    <c:v>Wed</c:v>
                  </c:pt>
                  <c:pt idx="3">
                    <c:v>Thu</c:v>
                  </c:pt>
                  <c:pt idx="4">
                    <c:v>Fri</c:v>
                  </c:pt>
                  <c:pt idx="5">
                    <c:v>Sat</c:v>
                  </c:pt>
                  <c:pt idx="6">
                    <c:v>Sun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6.958</c:v>
                </c:pt>
                <c:pt idx="1">
                  <c:v>5.498</c:v>
                </c:pt>
                <c:pt idx="2">
                  <c:v>5.183</c:v>
                </c:pt>
                <c:pt idx="3">
                  <c:v>4.462</c:v>
                </c:pt>
                <c:pt idx="4">
                  <c:v>4.223</c:v>
                </c:pt>
                <c:pt idx="5">
                  <c:v>1.794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2025–2026</c:v>
                </c:pt>
              </c:strCache>
            </c:strRef>
          </c:tx>
          <c:spPr>
            <a:solidFill>
              <a:srgbClr val="C77B1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Mon</c:v>
                  </c:pt>
                  <c:pt idx="1">
                    <c:v>Tue</c:v>
                  </c:pt>
                  <c:pt idx="2">
                    <c:v>Wed</c:v>
                  </c:pt>
                  <c:pt idx="3">
                    <c:v>Thu</c:v>
                  </c:pt>
                  <c:pt idx="4">
                    <c:v>Fri</c:v>
                  </c:pt>
                  <c:pt idx="5">
                    <c:v>Sat</c:v>
                  </c:pt>
                  <c:pt idx="6">
                    <c:v>Sun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8.384</c:v>
                </c:pt>
                <c:pt idx="1">
                  <c:v>7.19</c:v>
                </c:pt>
                <c:pt idx="2">
                  <c:v>6.332</c:v>
                </c:pt>
                <c:pt idx="3">
                  <c:v>5.673</c:v>
                </c:pt>
                <c:pt idx="4">
                  <c:v>6.179</c:v>
                </c:pt>
                <c:pt idx="5">
                  <c:v>2.408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Blended (final)</c:v>
                </c:pt>
              </c:strCache>
            </c:strRef>
          </c:tx>
          <c:spPr>
            <a:solidFill>
              <a:srgbClr val="0F6E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Mon</c:v>
                  </c:pt>
                  <c:pt idx="1">
                    <c:v>Tue</c:v>
                  </c:pt>
                  <c:pt idx="2">
                    <c:v>Wed</c:v>
                  </c:pt>
                  <c:pt idx="3">
                    <c:v>Thu</c:v>
                  </c:pt>
                  <c:pt idx="4">
                    <c:v>Fri</c:v>
                  </c:pt>
                  <c:pt idx="5">
                    <c:v>Sat</c:v>
                  </c:pt>
                  <c:pt idx="6">
                    <c:v>Sun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7.814</c:v>
                </c:pt>
                <c:pt idx="1">
                  <c:v>6.513</c:v>
                </c:pt>
                <c:pt idx="2">
                  <c:v>5.872</c:v>
                </c:pt>
                <c:pt idx="3">
                  <c:v>5.188</c:v>
                </c:pt>
                <c:pt idx="4">
                  <c:v>5.397</c:v>
                </c:pt>
                <c:pt idx="5">
                  <c:v>2.162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54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8EA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54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CALL FORECAST REFRESH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241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B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Walkthrough: From Task 1's 39-Day Rates to a Validated,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B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Long-Term Forecast with Live Accuracy Tracking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22960" y="3977640"/>
            <a:ext cx="502920" cy="54864"/>
          </a:xfrm>
          <a:prstGeom prst="rect">
            <a:avLst/>
          </a:prstGeom>
          <a:solidFill>
            <a:srgbClr val="0F6E6E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4160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 Mass Market &amp; Canada  •  Texas Residential Care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59893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Momna Ali  •  Prepared for Jonathan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covered in this walkthrough, in one place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649224"/>
          </a:xfrm>
          <a:prstGeom prst="roundRect">
            <a:avLst>
              <a:gd name="adj" fmla="val 7042"/>
            </a:avLst>
          </a:prstGeom>
          <a:solidFill>
            <a:srgbClr val="F7F8FA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46504"/>
            <a:ext cx="19659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2834640" y="1746504"/>
            <a:ext cx="85953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Task 1's day-of-week call rates using ~4 years of data (vs. the original 39-day sample) and build a forecast-vs-actuals tracking view.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450592"/>
            <a:ext cx="11064240" cy="649224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505456"/>
            <a:ext cx="19659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 Flag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834640" y="2505456"/>
            <a:ext cx="85953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naive 4-year recompute came back ~2x higher than Task 1's original rates — too uniform to be organic growth, so we investigated before trusting it.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209544"/>
            <a:ext cx="11064240" cy="649224"/>
          </a:xfrm>
          <a:prstGeom prst="roundRect">
            <a:avLst>
              <a:gd name="adj" fmla="val 7042"/>
            </a:avLst>
          </a:prstGeom>
          <a:solidFill>
            <a:srgbClr val="F7F8FA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264408"/>
            <a:ext cx="19659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Investigation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834640" y="3264408"/>
            <a:ext cx="85953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and ruled out duplicate call records and undercounted active customers. Found the real causes: a genuine rate increase in 2022–2024, plus a call-filter mismatch between the two builds.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968496"/>
            <a:ext cx="11064240" cy="649224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023360"/>
            <a:ext cx="19659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834640" y="4023360"/>
            <a:ext cx="85953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Reapplied Task 1's exact call definition (Inbound/Transfer, agent talk time &gt; 0). Sunday correctly returned to zero — a clean, unambiguous confirmation the fix worked.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727448"/>
            <a:ext cx="11064240" cy="649224"/>
          </a:xfrm>
          <a:prstGeom prst="roundRect">
            <a:avLst>
              <a:gd name="adj" fmla="val 7042"/>
            </a:avLst>
          </a:prstGeom>
          <a:solidFill>
            <a:srgbClr val="F7F8FA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782312"/>
            <a:ext cx="19659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834640" y="4782312"/>
            <a:ext cx="85953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blended rate: 40% weight on Task 1's original rates, 60% on the corrected 2025–2026 rates, to smooth sample-size noise in either window.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5486400"/>
            <a:ext cx="11064240" cy="649224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9525">
            <a:solidFill>
              <a:srgbClr val="E3E7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541264"/>
            <a:ext cx="19659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Validation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834640" y="5541264"/>
            <a:ext cx="859536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the blended model against 30 days of real call data. Weekday accuracy is strong (-8% to +6%). Two known, already-understood exceptions: holidays and same-day-in-progress data.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Call Forecast Refresh  |  South Mass Market &amp; Canada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820095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F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— THE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Revisited the Forecast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881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1's day-of-week call rates were built on a 39-day sample — useful for a first pass, but narrow. With Task 4's full corrected dataset now available (July 2022 – present), Jonathan asked us to recompute the day-of-week rates using the complete history, and to build a tracking view comparing forecast to actual call volume going forward, so the team can monitor accuracy over time rather than checking it once and moving on.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32308" y="2514600"/>
            <a:ext cx="3429000" cy="3429000"/>
          </a:xfrm>
          <a:prstGeom prst="roundRect">
            <a:avLst>
              <a:gd name="adj" fmla="val 2133"/>
            </a:avLst>
          </a:prstGeom>
          <a:solidFill>
            <a:srgbClr val="F7F8FA"/>
          </a:solidFill>
          <a:ln/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06628" y="2807208"/>
            <a:ext cx="457200" cy="54864"/>
          </a:xfrm>
          <a:prstGeom prst="rect">
            <a:avLst/>
          </a:prstGeom>
          <a:solidFill>
            <a:srgbClr val="44546A"/>
          </a:solidFill>
          <a:ln/>
        </p:spPr>
      </p:sp>
      <p:sp>
        <p:nvSpPr>
          <p:cNvPr id="7" name="Text 5"/>
          <p:cNvSpPr/>
          <p:nvPr/>
        </p:nvSpPr>
        <p:spPr>
          <a:xfrm>
            <a:off x="906628" y="2971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Basis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906628" y="3474720"/>
            <a:ext cx="28803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1's rates: Monday 6.958, Tuesday 5.498 … down to Sunday 0.000 — built from 39 days of dbo.IVR data, filtered to Inbound/Transfer calls with agent talk time.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81348" y="2514600"/>
            <a:ext cx="3429000" cy="3429000"/>
          </a:xfrm>
          <a:prstGeom prst="roundRect">
            <a:avLst>
              <a:gd name="adj" fmla="val 2133"/>
            </a:avLst>
          </a:prstGeom>
          <a:solidFill>
            <a:srgbClr val="F7F8FA"/>
          </a:solidFill>
          <a:ln/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55668" y="2807208"/>
            <a:ext cx="457200" cy="54864"/>
          </a:xfrm>
          <a:prstGeom prst="rect">
            <a:avLst/>
          </a:prstGeom>
          <a:solidFill>
            <a:srgbClr val="0F6E6E"/>
          </a:solidFill>
          <a:ln/>
        </p:spPr>
      </p:sp>
      <p:sp>
        <p:nvSpPr>
          <p:cNvPr id="11" name="Text 9"/>
          <p:cNvSpPr/>
          <p:nvPr/>
        </p:nvSpPr>
        <p:spPr>
          <a:xfrm>
            <a:off x="4655668" y="2971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Basis Available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4655668" y="3474720"/>
            <a:ext cx="28803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4's corrected baseline dataset: one row per day from July 2022 onward, with validated active customer counts, containment rate, and call volume.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30388" y="2514600"/>
            <a:ext cx="3429000" cy="3429000"/>
          </a:xfrm>
          <a:prstGeom prst="roundRect">
            <a:avLst>
              <a:gd name="adj" fmla="val 2133"/>
            </a:avLst>
          </a:prstGeom>
          <a:solidFill>
            <a:srgbClr val="F7F8FA"/>
          </a:solidFill>
          <a:ln/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04708" y="2807208"/>
            <a:ext cx="457200" cy="54864"/>
          </a:xfrm>
          <a:prstGeom prst="rect">
            <a:avLst/>
          </a:prstGeom>
          <a:solidFill>
            <a:srgbClr val="1E7B4D"/>
          </a:solidFill>
          <a:ln/>
        </p:spPr>
      </p:sp>
      <p:sp>
        <p:nvSpPr>
          <p:cNvPr id="15" name="Text 13"/>
          <p:cNvSpPr/>
          <p:nvPr/>
        </p:nvSpPr>
        <p:spPr>
          <a:xfrm>
            <a:off x="8404708" y="2971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Deliverable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8404708" y="3474720"/>
            <a:ext cx="28803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recomputed, trustworthy day-of-week rate set, plus a live view comparing forecasted vs. actual calls — both ready to hand to Jonathan.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Call Forecast Refresh  |  South Mass Market &amp; Canada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820095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C77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— THE INVESTIGATION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Check: Were Calls Being Double-Counted?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recompute came back ~2x higher than Task 1's rates — too uniform a jump to be real growth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Hypothesis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05740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IVR records include PreviousContactID / NextContactID fields, suggesting a single customer interaction could be split across multiple linked rows (e.g., initial contact → transfer → agent pickup). If each leg were logged separately, the same call could be counted 2–3 times.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126480" y="16916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126480" y="2057400"/>
            <a:ext cx="5212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raw row count vs. COUNT(DISTINCT ContactID) by year. If duplication were happening, “rows per contact” would run meaningfully above 1.0 in the affected years.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977640"/>
            <a:ext cx="10744200" cy="1737360"/>
          </a:xfrm>
          <a:prstGeom prst="roundRect">
            <a:avLst>
              <a:gd name="adj" fmla="val 4211"/>
            </a:avLst>
          </a:prstGeom>
          <a:solidFill>
            <a:srgbClr val="F7F8F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4160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7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Ruled Out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4553712"/>
            <a:ext cx="10149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Rows-per-contact came back exactly 1.0 in every single year (2021–2026). ContactID is already unique per row — there is no multi-leg double-counting. This ruled out the numerator as the source of the inflation and pointed the investigation elsewhere.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Call Forecast Refresh  |  South Mass Market &amp; Canada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820095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C77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— THE INVESTIGATION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Check: Was the Active Customer Count Wrong?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early-year customer counts were undercounted, the same call volume would divide into a smaller number and look like a higher rate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Hypothesis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05740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4's ActiveCustomerCount is built via an event-based net-change calculation (enrollments minus cancellations), not a direct daily snapshot. If the event log's history is thinner further back, the running total could understate true active customers in 2022–2023.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126480" y="16916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126480" y="2057400"/>
            <a:ext cx="5212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the event-based count against a direct point-in-time snapshot (COUNT DISTINCT cust_id, active as of that date) from iSigma_Customer_Master, at one checkpoint per year, 2022–2026.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463040" y="3749040"/>
          <a:ext cx="9235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2377440"/>
                <a:gridCol w="21031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Date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Event-Based Count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Snapshot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2022-06-15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~421K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421,031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7B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2023-06-15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~525K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525,108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7B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2024-06-15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~586K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586,243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7B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2025-06-15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~624K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624,179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7B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2026-06-15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~639K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639,077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7B4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48640" y="598932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7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Ruled Out — counts matched within ~1% at every checkpoint. The denominator was never the problem.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Call Forecast Refresh  |  South Mass Market &amp; Canada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820095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C77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— THE INVESTIGATION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Answer: Two Things, Not One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Numerator and denominator both checked out independently — the explanation was elsewhere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09448" y="1783080"/>
            <a:ext cx="5257800" cy="4023360"/>
          </a:xfrm>
          <a:prstGeom prst="roundRect">
            <a:avLst>
              <a:gd name="adj" fmla="val 1818"/>
            </a:avLst>
          </a:prstGeom>
          <a:solidFill>
            <a:srgbClr val="F7F8FA"/>
          </a:solidFill>
          <a:ln/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29488" y="2075688"/>
            <a:ext cx="457200" cy="54864"/>
          </a:xfrm>
          <a:prstGeom prst="rect">
            <a:avLst/>
          </a:prstGeom>
          <a:solidFill>
            <a:srgbClr val="44546A"/>
          </a:solidFill>
          <a:ln/>
        </p:spPr>
      </p:sp>
      <p:sp>
        <p:nvSpPr>
          <p:cNvPr id="7" name="Text 5"/>
          <p:cNvSpPr/>
          <p:nvPr/>
        </p:nvSpPr>
        <p:spPr>
          <a:xfrm>
            <a:off x="929488" y="224028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 Genuine Behavioral Shift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29488" y="2880360"/>
            <a:ext cx="4617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Raw call volume genuinely peaked in 2023–2024 and has declined since — not a counting artifact.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29488" y="3840480"/>
            <a:ext cx="4617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Both the numerator (calls) and denominator (active customers) were independently validated as accurate in every year.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29488" y="4800600"/>
            <a:ext cx="4617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This likely reflects real operational changes: improved IVR self-service/containment, or shifts in what drives customers to call.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24448" y="1783080"/>
            <a:ext cx="5257800" cy="4023360"/>
          </a:xfrm>
          <a:prstGeom prst="roundRect">
            <a:avLst>
              <a:gd name="adj" fmla="val 1818"/>
            </a:avLst>
          </a:prstGeom>
          <a:solidFill>
            <a:srgbClr val="F7F8FA"/>
          </a:solidFill>
          <a:ln/>
          <a:effectLst>
            <a:outerShdw sx="100000" sy="100000" kx="0" ky="0" algn="bl" rotWithShape="0" blurRad="101600" dist="25400" dir="540000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644488" y="2075688"/>
            <a:ext cx="457200" cy="54864"/>
          </a:xfrm>
          <a:prstGeom prst="rect">
            <a:avLst/>
          </a:prstGeom>
          <a:solidFill>
            <a:srgbClr val="B03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644488" y="224028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 Filter Mismatch Between Builds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644488" y="2880360"/>
            <a:ext cx="4617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Task 4's IVRDaily CTE counts all Care department calls (for containment/abandon-rate purposes) — it never applied Task 1's stricter filter.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44488" y="3840480"/>
            <a:ext cx="4617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Task 1 used: CallType IN ('Inbound','Transfer') AND AgentTalkTime &gt; 0. Task 4's TexasCalls is just COUNT(*) with queue exclusions.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644488" y="4800600"/>
            <a:ext cx="4617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This alone explained why Sunday — when the call center is closed — was showing non-zero volume in the first recompute.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Call Forecast Refresh  |  South Mass Market &amp; Canada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820095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F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— THE FIX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Fix — and Proving It Worked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Reapplied Task 1's exact call definition; used Sunday as an unambiguous validation check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49240" cy="4023360"/>
          </a:xfrm>
          <a:prstGeom prst="roundRect">
            <a:avLst>
              <a:gd name="adj" fmla="val 1818"/>
            </a:avLst>
          </a:prstGeom>
          <a:solidFill>
            <a:srgbClr val="F7F8F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Fix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31720"/>
          <a:ext cx="47548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5603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3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Rate/1000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3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Sunday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9.89  ← should be 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Wednesday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822960" y="416052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Sunday non-zero was the tell — the call center is closed Sundays, so this had to be wrong.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63640" y="1737360"/>
            <a:ext cx="5349240" cy="4023360"/>
          </a:xfrm>
          <a:prstGeom prst="roundRect">
            <a:avLst>
              <a:gd name="adj" fmla="val 1818"/>
            </a:avLst>
          </a:prstGeom>
          <a:solidFill>
            <a:srgbClr val="F7F8FA"/>
          </a:solidFill>
          <a:ln/>
        </p:spPr>
      </p:sp>
      <p:sp>
        <p:nvSpPr>
          <p:cNvPr id="10" name="Text 7"/>
          <p:cNvSpPr/>
          <p:nvPr/>
        </p:nvSpPr>
        <p:spPr>
          <a:xfrm>
            <a:off x="653796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7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Fix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2331720"/>
          <a:ext cx="47548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5603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B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Rate/1000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B4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Sunday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  ✓ correct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Wednesday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6537960" y="416052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order as Task 1 (Monday highest, Sunday zero) — only the magnitude shifted, by a modest and consistent 20–45%.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Call Forecast Refresh  |  South Mass Market &amp; Canada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0820095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F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— THE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Corrected &amp; Blended Model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weight on Task 1's original rates, 60% on corrected 2025–2026 rates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417320"/>
                <a:gridCol w="1280160"/>
                <a:gridCol w="1325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(39-day)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2025–2026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Blended (final)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Monday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7.814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Tuesday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7.190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6.513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Wednesday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5.872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Thursday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4.462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5.188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Friday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4.223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6.179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5.397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Saturday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2.408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2.162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Sunday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263640" y="1691640"/>
          <a:ext cx="53492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0807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blend rather than use 2025–2026 alone? A single year still carries its own noise — blending smooths over either window being an outlier.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Call Forecast Refresh  |  South Mass Market &amp; Canada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0820095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F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— THE VALIDATION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Accuracy: 30-Day Tracking Check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against dbo.IVR using the same call definition as the blended model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926080"/>
                <a:gridCol w="48463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Variance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Weekdays (Mon–Fri, non-holiday)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–8% to +6%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 — forecast tracks closely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Saturdays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–1% to +6%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 — low absolute volume, still tight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Sundays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(forecast = actual = 0)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by design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Holiday (e.g., Jul 4)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–32% to –46%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C3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Known gap — model doesn't yet flex for holidays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617720"/>
            <a:ext cx="11064240" cy="1600200"/>
          </a:xfrm>
          <a:prstGeom prst="roundRect">
            <a:avLst>
              <a:gd name="adj" fmla="val 4571"/>
            </a:avLst>
          </a:prstGeom>
          <a:solidFill>
            <a:srgbClr val="F7F8FA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47548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22960" y="51206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blended model tracks weekday and weekend call volume well. The two visible misses — holidays and same-day-in-progress data — are already understood and documented, not surprises. Both are listed as open items on the Next Steps slide, along with the plan for closing them.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Call Forecast Refresh  |  South Mass Market &amp; Canada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820095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can go from here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411480" cy="411480"/>
          </a:xfrm>
          <a:prstGeom prst="ellipse">
            <a:avLst/>
          </a:prstGeom>
          <a:solidFill>
            <a:srgbClr val="0F6E6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34440" y="1764792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holiday-specific adjustment factor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34440" y="2103120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F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over-predicts on holidays and likely under-predicts the day after — a separate multiplier per holiday type would close this gap.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724912"/>
            <a:ext cx="411480" cy="411480"/>
          </a:xfrm>
          <a:prstGeom prst="ellipse">
            <a:avLst/>
          </a:prstGeom>
          <a:solidFill>
            <a:srgbClr val="0F6E6E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72491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34440" y="2660904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 a dedicated weekend rate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2999232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F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Weekend variance runs higher in percentage terms due to smaller volume — a Saturday/Sunday-specific model could tighten this further.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621024"/>
            <a:ext cx="411480" cy="411480"/>
          </a:xfrm>
          <a:prstGeom prst="ellipse">
            <a:avLst/>
          </a:prstGeom>
          <a:solidFill>
            <a:srgbClr val="0F6E6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62102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3557016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tracking query into a real view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34440" y="3895344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F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running as an ad hoc query due to a CREATE VIEW permission gap on Analytics_ConstellationWH — needs Royston or Jonathan to resolve so it can be scheduled and reused.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4517136"/>
            <a:ext cx="411480" cy="411480"/>
          </a:xfrm>
          <a:prstGeom prst="ellipse">
            <a:avLst/>
          </a:prstGeom>
          <a:solidFill>
            <a:srgbClr val="0F6E6E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51713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34440" y="4453128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Re-evaluate the 40/60 blend weighting periodically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34440" y="4791456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F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split is a reasonable starting assumption, not a statistically optimized one — worth revisiting as more 2025–2026 data accumulates.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5413248"/>
            <a:ext cx="411480" cy="411480"/>
          </a:xfrm>
          <a:prstGeom prst="ellipse">
            <a:avLst/>
          </a:prstGeom>
          <a:solidFill>
            <a:srgbClr val="0F6E6E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41324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34440" y="5349240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tracking to Alberta once data availability allows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34440" y="5687568"/>
            <a:ext cx="10241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F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dataset flags pre-2024-03-20 Alberta data as unavailable — forecast coverage could expand once that gap closes.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65196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Call Forecast Refresh  |  South Mass Market &amp; Canada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820095" y="65196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2026-07-27T18:02:14Z</dcterms:created>
  <dcterms:modified xsi:type="dcterms:W3CDTF">2026-07-27T18:02:14Z</dcterms:modified>
</cp:coreProperties>
</file>