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Arial"/>
              </a:rPr>
              <a:t>Calls per 1,000 Active Customers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(39-day)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6.958</c:v>
                </c:pt>
                <c:pt idx="1">
                  <c:v>5.498</c:v>
                </c:pt>
                <c:pt idx="2">
                  <c:v>5.183</c:v>
                </c:pt>
                <c:pt idx="3">
                  <c:v>4.462</c:v>
                </c:pt>
                <c:pt idx="4">
                  <c:v>4.223</c:v>
                </c:pt>
                <c:pt idx="5">
                  <c:v>1.794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2025–2026</c:v>
                </c:pt>
              </c:strCache>
            </c:strRef>
          </c:tx>
          <c:spPr>
            <a:solidFill>
              <a:srgbClr val="C77B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8.384</c:v>
                </c:pt>
                <c:pt idx="1">
                  <c:v>7.19</c:v>
                </c:pt>
                <c:pt idx="2">
                  <c:v>6.332</c:v>
                </c:pt>
                <c:pt idx="3">
                  <c:v>5.673</c:v>
                </c:pt>
                <c:pt idx="4">
                  <c:v>6.179</c:v>
                </c:pt>
                <c:pt idx="5">
                  <c:v>2.408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Blended (final)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7.814</c:v>
                </c:pt>
                <c:pt idx="1">
                  <c:v>6.513</c:v>
                </c:pt>
                <c:pt idx="2">
                  <c:v>5.872</c:v>
                </c:pt>
                <c:pt idx="3">
                  <c:v>5.188</c:v>
                </c:pt>
                <c:pt idx="4">
                  <c:v>5.397</c:v>
                </c:pt>
                <c:pt idx="5">
                  <c:v>2.162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Walkthrough: From Task 1's 39-Day Rates to a Validated,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Long-Term Forecast with Live Accuracy Tracking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502920" cy="54864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Mass Market &amp; Canada  •  Texas Residential Care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Momna Ali  •  Prepared for Jonathan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covered in this walkthrough, in one place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49224"/>
          </a:xfrm>
          <a:prstGeom prst="roundRect">
            <a:avLst>
              <a:gd name="adj" fmla="val 7042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46504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834640" y="1746504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Task 1's day-of-week call rates using ~4 years of data (vs. the original 39-day sample) and build a forecast-vs-actuals tracking view.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49224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05456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Flag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34640" y="2505456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4-year recompute came back ~2x higher than Task 1's original rates — too uniform to be organic growth, so we investigated before trusting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11064240" cy="649224"/>
          </a:xfrm>
          <a:prstGeom prst="roundRect">
            <a:avLst>
              <a:gd name="adj" fmla="val 7042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64408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326440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ruled out duplicate call records and undercounted active customers. Found the real causes: a genuine rate increase in 2022–2024, plus a call-filter mismatch between the two builds.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11064240" cy="649224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233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402336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Reapplied Task 1's exact call definition (Inbound/Transfer, agent talk time &gt; 0). Sunday correctly returned to zero — a clean, unambiguous confirmation the fix worked.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11064240" cy="649224"/>
          </a:xfrm>
          <a:prstGeom prst="roundRect">
            <a:avLst>
              <a:gd name="adj" fmla="val 7042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8231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34640" y="478231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blended rate: 40% weight on Task 1's original rates, 60% on the corrected 2025–2026 rates, to smooth sample-size noise in either window.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1064240" cy="649224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541264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34640" y="5541264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blended model against 30 days of real call data. Weekday accuracy is strong (-8% to +6%). Two known, already-understood exceptions: holidays and same-day-in-progress data.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Revisited the Forecast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1's day-of-week call rates were built on a 39-day sample — useful for a first pass, but narrow. With Task 4's full corrected dataset now available (July 2022 – present), Jonathan asked us to recompute the day-of-week rates using the complete history, and to build a tracking view comparing forecast to actual call volume going forward, so the team can monitor accuracy over time rather than checking it once and moving 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2308" y="251460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6628" y="2807208"/>
            <a:ext cx="457200" cy="54864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06628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Basis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06628" y="347472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1's rates: Monday 6.958, Tuesday 5.498 … down to Sunday 0.000 — built from 39 days of dbo.IVR data, filtered to Inbound/Transfer calls with agent talk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1348" y="251460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5668" y="2807208"/>
            <a:ext cx="457200" cy="54864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1" name="Text 9"/>
          <p:cNvSpPr/>
          <p:nvPr/>
        </p:nvSpPr>
        <p:spPr>
          <a:xfrm>
            <a:off x="4655668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Basis Available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55668" y="347472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4's corrected baseline dataset: one row per day from July 2022 onward, with validated active customer counts, containment rate, and call volume.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0388" y="251460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04708" y="2807208"/>
            <a:ext cx="457200" cy="54864"/>
          </a:xfrm>
          <a:prstGeom prst="rect">
            <a:avLst/>
          </a:prstGeom>
          <a:solidFill>
            <a:srgbClr val="1E7B4D"/>
          </a:solidFill>
          <a:ln/>
        </p:spPr>
      </p:sp>
      <p:sp>
        <p:nvSpPr>
          <p:cNvPr id="15" name="Text 13"/>
          <p:cNvSpPr/>
          <p:nvPr/>
        </p:nvSpPr>
        <p:spPr>
          <a:xfrm>
            <a:off x="8404708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04708" y="347472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recomputed, trustworthy day-of-week rate set, plus a live view comparing forecasted vs. actual calls — both ready to hand to Jonathan.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7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Check: Were Calls Being Double-Counted?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recompute came back ~2x higher than Task 1's rates — too uniform a jump to be real growth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records include PreviousContactID / NextContactID fields, suggesting a single customer interaction could be split across multiple linked rows (e.g., initial contact → transfer → agent pickup). If each leg were logged separately, the same call could be counted 2–3 times.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205740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raw row count vs. COUNT(DISTINCT ContactID) by year. If duplication were happening, “rows per contact” would run meaningfully above 1.0 in the affected years.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074420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Ruled Out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553712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Rows-per-contact came back exactly 1.0 in every single year (2021–2026). ContactID is already unique per row — there is no multi-leg double-counting. This ruled out the numerator as the source of the inflation and pointed the investigation elsewhere.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7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Check: Was the Active Customer Count Wrong?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early-year customer counts were undercounted, the same call volume would divide into a smaller number and look like a higher rate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4's ActiveCustomerCount is built via an event-based net-change calculation (enrollments minus cancellations), not a direct daily snapshot. If the event log's history is thinner further back, the running total could understate true active customers in 2022–2023.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205740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the event-based count against a direct point-in-time snapshot (COUNT DISTINCT cust_id, active as of that date) from iSigma_Customer_Master, at one checkpoint per year, 2022–2026.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749040"/>
          <a:ext cx="9235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37744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Event-Based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Snapshot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2022-06-15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421,031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2023-06-15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525,108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2024-06-15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~586K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586,243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2025-06-15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624,179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~639K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639,077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989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Ruled Out — counts matched within ~1% at every checkpoint. The denominator was never the problem.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7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Answer: Two Things, Not 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 and denominator both checked out independently — the explanation was elsewhere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448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9488" y="2075688"/>
            <a:ext cx="457200" cy="54864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29488" y="2240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Genuine Behavioral Shift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488" y="28803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Raw call volume genuinely peaked in 2023–2024 and has declined since — not a counting artifact.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9488" y="38404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Both the numerator (calls) and denominator (active customers) were independently validated as accurate in every year.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9488" y="48006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This likely reflects real operational changes: improved IVR self-service/containment, or shifts in what drives customers to call.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448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44488" y="2075688"/>
            <a:ext cx="457200" cy="54864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644488" y="2240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Filter Mismatch Between Builds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44488" y="28803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Task 4's IVRDaily CTE counts all Care department calls (for containment/abandon-rate purposes) — it never applied Task 1's stricter filter.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4488" y="38404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Task 1 used: CallType IN ('Inbound','Transfer') AND AgentTalkTime &gt; 0. Task 4's TexasCalls is just COUNT(*) with queue exclusions.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44488" y="48006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This alone explained why Sunday was showing non-zero volume in the first recompute.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THE FIX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Fix — and Proving It Worked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Reapplied Task 1's exact call definition; used Sunday as an unambiguous validation check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Fix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31720"/>
          <a:ext cx="4754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Rate/1000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9.89  ← should be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160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non-zero was the tell that something was off.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7F8FA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331720"/>
          <a:ext cx="4754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Rate/1000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 ✓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537960" y="4160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 as Task 1 (Monday highest, Sunday zero) — only the magnitude shifted, by a modest and consistent 20–45%.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&amp; Blended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weight on Task 1's original rates, 60% on corrected 2025–2026 rates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17320"/>
                <a:gridCol w="128016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(39-day)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2025–2026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(final)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263640" y="1691640"/>
          <a:ext cx="5349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blend rather than use 2025–2026 alone? A single year still carries its own noise — blending smooths over either window being an outlier.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THE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Accuracy: 30-Day Tracking Check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dbo.IVR using the same call definition as the blended model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4846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Variance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Weekdays (Mon–Fri, non-holiday)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–8% to +6%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forecast tracks closely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–1% to +6%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— low absolute volume, still tight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(forecast = actual = 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by 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 (e.g., Jul 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–32% to –46%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gap — model doesn't yet flex for holidays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blended model tracks weekday and weekend call volume well. The two visible misses — holidays and same-day-in-progress data — are already understood and documented, not surprises. Both are listed as open items on the Next Steps slide, along with the plan for closing them.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can go from here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7647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holiday-specific adjustment factor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over-predicts on holidays and likely under-predicts the day after — a separate multiplier per holiday type would close this gap.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24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66090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dedicated weekend 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9992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variance runs higher in percentage terms due to smaller volume — a Saturday/Sunday-specific model could tighten this further.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21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55701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tracking query into a real 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8953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running as an ad hoc query due to a CREATE VIEW permission gap on Analytics_ConstellationWH — needs Royston or Jonathan to resolve so it can be scheduled and reused.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17136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4531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the 40/60 blend weighting periodically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7914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split is a reasonable starting assumption, not a statistically optimized one — worth revisiting as more 2025–2026 data accumulates.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413248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13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3492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tracking to Alberta once data availability allows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56875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dataset flags pre-2024-03-20 Alberta data as unavailable — forecast coverage could expand once that gap closes.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found, and how well it holds up against real data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Forecast Rates (calls per 1,000 customers)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28016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002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(30 Real Days Tested)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65960"/>
          <a:ext cx="5349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1732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Close?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~8%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reliable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~6%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zero — as expected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by 30–46%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gap — not adjusted yet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166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55961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is a reliable, ready-to-use model for weekdays and weekends, built on nearly 4 years of validated data. The two known gaps — holidays and same-day-in-progress reporting — are understood, documented, and already on the Next Steps list.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Call Forecast Refresh  |  South Mass Market &amp; Canada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2026-07-28T15:49:47Z</dcterms:created>
  <dcterms:modified xsi:type="dcterms:W3CDTF">2026-07-28T15:49:47Z</dcterms:modified>
</cp:coreProperties>
</file>