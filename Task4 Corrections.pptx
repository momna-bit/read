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3A5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3A5C"/>
                </a:solidFill>
                <a:latin typeface="Arial"/>
              </a:rPr>
              <a:t>Past-Due Count: Original vs. Corrected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Original (unfiltered)</c:v>
                </c:pt>
              </c:strCache>
            </c:strRef>
          </c:tx>
          <c:spPr>
            <a:solidFill>
              <a:srgbClr val="C9D6E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7/1</c:v>
                  </c:pt>
                  <c:pt idx="1">
                    <c:v>7/7</c:v>
                  </c:pt>
                  <c:pt idx="2">
                    <c:v>7/14</c:v>
                  </c:pt>
                  <c:pt idx="3">
                    <c:v>7/21</c:v>
                  </c:pt>
                  <c:pt idx="4">
                    <c:v>7/28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72681</c:v>
                </c:pt>
                <c:pt idx="1">
                  <c:v>82118</c:v>
                </c:pt>
                <c:pt idx="2">
                  <c:v>82128</c:v>
                </c:pt>
                <c:pt idx="3">
                  <c:v>68960</c:v>
                </c:pt>
                <c:pt idx="4">
                  <c:v>77328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Active-Only (corrected)</c:v>
                </c:pt>
              </c:strCache>
            </c:strRef>
          </c:tx>
          <c:spPr>
            <a:solidFill>
              <a:srgbClr val="3D8B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7/1</c:v>
                  </c:pt>
                  <c:pt idx="1">
                    <c:v>7/7</c:v>
                  </c:pt>
                  <c:pt idx="2">
                    <c:v>7/14</c:v>
                  </c:pt>
                  <c:pt idx="3">
                    <c:v>7/21</c:v>
                  </c:pt>
                  <c:pt idx="4">
                    <c:v>7/28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45012</c:v>
                </c:pt>
                <c:pt idx="1">
                  <c:v>54463</c:v>
                </c:pt>
                <c:pt idx="2">
                  <c:v>54785</c:v>
                </c:pt>
                <c:pt idx="3">
                  <c:v>42023</c:v>
                </c:pt>
                <c:pt idx="4">
                  <c:v>49264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FC1E0"/>
                </a:solidFill>
              </a:rPr>
              <a:t>TASK 4  ·  BASELINE FORECASTING DATASET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3774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Corrections Complete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4F0"/>
                </a:solidFill>
              </a:rPr>
              <a:t>All five of Jonathan's feedback items validated and applied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114800"/>
            <a:ext cx="2011680" cy="0"/>
          </a:xfrm>
          <a:prstGeom prst="line">
            <a:avLst/>
          </a:prstGeom>
          <a:noFill/>
          <a:ln w="38100">
            <a:solidFill>
              <a:srgbClr val="3D8B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1E0"/>
                </a:solidFill>
              </a:rPr>
              <a:t>Momna Ali  ·  Associate Data Scientist  ·  South Mass Market &amp; Canada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1E0"/>
                </a:solidFill>
              </a:rPr>
              <a:t>Prepared for Jonathan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Corrections, Fully Applied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F5F6F7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73936"/>
            <a:ext cx="402336" cy="402336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739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6002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</a:rPr>
              <a:t>Past-due active-status filter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965960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</a:rPr>
              <a:t>Now excludes inactive, pre-flow, and non-Texas-residential accounts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F5F6F7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779776"/>
            <a:ext cx="402336" cy="402336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797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606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</a:rPr>
              <a:t>Containment rate rebuilt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2971800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</a:rPr>
              <a:t>Uses Jonathan's real definition: verified + zero-queue calls, per market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F5F6F7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785616"/>
            <a:ext cx="402336" cy="402336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856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6118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</a:rPr>
              <a:t>Texas / Alberta split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3977640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</a:rPr>
              <a:t>Separated by queue naming, with a data-availability flag for the pre-2024 gap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526280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F5F6F7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791456"/>
            <a:ext cx="402336" cy="402336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7914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4617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</a:rPr>
              <a:t>Transfer counts combined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71600" y="4983480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</a:rPr>
              <a:t>Regular and escalation-queue transfers merged without double-counting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532120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F5F6F7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797296"/>
            <a:ext cx="402336" cy="402336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7972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71600" y="5623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</a:rPr>
              <a:t>Language field caveat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371600" y="5989320"/>
            <a:ext cx="9966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</a:rPr>
              <a:t>Documented as unreliable; queue tag and billing lookup are the real signal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Task 4 — Baseline Forecasting Dataset  |  Corrections Complete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5F6F7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3A5C"/>
                </a:solidFill>
              </a:rPr>
              <a:t>Past-due filter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749040" y="1664208"/>
            <a:ext cx="0" cy="621792"/>
          </a:xfrm>
          <a:prstGeom prst="line">
            <a:avLst/>
          </a:prstGeom>
          <a:noFill/>
          <a:ln w="12700">
            <a:solidFill>
              <a:srgbClr val="D0D5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77640" y="1645920"/>
            <a:ext cx="7452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Removes 33–38% of past-due records daily — inactive, pre-flow, or non-Texas-residential accounts were inflating the original count.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5F6F7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78608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3A5C"/>
                </a:solidFill>
              </a:rPr>
              <a:t>Containment rate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749040" y="2596896"/>
            <a:ext cx="0" cy="621792"/>
          </a:xfrm>
          <a:prstGeom prst="line">
            <a:avLst/>
          </a:prstGeom>
          <a:noFill/>
          <a:ln w="12700">
            <a:solidFill>
              <a:srgbClr val="D0D5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77640" y="2578608"/>
            <a:ext cx="7452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Sundays show 100% containment, consistent with no live agents staffed that day — rebuilt to Jonathan's real definition.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19856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5F6F7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511296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3A5C"/>
                </a:solidFill>
              </a:rPr>
              <a:t>Texas/Alberta split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749040" y="3529584"/>
            <a:ext cx="0" cy="621792"/>
          </a:xfrm>
          <a:prstGeom prst="line">
            <a:avLst/>
          </a:prstGeom>
          <a:noFill/>
          <a:ln w="12700">
            <a:solidFill>
              <a:srgbClr val="D0D5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77640" y="3511296"/>
            <a:ext cx="7452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Alberta queue data doesn't exist before March 2024 — a data-availability gap, not a market signal.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352544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5F6F7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443984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3A5C"/>
                </a:solidFill>
              </a:rPr>
              <a:t>Transfer combining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749040" y="4462272"/>
            <a:ext cx="0" cy="621792"/>
          </a:xfrm>
          <a:prstGeom prst="line">
            <a:avLst/>
          </a:prstGeom>
          <a:noFill/>
          <a:ln w="12700">
            <a:solidFill>
              <a:srgbClr val="D0D5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77640" y="4443984"/>
            <a:ext cx="7452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Combined total is always lower than Regular + Escalation summed — confirms no double-counting.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285232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5F6F7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37667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3A5C"/>
                </a:solidFill>
              </a:rPr>
              <a:t>Language field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3749040" y="5394960"/>
            <a:ext cx="0" cy="621792"/>
          </a:xfrm>
          <a:prstGeom prst="line">
            <a:avLst/>
          </a:prstGeom>
          <a:noFill/>
          <a:ln w="12700">
            <a:solidFill>
              <a:srgbClr val="D0D5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77640" y="5376672"/>
            <a:ext cx="7452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Only ~28% of calls carry a reliable queue-based language tag; the remaining ~72% have no signal at all.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Task 4 — Baseline Forecasting Dataset  |  Corrections Complete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Corrections Hold Up Against the Data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55778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754880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44444"/>
                </a:solidFill>
              </a:rPr>
              <a:t>~33–38% of past-due records were coming from inactive, pre-flow, or non-Texas-residential accounts — filtered out consistently across every day tested.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400800" y="141732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5F6F7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75120" y="157276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</a:rPr>
              <a:t>Containment Rate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75120" y="19202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Sundays show 100% containment — consistent with no live agents staffed that day. Rebuilt using verified-status + queue-time logic, per Jonathan's definition.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0" y="3200400"/>
            <a:ext cx="5212080" cy="1600200"/>
          </a:xfrm>
          <a:prstGeom prst="roundRect">
            <a:avLst>
              <a:gd name="adj" fmla="val 4571"/>
            </a:avLst>
          </a:prstGeom>
          <a:solidFill>
            <a:srgbClr val="F5F6F7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75120" y="335584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</a:rPr>
              <a:t>Transfer Combining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75120" y="370332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</a:rPr>
              <a:t>Combined total is consistently lower than Regular + Escalation summed — confirming calls transferred through both paths aren't double-counted. Sunday values correctly land at zero.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0" y="498348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EAF2EC"/>
          </a:solidFill>
          <a:ln/>
        </p:spPr>
      </p:sp>
      <p:sp>
        <p:nvSpPr>
          <p:cNvPr id="13" name="Text 10"/>
          <p:cNvSpPr/>
          <p:nvPr/>
        </p:nvSpPr>
        <p:spPr>
          <a:xfrm>
            <a:off x="6675120" y="507492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E8E5A"/>
                </a:solidFill>
              </a:rPr>
              <a:t>No exceptions found in any daily comparison — both corrections are ready to feed the full forecasting rebuild.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Task 4 — Baseline Forecasting Dataset  |  Corrections Complete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DISCOVERY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Alberta Queue Data Has a Timeline Gap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Investigating the Texas/Alberta split surfaced a data-availability issue, not a query bug: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914400" y="2286000"/>
            <a:ext cx="9875520" cy="0"/>
          </a:xfrm>
          <a:prstGeom prst="line">
            <a:avLst/>
          </a:prstGeom>
          <a:noFill/>
          <a:ln w="38100">
            <a:solidFill>
              <a:srgbClr val="D0D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2104" y="2203704"/>
            <a:ext cx="164592" cy="164592"/>
          </a:xfrm>
          <a:prstGeom prst="ellipse">
            <a:avLst/>
          </a:prstGeom>
          <a:solidFill>
            <a:srgbClr val="B0B7B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" y="2423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</a:rPr>
              <a:t>Jul 2022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" y="272491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Baseline dataset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starts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769864" y="2203704"/>
            <a:ext cx="164592" cy="164592"/>
          </a:xfrm>
          <a:prstGeom prst="ellipse">
            <a:avLst/>
          </a:prstGeom>
          <a:solidFill>
            <a:srgbClr val="3D8B8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2423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</a:rPr>
              <a:t>Mar 2024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272491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Alberta billing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queues go live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707624" y="2203704"/>
            <a:ext cx="164592" cy="164592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9966960" y="2423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A5C"/>
                </a:solidFill>
              </a:rPr>
              <a:t>Jul 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966960" y="2724912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Present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4400" y="1783080"/>
            <a:ext cx="4937760" cy="365760"/>
          </a:xfrm>
          <a:prstGeom prst="roundRect">
            <a:avLst>
              <a:gd name="adj" fmla="val 10000"/>
            </a:avLst>
          </a:prstGeom>
          <a:solidFill>
            <a:srgbClr val="F0DDC7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1801368"/>
            <a:ext cx="4937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860B"/>
                </a:solidFill>
              </a:rPr>
              <a:t>No Alberta queue activity in this window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F5F6F7"/>
          </a:solidFill>
          <a:ln w="12700">
            <a:solidFill>
              <a:srgbClr val="E3E6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88620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3A5C"/>
                </a:solidFill>
              </a:rPr>
              <a:t>What this means for the dataset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" y="420624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Alberta shows zero Care calls from July 2022–March 2024 because the queue data doesn't exist yet — not because Alberta had no volume. The corrected query now carries an explicit AlbertaDataAvailability flag so this isn't mistaken for a real market signal.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3492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CEFDD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4406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60B"/>
                </a:solidFill>
              </a:rPr>
              <a:t>Open question for Jonathan: was Alberta a new market/product launch in 2024, or did it exist earlier under a different queue naming convention this table doesn't capture?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Task 4 — Baseline Forecasting Dataset  |  Corrections Complete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&amp; 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Signal Gap, and Where We Go Deeper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114800" cy="3291840"/>
          </a:xfrm>
          <a:prstGeom prst="roundRect">
            <a:avLst>
              <a:gd name="adj" fmla="val 2222"/>
            </a:avLst>
          </a:prstGeom>
          <a:solidFill>
            <a:srgbClr val="1A3A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72%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6E4F0"/>
                </a:solidFill>
              </a:rPr>
              <a:t>of Care calls route through queues with no ENG/SPA tag at all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005840" y="3657600"/>
            <a:ext cx="3566160" cy="0"/>
          </a:xfrm>
          <a:prstGeom prst="line">
            <a:avLst/>
          </a:prstGeom>
          <a:noFill/>
          <a:ln w="12700">
            <a:solidFill>
              <a:srgbClr val="3A5A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7947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0"/>
                </a:solidFill>
              </a:rPr>
              <a:t>Only ~28% of calls carry a reliable queue-based language signal. The account-level Language field defaults to English for unverified callers — it is not a substitute.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0" y="150876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</a:rPr>
              <a:t>Going Deeper From Here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937760" y="2020824"/>
            <a:ext cx="128016" cy="128016"/>
          </a:xfrm>
          <a:prstGeom prst="ellipse">
            <a:avLst/>
          </a:prstGeom>
          <a:solidFill>
            <a:srgbClr val="3D8B8B"/>
          </a:solidFill>
          <a:ln/>
        </p:spPr>
      </p:sp>
      <p:sp>
        <p:nvSpPr>
          <p:cNvPr id="11" name="Text 9"/>
          <p:cNvSpPr/>
          <p:nvPr/>
        </p:nvSpPr>
        <p:spPr>
          <a:xfrm>
            <a:off x="5257800" y="1892808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Pair the language caveat with a billing-system lookup so every call — not just the 28% with a queue tag — has a trustworthy language signal.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2889504"/>
            <a:ext cx="128016" cy="128016"/>
          </a:xfrm>
          <a:prstGeom prst="ellipse">
            <a:avLst/>
          </a:prstGeom>
          <a:solidFill>
            <a:srgbClr val="3D8B8B"/>
          </a:solidFill>
          <a:ln/>
        </p:spPr>
      </p:sp>
      <p:sp>
        <p:nvSpPr>
          <p:cNvPr id="13" name="Text 11"/>
          <p:cNvSpPr/>
          <p:nvPr/>
        </p:nvSpPr>
        <p:spPr>
          <a:xfrm>
            <a:off x="5257800" y="2761488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Confirm with Jonathan whether Alberta launched in 2024 or existed earlier under different queue names, then decide whether to backfill or document the gap.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37760" y="3758184"/>
            <a:ext cx="128016" cy="128016"/>
          </a:xfrm>
          <a:prstGeom prst="ellipse">
            <a:avLst/>
          </a:prstGeom>
          <a:solidFill>
            <a:srgbClr val="3D8B8B"/>
          </a:solidFill>
          <a:ln/>
        </p:spPr>
      </p:sp>
      <p:sp>
        <p:nvSpPr>
          <p:cNvPr id="15" name="Text 13"/>
          <p:cNvSpPr/>
          <p:nvPr/>
        </p:nvSpPr>
        <p:spPr>
          <a:xfrm>
            <a:off x="5257800" y="3630168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Apply all five corrections to rebuild the full Task 4 forecasting dataset end-to-end, rather than validating them as standalone queries.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4626864"/>
            <a:ext cx="128016" cy="128016"/>
          </a:xfrm>
          <a:prstGeom prst="ellipse">
            <a:avLst/>
          </a:prstGeom>
          <a:solidFill>
            <a:srgbClr val="3D8B8B"/>
          </a:solidFill>
          <a:ln/>
        </p:spPr>
      </p:sp>
      <p:sp>
        <p:nvSpPr>
          <p:cNvPr id="17" name="Text 15"/>
          <p:cNvSpPr/>
          <p:nvPr/>
        </p:nvSpPr>
        <p:spPr>
          <a:xfrm>
            <a:off x="5257800" y="4498848"/>
            <a:ext cx="62179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Revisit the still-open Spanish-language bill-explanation breakdown (Task 3) using the billing-system signal instead of the unreliable Language field.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Task 4 — Baseline Forecasting Dataset  |  Corrections Complete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2026-07-24T12:48:51Z</dcterms:created>
  <dcterms:modified xsi:type="dcterms:W3CDTF">2026-07-24T12:48:51Z</dcterms:modified>
</cp:coreProperties>
</file>