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910" y="1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4061"/>
                </a:solidFill>
                <a:latin typeface="Arial"/>
              </a:rPr>
              <a:t>Forecasted Call Volume by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per 1,000 Customers</c:v>
                </c:pt>
              </c:strCache>
            </c:strRef>
          </c:tx>
          <c:spPr>
            <a:solidFill>
              <a:srgbClr val="005CB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40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7.8140000000000001</c:v>
                </c:pt>
                <c:pt idx="1">
                  <c:v>6.5129999999999999</c:v>
                </c:pt>
                <c:pt idx="2">
                  <c:v>5.8719999999999999</c:v>
                </c:pt>
                <c:pt idx="3">
                  <c:v>5.1879999999999997</c:v>
                </c:pt>
                <c:pt idx="4">
                  <c:v>5.3970000000000002</c:v>
                </c:pt>
                <c:pt idx="5">
                  <c:v>2.1619999999999999</c:v>
                </c:pt>
                <c:pt idx="6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797566848"/>
        <c:axId val="-1797566304"/>
      </c:barChart>
      <c:catAx>
        <c:axId val="-17975668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97566304"/>
        <c:crosses val="autoZero"/>
        <c:auto val="1"/>
        <c:lblAlgn val="ctr"/>
        <c:lblOffset val="100"/>
        <c:noMultiLvlLbl val="1"/>
      </c:catAx>
      <c:valAx>
        <c:axId val="-179756630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97566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4061"/>
                </a:solidFill>
                <a:latin typeface="Arial"/>
              </a:rPr>
              <a:t>Narrowing the Target Population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F4A6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40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Bill-Related Callers</c:v>
                </c:pt>
                <c:pt idx="1">
                  <c:v>Precisely Flagged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24878</c:v>
                </c:pt>
                <c:pt idx="1">
                  <c:v>900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797565216"/>
        <c:axId val="-1797564672"/>
      </c:barChart>
      <c:catAx>
        <c:axId val="-17975652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97564672"/>
        <c:crosses val="autoZero"/>
        <c:auto val="1"/>
        <c:lblAlgn val="ctr"/>
        <c:lblOffset val="100"/>
        <c:noMultiLvlLbl val="1"/>
      </c:catAx>
      <c:valAx>
        <c:axId val="-179756467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97565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4061"/>
                </a:solidFill>
                <a:latin typeface="Arial"/>
              </a:rPr>
              <a:t>Call Abandonment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Abandonment Rate (%)</c:v>
                </c:pt>
              </c:strCache>
            </c:strRef>
          </c:tx>
          <c:spPr>
            <a:solidFill>
              <a:srgbClr val="0040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40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June
(Typical)</c:v>
                </c:pt>
                <c:pt idx="1">
                  <c:v>Early July</c:v>
                </c:pt>
                <c:pt idx="2">
                  <c:v>Mon After
Holiday</c:v>
                </c:pt>
                <c:pt idx="3">
                  <c:v>Day After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9</c:v>
                </c:pt>
                <c:pt idx="2">
                  <c:v>18</c:v>
                </c:pt>
                <c:pt idx="3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801341232"/>
        <c:axId val="-1801341776"/>
      </c:barChart>
      <c:catAx>
        <c:axId val="-1801341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801341776"/>
        <c:crosses val="autoZero"/>
        <c:auto val="1"/>
        <c:lblAlgn val="ctr"/>
        <c:lblOffset val="100"/>
        <c:noMultiLvlLbl val="1"/>
      </c:catAx>
      <c:valAx>
        <c:axId val="-1801341776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801341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4061"/>
                </a:solidFill>
                <a:latin typeface="Arial"/>
              </a:rPr>
              <a:t>Assumed vs. Actual Removal Rate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New-Enrollee Removal Rate (%)</c:v>
                </c:pt>
              </c:strCache>
            </c:strRef>
          </c:tx>
          <c:spPr>
            <a:solidFill>
              <a:srgbClr val="F4A6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40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Original Estimate</c:v>
                </c:pt>
                <c:pt idx="1">
                  <c:v>Verified Finding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15.2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801339056"/>
        <c:axId val="-1801340688"/>
      </c:barChart>
      <c:catAx>
        <c:axId val="-1801339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801340688"/>
        <c:crosses val="autoZero"/>
        <c:auto val="1"/>
        <c:lblAlgn val="ctr"/>
        <c:lblOffset val="100"/>
        <c:noMultiLvlLbl val="1"/>
      </c:catAx>
      <c:valAx>
        <c:axId val="-1801340688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801339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4061"/>
                </a:solidFill>
                <a:latin typeface="Arial"/>
              </a:rPr>
              <a:t>Call Volume Seasonality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Seasonal Index</c:v>
                </c:pt>
              </c:strCache>
            </c:strRef>
          </c:tx>
          <c:spPr>
            <a:solidFill>
              <a:srgbClr val="00B9B3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1.107</c:v>
                </c:pt>
                <c:pt idx="1">
                  <c:v>1.214</c:v>
                </c:pt>
                <c:pt idx="2">
                  <c:v>1.0489999999999999</c:v>
                </c:pt>
                <c:pt idx="3">
                  <c:v>0.93100000000000005</c:v>
                </c:pt>
                <c:pt idx="4">
                  <c:v>0.92800000000000005</c:v>
                </c:pt>
                <c:pt idx="5">
                  <c:v>0.95499999999999996</c:v>
                </c:pt>
                <c:pt idx="6">
                  <c:v>1.0740000000000001</c:v>
                </c:pt>
                <c:pt idx="7">
                  <c:v>1.085</c:v>
                </c:pt>
                <c:pt idx="8">
                  <c:v>1.0589999999999999</c:v>
                </c:pt>
                <c:pt idx="9">
                  <c:v>0.93500000000000005</c:v>
                </c:pt>
                <c:pt idx="10">
                  <c:v>0.84799999999999998</c:v>
                </c:pt>
                <c:pt idx="11">
                  <c:v>0.80200000000000005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798515664"/>
        <c:axId val="-1798512944"/>
      </c:barChart>
      <c:catAx>
        <c:axId val="-1798515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98512944"/>
        <c:crosses val="autoZero"/>
        <c:auto val="1"/>
        <c:lblAlgn val="ctr"/>
        <c:lblOffset val="100"/>
        <c:noMultiLvlLbl val="1"/>
      </c:catAx>
      <c:valAx>
        <c:axId val="-179851294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98515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4061"/>
                </a:solidFill>
                <a:latin typeface="Arial"/>
              </a:rPr>
              <a:t>Top Call Drivers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 (180 Days)</c:v>
                </c:pt>
              </c:strCache>
            </c:strRef>
          </c:tx>
          <c:spPr>
            <a:solidFill>
              <a:srgbClr val="005CB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040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Payment
Arrangement</c:v>
                </c:pt>
                <c:pt idx="1">
                  <c:v>Bill
Explanation</c:v>
                </c:pt>
                <c:pt idx="2">
                  <c:v>Payment
Help</c:v>
                </c:pt>
                <c:pt idx="3">
                  <c:v>Payment
Status</c:v>
                </c:pt>
                <c:pt idx="4">
                  <c:v>Enrollment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51279</c:v>
                </c:pt>
                <c:pt idx="1">
                  <c:v>35421</c:v>
                </c:pt>
                <c:pt idx="2">
                  <c:v>29642</c:v>
                </c:pt>
                <c:pt idx="3">
                  <c:v>20529</c:v>
                </c:pt>
                <c:pt idx="4">
                  <c:v>20460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798514576"/>
        <c:axId val="-1798515120"/>
      </c:barChart>
      <c:catAx>
        <c:axId val="-1798514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98515120"/>
        <c:crosses val="autoZero"/>
        <c:auto val="1"/>
        <c:lblAlgn val="ctr"/>
        <c:lblOffset val="100"/>
        <c:noMultiLvlLbl val="1"/>
      </c:catAx>
      <c:valAx>
        <c:axId val="-1798515120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98514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00BB8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  <c:pt idx="4">
                  <c:v>Dec</c:v>
                </c:pt>
                <c:pt idx="5">
                  <c:v>Jan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638560</c:v>
                </c:pt>
                <c:pt idx="1">
                  <c:v>637993</c:v>
                </c:pt>
                <c:pt idx="2">
                  <c:v>637941</c:v>
                </c:pt>
                <c:pt idx="3">
                  <c:v>637939</c:v>
                </c:pt>
                <c:pt idx="4">
                  <c:v>637939</c:v>
                </c:pt>
                <c:pt idx="5">
                  <c:v>637939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798512400"/>
        <c:axId val="-1798514032"/>
      </c:barChart>
      <c:catAx>
        <c:axId val="-17985124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98514032"/>
        <c:crosses val="autoZero"/>
        <c:auto val="1"/>
        <c:lblAlgn val="ctr"/>
        <c:lblOffset val="100"/>
        <c:noMultiLvlLbl val="1"/>
      </c:catAx>
      <c:valAx>
        <c:axId val="-1798514032"/>
        <c:scaling>
          <c:orientation val="minMax"/>
          <c:max val="645000"/>
          <c:min val="630000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98512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Calls</c:v>
                </c:pt>
              </c:strCache>
            </c:strRef>
          </c:tx>
          <c:spPr>
            <a:solidFill>
              <a:srgbClr val="005CB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  <c:pt idx="4">
                  <c:v>Dec</c:v>
                </c:pt>
                <c:pt idx="5">
                  <c:v>Jan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82410</c:v>
                </c:pt>
                <c:pt idx="1">
                  <c:v>81419</c:v>
                </c:pt>
                <c:pt idx="2">
                  <c:v>72313</c:v>
                </c:pt>
                <c:pt idx="3">
                  <c:v>63328</c:v>
                </c:pt>
                <c:pt idx="4">
                  <c:v>63838</c:v>
                </c:pt>
                <c:pt idx="5">
                  <c:v>82520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798513488"/>
        <c:axId val="-1754578704"/>
      </c:barChart>
      <c:catAx>
        <c:axId val="-1798513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54578704"/>
        <c:crosses val="autoZero"/>
        <c:auto val="1"/>
        <c:lblAlgn val="ctr"/>
        <c:lblOffset val="100"/>
        <c:noMultiLvlLbl val="1"/>
      </c:catAx>
      <c:valAx>
        <c:axId val="-175457870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-1798513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798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3047924" cy="548640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6309360"/>
            <a:ext cx="3047924" cy="548640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6309360"/>
            <a:ext cx="3047924" cy="548640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6309360"/>
            <a:ext cx="3047924" cy="548640"/>
          </a:xfrm>
          <a:prstGeom prst="rect">
            <a:avLst/>
          </a:prstGeom>
          <a:solidFill>
            <a:srgbClr val="00B9B3"/>
          </a:solidFill>
          <a:ln/>
        </p:spPr>
      </p:sp>
      <p:pic>
        <p:nvPicPr>
          <p:cNvPr id="6" name="Image 0" descr="/home/claude/remy_deck/ig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417320" cy="3694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MASS MARKET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10" name="Image 1" descr="/home/claude/remy_deck/ig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So Far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workstreams, one connected body of work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005CB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633472"/>
            <a:ext cx="457200" cy="45720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Dataset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92224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9" name="Shape 7"/>
          <p:cNvSpPr/>
          <p:nvPr/>
        </p:nvSpPr>
        <p:spPr>
          <a:xfrm>
            <a:off x="1938528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00BB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40864" y="2633472"/>
            <a:ext cx="457200" cy="45720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11" name="Text 9"/>
          <p:cNvSpPr/>
          <p:nvPr/>
        </p:nvSpPr>
        <p:spPr>
          <a:xfrm>
            <a:off x="2340864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84248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Forecast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82112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14" name="Shape 12"/>
          <p:cNvSpPr/>
          <p:nvPr/>
        </p:nvSpPr>
        <p:spPr>
          <a:xfrm>
            <a:off x="3328416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F4A6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0752" y="2633472"/>
            <a:ext cx="457200" cy="45720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6" name="Text 14"/>
          <p:cNvSpPr/>
          <p:nvPr/>
        </p:nvSpPr>
        <p:spPr>
          <a:xfrm>
            <a:off x="3730752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74136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Usage-Alert Targeting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19" name="Shape 17"/>
          <p:cNvSpPr/>
          <p:nvPr/>
        </p:nvSpPr>
        <p:spPr>
          <a:xfrm>
            <a:off x="4718304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00B9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633472"/>
            <a:ext cx="457200" cy="457200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64024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&amp; Abandonment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61888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8192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005C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2633472"/>
            <a:ext cx="457200" cy="45720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53912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Removal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51776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0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00BB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00416" y="2633472"/>
            <a:ext cx="457200" cy="45720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31" name="Text 29"/>
          <p:cNvSpPr/>
          <p:nvPr/>
        </p:nvSpPr>
        <p:spPr>
          <a:xfrm>
            <a:off x="7900416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43800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Refresh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41664" y="3035808"/>
            <a:ext cx="164592" cy="228600"/>
          </a:xfrm>
          <a:prstGeom prst="rightArrow">
            <a:avLst/>
          </a:prstGeom>
          <a:solidFill>
            <a:srgbClr val="44546A"/>
          </a:solidFill>
          <a:ln/>
        </p:spPr>
      </p:sp>
      <p:sp>
        <p:nvSpPr>
          <p:cNvPr id="34" name="Shape 32"/>
          <p:cNvSpPr/>
          <p:nvPr/>
        </p:nvSpPr>
        <p:spPr>
          <a:xfrm>
            <a:off x="8887968" y="2468880"/>
            <a:ext cx="1261872" cy="1371600"/>
          </a:xfrm>
          <a:prstGeom prst="roundRect">
            <a:avLst>
              <a:gd name="adj" fmla="val 5797"/>
            </a:avLst>
          </a:prstGeom>
          <a:solidFill>
            <a:srgbClr val="F5F8FA"/>
          </a:solidFill>
          <a:ln w="19050">
            <a:solidFill>
              <a:srgbClr val="F4A6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90304" y="2633472"/>
            <a:ext cx="457200" cy="45720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36" name="Text 34"/>
          <p:cNvSpPr/>
          <p:nvPr/>
        </p:nvSpPr>
        <p:spPr>
          <a:xfrm>
            <a:off x="9290304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33688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Outlook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680192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323576" y="3154680"/>
            <a:ext cx="11704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workstream builds on the </a:t>
            </a:r>
            <a:r>
              <a:rPr lang="en-US" sz="1300" dirty="0" smtClean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last, the </a:t>
            </a: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dataset feeds the forecast, the forecast reveals the credit-quality signal, and that signal now points toward a proactive alert model. This is a compounding body of work, not eight disconnected projects.</a:t>
            </a:r>
            <a:endParaRPr lang="en-US" sz="1300" dirty="0"/>
          </a:p>
        </p:txBody>
      </p:sp>
      <p:pic>
        <p:nvPicPr>
          <p:cNvPr id="46" name="Image 0" descr="/home/claude/remy_deck/ig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Forecasting Dataset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 for forecasting was scattered across five separate corrections and systems, each run as a standalone piece.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end-to-end: all five corrections now run as one connected pipeline, producing one row per day since July 2022, plus two new pieces — active customer count and queue classification.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6002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05CB9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66760" y="1833372"/>
            <a:ext cx="502920" cy="36576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221992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0BB8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2219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66760" y="2455164"/>
            <a:ext cx="502920" cy="36576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843784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4A6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84378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Past-Due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66760" y="3076956"/>
            <a:ext cx="502920" cy="36576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3465576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0B9B3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46557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Metrics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66760" y="3698748"/>
            <a:ext cx="502920" cy="36576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4087368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05CB9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08736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Count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66760" y="4320540"/>
            <a:ext cx="502920" cy="36576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2706624"/>
            <a:ext cx="1737360" cy="1234440"/>
          </a:xfrm>
          <a:prstGeom prst="roundRect">
            <a:avLst>
              <a:gd name="adj" fmla="val 7407"/>
            </a:avLst>
          </a:prstGeom>
          <a:solidFill>
            <a:srgbClr val="004061"/>
          </a:solidFill>
          <a:ln/>
        </p:spPr>
      </p:sp>
      <p:sp>
        <p:nvSpPr>
          <p:cNvPr id="25" name="Text 23"/>
          <p:cNvSpPr/>
          <p:nvPr/>
        </p:nvSpPr>
        <p:spPr>
          <a:xfrm>
            <a:off x="9006840" y="2706624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 count validated independently against the usage-alert model — 642,534 vs. 640,860, within 0.3% of each other, built from two completely different queries.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the small snapshot-timing gap, and move the queue exclusion list into a proper reference table.</a:t>
            </a:r>
            <a:endParaRPr lang="en-US" sz="1050" dirty="0"/>
          </a:p>
        </p:txBody>
      </p:sp>
      <p:pic>
        <p:nvPicPr>
          <p:cNvPr id="30" name="Image 0" descr="/home/claude/remy_deck/ig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Volume Forecasting Model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way to predict daily </a:t>
            </a:r>
            <a:r>
              <a:rPr lang="en-US" sz="115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</a:t>
            </a:r>
            <a:r>
              <a:rPr lang="en-US" sz="1150" smtClean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staffing </a:t>
            </a: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were reactive to whatever came in that day.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a day-of-week forecasting model, then extended it using the full corrected dataset to reflect how calling behavior has genuinely changed over time.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92240" y="1554480"/>
          <a:ext cx="51206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now accurate to within -8% to +6% against real results, with known limitations (holidays) identified and documented up front.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periodically as IVR/phone system changes continue to roll out.</a:t>
            </a:r>
            <a:endParaRPr lang="en-US" sz="1050" dirty="0"/>
          </a:p>
        </p:txBody>
      </p:sp>
      <p:pic>
        <p:nvPicPr>
          <p:cNvPr id="14" name="Image 0" descr="/home/claude/remy_deck/ig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21442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 BUILT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Usage-Alert Targeting Model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648,860 active customers, no way existed to identify which of the 24,878 who called about a bill needed proactive outreach.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targeting model combining credit standing, deposit status, and contact history to flag the right customers.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92240" y="1554480"/>
          <a:ext cx="51206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nearly 25,000 potential contacts down to a precise, actionable list of under 1,000 (3.6%).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directly into the proactive Bill Shock Alert model (see later in this deck).</a:t>
            </a:r>
            <a:endParaRPr lang="en-US" sz="1050" dirty="0"/>
          </a:p>
        </p:txBody>
      </p:sp>
      <p:pic>
        <p:nvPicPr>
          <p:cNvPr id="14" name="Image 0" descr="/home/claude/remy_deck/ig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Call Volume &amp; Abandonment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abandonment was rising with no clear explanation available for leadership.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down call volume and abandonment patterns by day of week to isolate the pattern.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92240" y="1554480"/>
          <a:ext cx="51206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the spike to a predictable holiday-Monday surge — a plannable staffing pattern, not a system failure.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 this pattern around upcoming holidays.</a:t>
            </a:r>
            <a:endParaRPr lang="en-US" sz="1050" dirty="0"/>
          </a:p>
        </p:txBody>
      </p:sp>
      <p:pic>
        <p:nvPicPr>
          <p:cNvPr id="14" name="Image 0" descr="/home/claude/remy_deck/ig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Removal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56816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believed new customers were the primary driver of autopay cancellations, estimated at 38%.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that assumption against real enrollment history, then dug into specific call drivers behind removals.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5760720" cy="146304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Happening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Draft-Date Timing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Autopay pulls on the 1st, disrupting cash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Shock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Surprise activation fee on a tiny first bill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Consent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disputes ever agreeing to autopay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/>
          <p:cNvGraphicFramePr/>
          <p:nvPr/>
        </p:nvGraphicFramePr>
        <p:xfrm>
          <a:off x="6492240" y="1554480"/>
          <a:ext cx="51206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driver was long-tenured customers nearing their due date (15.2% true rate), plus three concrete, distinct mechanisms identified above.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often each driver appears across removal calls; loop in the Ops team on the consent process question.</a:t>
            </a:r>
            <a:endParaRPr lang="en-US" sz="1050" dirty="0"/>
          </a:p>
        </p:txBody>
      </p:sp>
      <p:pic>
        <p:nvPicPr>
          <p:cNvPr id="15" name="Image 0" descr="/home/claude/remy_deck/ig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9522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WORKSTREAM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Refresh: Seasonality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didn't account for seasonality and no longer reflected current customer calling behavior.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seasonal index by month, normalized against each year's own average to isolate the true seasonal pattern.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00800" y="1554480"/>
          <a:ext cx="52120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peak in January/February (up to 21% above average) — not summer, as originally assumed.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the 6-month forecast update (see later in this deck).</a:t>
            </a:r>
            <a:endParaRPr lang="en-US" sz="1050" dirty="0"/>
          </a:p>
        </p:txBody>
      </p:sp>
      <p:pic>
        <p:nvPicPr>
          <p:cNvPr id="14" name="Image 0" descr="/home/claude/remy_deck/ig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REMY THIS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Predicts Call Rate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to the customer-quality conversation — which customers cost more to serve long-term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5486400" cy="18288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371600"/>
                <a:gridCol w="118872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(≤500)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(700+)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$200–$300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4A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$300–$400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4A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4A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calls per customer, by bill size and credit tier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537960" y="169164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5F8FA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1828800"/>
            <a:ext cx="46177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bill size, low-credit customers call 2.6–3.0x more often than high-credit customers.</a:t>
            </a:r>
            <a:endParaRPr lang="en-US" sz="1300" dirty="0"/>
          </a:p>
        </p:txBody>
      </p:sp>
      <p:sp>
        <p:nvSpPr>
          <p:cNvPr id="6" name="Text 7"/>
          <p:cNvSpPr/>
          <p:nvPr/>
        </p:nvSpPr>
        <p:spPr>
          <a:xfrm>
            <a:off x="548640" y="39776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23367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flagged a concern: would cohort cells have enough volume to be statistically solid?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39776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4233672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cohort cell has healthy volume (smallest: 5,830 customers) — and credit quality is the stronger signal, not bill size.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data-backed answer to which customers cost more to serve long-term — relevant directly to onboarding and credit-pass-threshold decisions.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cohort-based forecasting model using this signal.</a:t>
            </a:r>
            <a:endParaRPr lang="en-US" sz="1050" dirty="0"/>
          </a:p>
        </p:txBody>
      </p:sp>
      <p:pic>
        <p:nvPicPr>
          <p:cNvPr id="18" name="Image 0" descr="/home/claude/remy_deck/ig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9522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WORKSTREAM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Refresh: Call-Reason Breakdown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knew total call volume, but not which specific issues were actually driving it.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6382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call-reason breakdown tied to the LLM call-classification pipeline, covering the last 180 days.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00800" y="1554480"/>
          <a:ext cx="52120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Arrangement is the single largest driver (~51,000 calls) — confirming it's about a quarter of all calls and the top target for self-service.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self-service investment specifically in the Payment Arrangement flow.</a:t>
            </a:r>
            <a:endParaRPr lang="en-US" sz="1050" dirty="0"/>
          </a:p>
        </p:txBody>
      </p:sp>
      <p:pic>
        <p:nvPicPr>
          <p:cNvPr id="14" name="Image 0" descr="/home/claude/remy_deck/ig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1568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WEEK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Forecast: Behavior, Not Population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question: is seasonality driven by customer count, or real calling behavior?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(Flat)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10312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Forecasted Calls (Swings 23%)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217920" y="210312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0749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5F8FA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change less than 0.1% across 6 months, while call volume swings 23% — proving the seasonal pattern is real customer behavior.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5779008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9F2FF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5824728"/>
            <a:ext cx="10698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0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real results as August and September actually land.</a:t>
            </a:r>
            <a:endParaRPr lang="en-US" sz="1050" dirty="0"/>
          </a:p>
        </p:txBody>
      </p:sp>
      <p:pic>
        <p:nvPicPr>
          <p:cNvPr id="14" name="Image 0" descr="/home/claude/remy_deck/igs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eight workstreams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46504"/>
            <a:ext cx="365760" cy="54864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is now accurate and behavior-aware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+ seasonal model tracks within -8% to +6%, confirmed as real customer behavior, not a population effect.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798064"/>
            <a:ext cx="365760" cy="54864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is the strongest customer-risk signal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2735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call rate better than bill size — directly relevant to onboarding and credit-threshold decisions.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F5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849624"/>
            <a:ext cx="365760" cy="54864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77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major assumptions were corrected with real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325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removal rate (38% → 15.2%) and forecast seasonality (summer → winter peak) both went against what the team assumed.</a:t>
            </a:r>
            <a:endParaRPr lang="en-US" sz="1150" dirty="0"/>
          </a:p>
        </p:txBody>
      </p:sp>
      <p:pic>
        <p:nvPicPr>
          <p:cNvPr id="20" name="Image 0" descr="/home/claude/remy_deck/ig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40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my_deck/ig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1280160" cy="3337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this momentum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2940" y="2111473"/>
            <a:ext cx="365760" cy="36576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9" name="Text 6"/>
          <p:cNvSpPr/>
          <p:nvPr/>
        </p:nvSpPr>
        <p:spPr>
          <a:xfrm>
            <a:off x="1081735" y="201625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cohort-based forecasting model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81735" y="226085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validated credit-quality signal.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2940" y="2962656"/>
            <a:ext cx="365760" cy="36576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2" name="Text 9"/>
          <p:cNvSpPr/>
          <p:nvPr/>
        </p:nvSpPr>
        <p:spPr>
          <a:xfrm>
            <a:off x="1081735" y="285292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customer-level drivers into the aggregate forecast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28700" y="2852928"/>
            <a:ext cx="10332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credit quality and bill trend with the day-of-week/seasonal model.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2940" y="4046220"/>
            <a:ext cx="365760" cy="365760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5" name="Text 12"/>
          <p:cNvSpPr/>
          <p:nvPr/>
        </p:nvSpPr>
        <p:spPr>
          <a:xfrm>
            <a:off x="1081735" y="3937457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autopay driver investigation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28700" y="417423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Quantify </a:t>
            </a:r>
            <a:r>
              <a:rPr lang="en-US" sz="110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draft-date, fee-shock, and consent issues across removal calls.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2940" y="5077206"/>
            <a:ext cx="365760" cy="36576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8" name="Text 15"/>
          <p:cNvSpPr/>
          <p:nvPr/>
        </p:nvSpPr>
        <p:spPr>
          <a:xfrm>
            <a:off x="1140299" y="4985766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6-month forecast against real results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40299" y="526765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August and September actually land.</a:t>
            </a:r>
            <a:endParaRPr lang="en-US" sz="1100" dirty="0"/>
          </a:p>
        </p:txBody>
      </p:sp>
      <p:pic>
        <p:nvPicPr>
          <p:cNvPr id="20" name="Image 1" descr="/home/claude/remy_deck/ig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1221</Words>
  <Application>Microsoft Office PowerPoint</Application>
  <PresentationFormat>Widescreen</PresentationFormat>
  <Paragraphs>177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2</cp:revision>
  <dcterms:created xsi:type="dcterms:W3CDTF">2026-07-30T19:02:40Z</dcterms:created>
  <dcterms:modified xsi:type="dcterms:W3CDTF">2026-07-30T19:20:26Z</dcterms:modified>
</cp:coreProperties>
</file>