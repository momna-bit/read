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Calibri"/>
              </a:rPr>
              <a:t>Forecast Error by Time-Bucket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(%)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15-min</c:v>
                  </c:pt>
                  <c:pt idx="1">
                    <c:v>30-min</c:v>
                  </c:pt>
                  <c:pt idx="2">
                    <c:v>Hourly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47.9</c:v>
                </c:pt>
                <c:pt idx="1">
                  <c:v>42.6</c:v>
                </c:pt>
                <c:pt idx="2">
                  <c:v>44.6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E7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Avg. Error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Calibri"/>
              </a:rPr>
              <a:t>18 Requested Texas South Care Queues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Queues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CB9"/>
              </a:solidFill>
              <a:effectLst/>
            </c:spPr>
          </c:dPt>
          <c:dPt>
            <c:idx val="1"/>
            <c:bubble3D val="0"/>
            <c:spPr>
              <a:solidFill>
                <a:srgbClr val="00B9B3"/>
              </a:solidFill>
              <a:effectLst/>
            </c:spPr>
          </c:dPt>
          <c:dPt>
            <c:idx val="2"/>
            <c:bubble3D val="0"/>
            <c:spPr>
              <a:solidFill>
                <a:srgbClr val="F4A600"/>
              </a:solidFill>
              <a:effectLst/>
            </c:spPr>
          </c:dPt>
          <c:dPt>
            <c:idx val="3"/>
            <c:bubble3D val="0"/>
            <c:spPr>
              <a:solidFill>
                <a:srgbClr val="9AA5B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Forecastable Now (15-min)</c:v>
                </c:pt>
                <c:pt idx="1">
                  <c:v>Sparse / Daily-Only</c:v>
                </c:pt>
                <c:pt idx="2">
                  <c:v>Zero Calls (90 days)</c:v>
                </c:pt>
                <c:pt idx="3">
                  <c:v>Missing Entirely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Calibri"/>
              </a:rPr>
              <a:t>Flag Rate: Known Switchers vs. Customers Who Stayed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Switchers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3C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Day 7</c:v>
                  </c:pt>
                  <c:pt idx="1">
                    <c:v>Day 10</c:v>
                  </c:pt>
                  <c:pt idx="2">
                    <c:v>Day 14</c:v>
                  </c:pt>
                  <c:pt idx="3">
                    <c:v>Day 21</c:v>
                  </c:pt>
                  <c:pt idx="4">
                    <c:v>Day 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37.4</c:v>
                </c:pt>
                <c:pt idx="1">
                  <c:v>38.6</c:v>
                </c:pt>
                <c:pt idx="2">
                  <c:v>39.5</c:v>
                </c:pt>
                <c:pt idx="3">
                  <c:v>43.5</c:v>
                </c:pt>
                <c:pt idx="4">
                  <c:v>45.3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Stayed (Control)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3C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Day 7</c:v>
                  </c:pt>
                  <c:pt idx="1">
                    <c:v>Day 10</c:v>
                  </c:pt>
                  <c:pt idx="2">
                    <c:v>Day 14</c:v>
                  </c:pt>
                  <c:pt idx="3">
                    <c:v>Day 21</c:v>
                  </c:pt>
                  <c:pt idx="4">
                    <c:v>Day 28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0.5</c:v>
                </c:pt>
                <c:pt idx="2">
                  <c:v>3.7</c:v>
                </c:pt>
                <c:pt idx="3">
                  <c:v>5.3</c:v>
                </c:pt>
                <c:pt idx="4">
                  <c:v>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C3C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9AA5B1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9AA5B1"/>
                    </a:solidFill>
                    <a:latin typeface="Arial"/>
                  </a:rPr>
                  <a:t>Days Into Billing Cycle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3C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7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9AA5B1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9AA5B1"/>
                    </a:solidFill>
                    <a:latin typeface="Arial"/>
                  </a:rPr>
                  <a:t>% Flagged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3C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005840" cy="262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31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WORKING SESSION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3154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updates, consolidated: Interval Forecast, Repeat Caller Follow-Ups, and the Pre-Bill Usage Alert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Momna Ali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748272"/>
            <a:ext cx="3047924" cy="109728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7" name="Shape 4"/>
          <p:cNvSpPr/>
          <p:nvPr/>
        </p:nvSpPr>
        <p:spPr>
          <a:xfrm>
            <a:off x="3047924" y="6748272"/>
            <a:ext cx="3047924" cy="109728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48" y="6748272"/>
            <a:ext cx="3047924" cy="109728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Shape 6"/>
          <p:cNvSpPr/>
          <p:nvPr/>
        </p:nvSpPr>
        <p:spPr>
          <a:xfrm>
            <a:off x="9143771" y="6748272"/>
            <a:ext cx="3047924" cy="109728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0" name="Text 7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 — and How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53619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5C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Call Forecast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needs to know how many calls to expect, by time slot, so staffing can be planned ahead of time instead of reacted to after the fact.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359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backtested three different time-bucket sizes against real call data, plus a deviation alert to catch unusual spikes as they happen.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22783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4A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227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Caller Follow-Ups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3611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came out of the original repeat-caller review: whether Monday specifically drives repeat calling, and what's really behind "system glitch" complaints.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4050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exact same connected-calls-only method as the original analysis, then grouped by day of week and read the actual complaint tags behind the glitch label.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75488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491947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9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9194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Pre-Bill Usage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segment — just 9% of switchers — accounts for 20% of all bad debt. The question is whether we can catch them before they leave, not just explain it after.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57424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 demographic shortcuts first, then found real daily usage data and built a flag tested against both real switchers and a real control group of customers who stayed.</a:t>
            </a:r>
            <a:endParaRPr lang="en-US" sz="1100" dirty="0"/>
          </a:p>
        </p:txBody>
      </p:sp>
      <p:pic>
        <p:nvPicPr>
          <p:cNvPr id="19" name="Image 1" descr="/home/claude/rimi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5CB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CALL FORECAST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Results — Consolidated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18 requested Texas South Care queues against real data: 17 confirmed, 1 doesn't exist under any spelling. Built and honestly backtested three time-bucket sizes using a leave-one-out method, plus a deviation alert that independently re-discovered the August 12th payment outage without being told about it in advance.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34290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5F8FA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37960" y="214884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buckets are the most accurate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(42.6% error) — better than both 15-minute (47.9%) and hourly (44.6%).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Jonathan's redirect: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rebuild is now aggregating to ENG vs. SPA level only (not per-queue), filtered to Inbound/Transfer calls only, excluding outbound-campaign-driven queues that were distorting the sparse-queue results.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 progress at this new aggregation level — 15-min vs. 30-min will be re-compared once complete, to confirm whether 30-min still wins at this level.</a:t>
            </a:r>
            <a:endParaRPr lang="en-US" sz="1200" dirty="0"/>
          </a:p>
        </p:txBody>
      </p:sp>
      <p:pic>
        <p:nvPicPr>
          <p:cNvPr id="11" name="Image 1" descr="/home/claude/rimi_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5B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OPEN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Queue List Can We Actually Forecast?</a:t>
            </a:r>
            <a:endParaRPr lang="en-US" sz="2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5760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46520" y="17373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5F8FA"/>
          </a:solidFill>
          <a:ln/>
        </p:spPr>
      </p:sp>
      <p:sp>
        <p:nvSpPr>
          <p:cNvPr id="8" name="Text 4"/>
          <p:cNvSpPr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720840" y="23317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18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enough real call volume for granular 15-minute forecasting today.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are sparse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 enough volume that only a daily-level view is reliable, not 15-minute.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has zero calls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90 days on record.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doesn't exist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any spelling we could find in the real data — flagged, not silently dropped.</a:t>
            </a:r>
            <a:endParaRPr lang="en-US" sz="1150" dirty="0"/>
          </a:p>
        </p:txBody>
      </p:sp>
      <p:pic>
        <p:nvPicPr>
          <p:cNvPr id="10" name="Image 1" descr="/home/claude/rimi_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B8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CAUGHT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August 12th Spike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deviation alert independently found a real incident, without being told about 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194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Calls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011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2194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429768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Calls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2011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5F8FA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2194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~2.5x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13816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Normal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F5F8FA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9776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caught: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deviation alert (z-score based, 2.5 standard-deviation threshold, excluding low-volume intervals to avoid false alarms) flagged August 12th on its own — confirmed afterward as the real Chase payment-processing outage.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methods, same finding: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 Caller analysis independently flagged August 12th as its worst spike day too — 119 payment-system-tagged calls, roughly 5–6x a normal day. Two completely separate analyses landed on the same real date.</a:t>
            </a:r>
            <a:endParaRPr lang="en-US" sz="1300" dirty="0"/>
          </a:p>
        </p:txBody>
      </p:sp>
      <p:pic>
        <p:nvPicPr>
          <p:cNvPr id="18" name="Image 1" descr="/home/claude/rimi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4A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CALLER FOLLOW-UPS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Both Answered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5F8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Does Monday Drive Repeat Calls?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answer: no.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(24.6%) and Monday (24.1%) are essentially tied — not a real gap. Every weekday clusters in the low-to-mid 20s.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real standout is Sunday, clearly lower at 18.2% — the opposite direction from what was being asked, and explained by lower weekend call volume overall.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5F8FA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What's Behind "System Glitch"?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23774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finding: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almost entirely the payment system specifically — not a broad tech complaint bucket.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1,940 total payment-system calls (Apr 9–Aug 15). Just 3 days — April 27, July 7, August 12 — account for 265 of them (13.7%). August 12th alone: 119 calls, 5–6x a normal day.</a:t>
            </a:r>
            <a:endParaRPr lang="en-US" sz="1200" dirty="0"/>
          </a:p>
        </p:txBody>
      </p:sp>
      <p:pic>
        <p:nvPicPr>
          <p:cNvPr id="12" name="Image 1" descr="/home/claude/rimi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9B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PRE-BILL USAGE ALERT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Catch Switchers Before They Leave?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switch before their bill is even due: 22,985 customers, $8.68M debt (20% of all bad debt, from just 9% of switchers). No demographic shortcut exists — tenure, credit score, brand, utility all checked. Found BAT_SMT (real daily usage data) and built a within-cycle escalation flag, tested against real switchers AND a real control group of customers who stayed.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Switchers Caught (Day 7)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3200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297680" y="4206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200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5F8FA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days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138160" y="4206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Lead Time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 rolling check starting day 7, continuing through day 28 — not a single snapshot.</a:t>
            </a:r>
            <a:endParaRPr lang="en-US" sz="1150" dirty="0"/>
          </a:p>
        </p:txBody>
      </p:sp>
      <p:pic>
        <p:nvPicPr>
          <p:cNvPr id="17" name="Image 1" descr="/home/claude/rimi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9B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Flag Actually Tell Switchers Apart?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a real control group of customers who stayed — not just known switchers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96596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8" name="Image 1" descr="/home/claude/rimi_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Rimi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Interval Forecast: any concerns with the ENG/SPA-only aggregation before we finish the rebuild?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scope narrowing from the original per-queue design — worth confirming it still meets the need.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Repeat Caller: is knowing the August 12th date and size enough, or is a root-cause dig worth it?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IT/Royston can confirm whether this ties to the confirmed Chase payment outage or something separate.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Pre-Bill Alert: rolling check (day 7–28) or a single check-in day — which fits how Care would actually act on this?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both how many customers get caught and how much lead time is available to reach them.</a:t>
            </a:r>
            <a:endParaRPr lang="en-US" sz="1200" dirty="0"/>
          </a:p>
        </p:txBody>
      </p:sp>
      <p:pic>
        <p:nvPicPr>
          <p:cNvPr id="10" name="Image 1" descr="/home/claude/rimi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imi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ENG/SPA interval forecast rebuild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258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15-min vs. 30-min comparison at the new aggregation level, confirm 30-min still wins.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310896" cy="310896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71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IT/Royston on August 12th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310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payment-system spike ties to the known Chase outage — corroborated by two independent analyses now.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069080"/>
            <a:ext cx="310896" cy="31089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day-of-week question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361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action — the Monday/Tuesday pattern isn't strong enough to act 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5120640"/>
            <a:ext cx="310896" cy="310896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Pre-Bill Alert check-in design with Jonathan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54132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(day 7–28) vs. single check-in — needed before this can move toward a larger backtest or live version.</a:t>
            </a:r>
            <a:endParaRPr lang="en-US" sz="1150" dirty="0"/>
          </a:p>
        </p:txBody>
      </p:sp>
      <p:pic>
        <p:nvPicPr>
          <p:cNvPr id="17" name="Image 1" descr="/home/claude/rimi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0" y="6748272"/>
            <a:ext cx="3047924" cy="109728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9" name="Shape 15"/>
          <p:cNvSpPr/>
          <p:nvPr/>
        </p:nvSpPr>
        <p:spPr>
          <a:xfrm>
            <a:off x="3047924" y="6748272"/>
            <a:ext cx="3047924" cy="109728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20" name="Shape 16"/>
          <p:cNvSpPr/>
          <p:nvPr/>
        </p:nvSpPr>
        <p:spPr>
          <a:xfrm>
            <a:off x="6095848" y="6748272"/>
            <a:ext cx="3047924" cy="109728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3771" y="6748272"/>
            <a:ext cx="3047924" cy="109728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22" name="Text 18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2026-08-20T17:19:43Z</dcterms:created>
  <dcterms:modified xsi:type="dcterms:W3CDTF">2026-08-20T17:19:43Z</dcterms:modified>
</cp:coreProperties>
</file>