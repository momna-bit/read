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40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4061"/>
                </a:solidFill>
                <a:latin typeface="Arial"/>
              </a:rPr>
              <a:t>Bill Explanation Call Rate by Language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Bill Explanation Rate (%)</c:v>
                </c:pt>
              </c:strCache>
            </c:strRef>
          </c:tx>
          <c:spPr>
            <a:solidFill>
              <a:srgbClr val="005CB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40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English</c:v>
                  </c:pt>
                  <c:pt idx="1">
                    <c:v>Spanish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10.9</c:v>
                </c:pt>
                <c:pt idx="1">
                  <c:v>16.9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040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4546A"/>
                    </a:solidFill>
                    <a:latin typeface="Arial"/>
                  </a:rPr>
                  <a:t>Customer Language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A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44546A"/>
                    </a:solidFill>
                    <a:latin typeface="Arial"/>
                  </a:defRPr>
                </a:pPr>
                <a:r>
                  <a:rPr sz="1050" b="0" i="0" u="none" strike="noStrike">
                    <a:solidFill>
                      <a:srgbClr val="44546A"/>
                    </a:solidFill>
                    <a:latin typeface="Arial"/>
                  </a:rPr>
                  <a:t>% of Calls That Are Bill Explanation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4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Explanation Calls: Spanish Speakers Call ~1.5x More Often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independently through two separate classification methods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394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55448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F5F8F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Credit &amp; Negative-Balance Confusion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00800" y="21945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Call summaries show customers repeatedly confused by deposit refunds, referral credits, and assistance-agency credits.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0" y="299923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Many are unsure whether a credit means they still owe money — several mistook a credit for a charge.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380390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 untranslated line item (e.g., “Summer Saver Credit”) is one instance of this broader pattern.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460857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self-service portal is English-only, adding friction for Spanish speakers trying to set up payment arrangements — pushing more of them to IVR/agent channels.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66928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E9F2FF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57790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size: 145,896 English calls, 52,567 Spanish calls — validated via AI call classification (Care_CallAI) and independently confirmed against transcript-based analysis.</a:t>
            </a:r>
            <a:endParaRPr lang="en-US" sz="1050" dirty="0"/>
          </a:p>
        </p:txBody>
      </p:sp>
      <p:pic>
        <p:nvPicPr>
          <p:cNvPr id="13" name="Image 0" descr="/home/claude/jonathan_slides/ig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Quality Predicts Call Frequency — Independent of Bill Size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Lower-credit customers call 2.6–3x more often than higher-credit customers, at every bill size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1737360"/>
                <a:gridCol w="146304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(500 or below)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(700 or above)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More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0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$200–$300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 calls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 calls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2.6x more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$300–$400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 calls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 calls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2.7x more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 calls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C3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 calls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4A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3.0x more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605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number of calls per customer, over 6 months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406640" y="1645920"/>
            <a:ext cx="4251960" cy="2651760"/>
          </a:xfrm>
          <a:prstGeom prst="roundRect">
            <a:avLst>
              <a:gd name="adj" fmla="val 2759"/>
            </a:avLst>
          </a:prstGeom>
          <a:solidFill>
            <a:srgbClr val="F5F8FA"/>
          </a:solidFill>
          <a:ln/>
        </p:spPr>
      </p:sp>
      <p:sp>
        <p:nvSpPr>
          <p:cNvPr id="7" name="Text 4"/>
          <p:cNvSpPr/>
          <p:nvPr/>
        </p:nvSpPr>
        <p:spPr>
          <a:xfrm>
            <a:off x="7635240" y="1874520"/>
            <a:ext cx="3794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04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bill size, customers with lower credit scores call us 2.6 to 3 times more often than customers with higher credit scores.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470916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E9F2FF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846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516636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— not bill size — is the strongest signal of which customers will need more support. Since it holds constant across every bill size, this is a real, measurable input for the cost-to-serve conversation — relevant to underwriting standards, deposit policy, and deciding which customers warrant proactive outreach before they're likely to call.</a:t>
            </a:r>
            <a:endParaRPr lang="en-US" sz="1200" dirty="0"/>
          </a:p>
        </p:txBody>
      </p:sp>
      <p:pic>
        <p:nvPicPr>
          <p:cNvPr id="11" name="Image 0" descr="/home/claude/jonathan_slides/ig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73952"/>
            <a:ext cx="777240" cy="2029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2026-08-06T13:43:55Z</dcterms:created>
  <dcterms:modified xsi:type="dcterms:W3CDTF">2026-08-06T13:43:55Z</dcterms:modified>
</cp:coreProperties>
</file>