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charts/chart1.xml" ContentType="application/vnd.openxmlformats-officedocument.drawingml.chart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Average % Error (MAPE)</c:v>
                </c:pt>
              </c:strCache>
            </c:strRef>
          </c:tx>
          <c:spPr>
            <a:solidFill>
              <a:srgbClr val="00BB86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1300" u="none">
                    <a:solidFill>
                      <a:srgbClr val="004061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Most Recent 3 Months</c:v>
                  </c:pt>
                  <c:pt idx="1">
                    <c:v>Older 9 Months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9.4</c:v>
                </c:pt>
                <c:pt idx="1">
                  <c:v>10.2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b="0" i="0" strike="noStrike" sz="1300" u="none">
                  <a:solidFill>
                    <a:srgbClr val="004061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1200" b="0" i="0" u="none" strike="noStrike">
                    <a:solidFill>
                      <a:srgbClr val="5B6B7C"/>
                    </a:solidFill>
                    <a:latin typeface="Arial"/>
                  </a:defRPr>
                </a:pPr>
                <a:r>
                  <a:rPr sz="1200" b="0" i="0" u="none" strike="noStrike">
                    <a:solidFill>
                      <a:srgbClr val="5B6B7C"/>
                    </a:solidFill>
                    <a:latin typeface="Arial"/>
                  </a:rPr>
                  <a:t>Time Window Checked</a:t>
                </a:r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300" b="0" i="0" u="none" strike="noStrike">
                <a:solidFill>
                  <a:srgbClr val="5B6B7C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5"/>
        </c:scaling>
        <c:delete val="0"/>
        <c:axPos val="l"/>
        <c:majorGridlines>
          <c:spPr>
            <a:ln w="12700" cap="flat">
              <a:solidFill>
                <a:srgbClr val="E5E7EB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200" b="0" i="0" u="none" strike="noStrike">
                    <a:solidFill>
                      <a:srgbClr val="5B6B7C"/>
                    </a:solidFill>
                    <a:latin typeface="Arial"/>
                  </a:defRPr>
                </a:pPr>
                <a:r>
                  <a:rPr sz="1200" b="0" i="0" u="none" strike="noStrike">
                    <a:solidFill>
                      <a:srgbClr val="5B6B7C"/>
                    </a:solidFill>
                    <a:latin typeface="Arial"/>
                  </a:rPr>
                  <a:t>Average Forecast Error (%)</a:t>
                </a: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B6B7C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chart" Target="/ppt/charts/chart1.xml"/><Relationship Id="rId1" Type="http://schemas.openxmlformats.org/officeDocument/2006/relationships/image" Target="../media/image-2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2560320" cy="310896"/>
          </a:xfrm>
          <a:prstGeom prst="roundRect">
            <a:avLst>
              <a:gd name="adj" fmla="val 50000"/>
            </a:avLst>
          </a:prstGeom>
          <a:solidFill>
            <a:srgbClr val="F4A60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spc="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ANSWERING LOU'S QUESTION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457200" y="804672"/>
            <a:ext cx="99669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40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 the Forecast Meet the 3-Month Bar?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1353312"/>
            <a:ext cx="10332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Lou asked for near-100% accuracy specifically in the next 3 months — here's what we found</a:t>
            </a:r>
            <a:endParaRPr lang="en-US" sz="1450" dirty="0"/>
          </a:p>
        </p:txBody>
      </p:sp>
      <p:pic>
        <p:nvPicPr>
          <p:cNvPr id="6" name="Image 0" descr="/home/claude/forecast_3month_deck/igs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98480" y="365760"/>
            <a:ext cx="868680" cy="225857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457200" y="1828800"/>
            <a:ext cx="1124712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6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12-month accuracy check gave one blanket number: 9.9% average error, correct within 15% of actual 81.9% of the time. That answered "is the forecast accurate overall," but not the sharper question Lou raised: is it accurate enough specifically for near-term staffing decisions, in the next 3 months?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457200" y="3200400"/>
            <a:ext cx="11274552" cy="1188720"/>
          </a:xfrm>
          <a:prstGeom prst="rect">
            <a:avLst>
              <a:gd name="adj" fmla="val 4615"/>
            </a:avLst>
          </a:prstGeom>
          <a:solidFill>
            <a:srgbClr val="F5F8FB"/>
          </a:solidFill>
          <a:ln/>
        </p:spPr>
      </p:sp>
      <p:sp>
        <p:nvSpPr>
          <p:cNvPr id="9" name="Text 6"/>
          <p:cNvSpPr/>
          <p:nvPr/>
        </p:nvSpPr>
        <p:spPr>
          <a:xfrm>
            <a:off x="777240" y="3310128"/>
            <a:ext cx="1065276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plain terms: we couldn't check the literal future, since there's no real call data for it yet. So we used the most recent 3 months of real history as the closest available stand-in — the best signal we have for how the forecast is likely to perform going forward.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1147572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FB6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2560320" cy="310896"/>
          </a:xfrm>
          <a:prstGeom prst="roundRect">
            <a:avLst>
              <a:gd name="adj" fmla="val 50000"/>
            </a:avLst>
          </a:prstGeom>
          <a:solidFill>
            <a:srgbClr val="00BB8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spc="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FINDING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457200" y="804672"/>
            <a:ext cx="99669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40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Recent Accuracy Isn't Sharper Than Average</a:t>
            </a:r>
            <a:endParaRPr lang="en-US" sz="2800" dirty="0"/>
          </a:p>
        </p:txBody>
      </p:sp>
      <p:pic>
        <p:nvPicPr>
          <p:cNvPr id="5" name="Image 0" descr="/home/claude/forecast_3month_deck/igs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98480" y="365760"/>
            <a:ext cx="868680" cy="225857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57200" y="146304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40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Forecast Error: Most Recent 3 Months vs. Older 9 Months</a:t>
            </a:r>
            <a:endParaRPr lang="en-US" sz="1400" dirty="0"/>
          </a:p>
        </p:txBody>
      </p:sp>
      <p:graphicFrame>
        <p:nvGraphicFramePr>
          <p:cNvPr id="7" name="Chart 0" descr=""/>
          <p:cNvGraphicFramePr/>
          <p:nvPr/>
        </p:nvGraphicFramePr>
        <p:xfrm>
          <a:off x="1645920" y="1920240"/>
          <a:ext cx="8869680" cy="32918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8" name="Shape 4"/>
          <p:cNvSpPr/>
          <p:nvPr/>
        </p:nvSpPr>
        <p:spPr>
          <a:xfrm>
            <a:off x="457200" y="5486400"/>
            <a:ext cx="11274552" cy="1005840"/>
          </a:xfrm>
          <a:prstGeom prst="rect">
            <a:avLst>
              <a:gd name="adj" fmla="val 5455"/>
            </a:avLst>
          </a:prstGeom>
          <a:solidFill>
            <a:srgbClr val="F5F8FB"/>
          </a:solidFill>
          <a:ln/>
        </p:spPr>
      </p:sp>
      <p:sp>
        <p:nvSpPr>
          <p:cNvPr id="9" name="Text 5"/>
          <p:cNvSpPr/>
          <p:nvPr/>
        </p:nvSpPr>
        <p:spPr>
          <a:xfrm>
            <a:off x="777240" y="5596128"/>
            <a:ext cx="106527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plain terms: the bottom axis shows which time window we checked. The left axis shows the average forecast error for that window — lower is better. The two bars are nearly identical: 9.4% for the most recent 3 months vs. 10.2% for the older 9 months. That means the forecast isn't meaningfully sharper recently than it is across the rest of the year.</a:t>
            </a:r>
            <a:endParaRPr lang="en-US" sz="1300" dirty="0"/>
          </a:p>
        </p:txBody>
      </p:sp>
      <p:sp>
        <p:nvSpPr>
          <p:cNvPr id="10" name="Text 6"/>
          <p:cNvSpPr/>
          <p:nvPr/>
        </p:nvSpPr>
        <p:spPr>
          <a:xfrm>
            <a:off x="1147572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FB6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040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forecast_3month_deck/igs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98480" y="365760"/>
            <a:ext cx="868680" cy="225857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48640" y="128016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BOTTOM LINE</a:t>
            </a:r>
            <a:endParaRPr lang="en-US" sz="2800" dirty="0"/>
          </a:p>
        </p:txBody>
      </p:sp>
      <p:sp>
        <p:nvSpPr>
          <p:cNvPr id="4" name="Text 1"/>
          <p:cNvSpPr/>
          <p:nvPr/>
        </p:nvSpPr>
        <p:spPr>
          <a:xfrm>
            <a:off x="548640" y="187452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AFC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~90.6% near-term accuracy — not the near-100% bar requested</a:t>
            </a:r>
            <a:endParaRPr lang="en-US" sz="1500" dirty="0"/>
          </a:p>
        </p:txBody>
      </p:sp>
      <p:sp>
        <p:nvSpPr>
          <p:cNvPr id="5" name="Text 2"/>
          <p:cNvSpPr/>
          <p:nvPr/>
        </p:nvSpPr>
        <p:spPr>
          <a:xfrm>
            <a:off x="548640" y="2514600"/>
            <a:ext cx="6858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FC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recent 3 months - average error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7498080" y="2514600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9.4%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548640" y="3017520"/>
            <a:ext cx="6858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FC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recent 3 months - within 15% of actual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7498080" y="3017520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80.0%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548640" y="3520440"/>
            <a:ext cx="6858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FC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Implied near-term accuracy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7498080" y="3520440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~90.6%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548640" y="4023360"/>
            <a:ext cx="6858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FC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Lou's near-term bar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7498080" y="4023360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~100%</a:t>
            </a:r>
            <a:endParaRPr lang="en-US" sz="1400" dirty="0"/>
          </a:p>
        </p:txBody>
      </p:sp>
      <p:sp>
        <p:nvSpPr>
          <p:cNvPr id="13" name="Shape 10"/>
          <p:cNvSpPr/>
          <p:nvPr/>
        </p:nvSpPr>
        <p:spPr>
          <a:xfrm>
            <a:off x="548640" y="4709160"/>
            <a:ext cx="10332720" cy="1417320"/>
          </a:xfrm>
          <a:prstGeom prst="rect">
            <a:avLst>
              <a:gd name="adj" fmla="val 5161"/>
            </a:avLst>
          </a:prstGeom>
          <a:solidFill>
            <a:srgbClr val="0B3A5C"/>
          </a:solidFill>
          <a:ln/>
        </p:spPr>
      </p:sp>
      <p:sp>
        <p:nvSpPr>
          <p:cNvPr id="14" name="Text 11"/>
          <p:cNvSpPr/>
          <p:nvPr/>
        </p:nvSpPr>
        <p:spPr>
          <a:xfrm>
            <a:off x="822960" y="4892040"/>
            <a:ext cx="978408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isn't a data problem — we verified it with two rounds of diagnostics. It reflects a real ceiling in the current rate-based approach, and supports prioritizing the Random Forest model sooner if near-100% near-term accuracy is a hard requirement.</a:t>
            </a:r>
            <a:endParaRPr lang="en-US" sz="1350" dirty="0"/>
          </a:p>
        </p:txBody>
      </p:sp>
      <p:sp>
        <p:nvSpPr>
          <p:cNvPr id="15" name="Text 12"/>
          <p:cNvSpPr/>
          <p:nvPr/>
        </p:nvSpPr>
        <p:spPr>
          <a:xfrm>
            <a:off x="1147572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C8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2026-08-13T18:43:26Z</dcterms:created>
  <dcterms:modified xsi:type="dcterms:W3CDTF">2026-08-13T18:43:26Z</dcterms:modified>
</cp:coreProperties>
</file>