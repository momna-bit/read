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Active Customers</c:v>
                </c:pt>
              </c:strCache>
            </c:strRef>
          </c:tx>
          <c:spPr>
            <a:solidFill>
              <a:srgbClr val="00BB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Aug</c:v>
                  </c:pt>
                  <c:pt idx="1">
                    <c:v>Sep</c:v>
                  </c:pt>
                  <c:pt idx="2">
                    <c:v>Oct</c:v>
                  </c:pt>
                  <c:pt idx="3">
                    <c:v>Nov</c:v>
                  </c:pt>
                  <c:pt idx="4">
                    <c:v>Dec</c:v>
                  </c:pt>
                  <c:pt idx="5">
                    <c:v>Jan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638560</c:v>
                </c:pt>
                <c:pt idx="1">
                  <c:v>637993</c:v>
                </c:pt>
                <c:pt idx="2">
                  <c:v>637941</c:v>
                </c:pt>
                <c:pt idx="3">
                  <c:v>637939</c:v>
                </c:pt>
                <c:pt idx="4">
                  <c:v>637939</c:v>
                </c:pt>
                <c:pt idx="5">
                  <c:v>637939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45000"/>
          <c:min val="630000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Forecasted Calls</c:v>
                </c:pt>
              </c:strCache>
            </c:strRef>
          </c:tx>
          <c:spPr>
            <a:solidFill>
              <a:srgbClr val="005CB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Aug</c:v>
                  </c:pt>
                  <c:pt idx="1">
                    <c:v>Sep</c:v>
                  </c:pt>
                  <c:pt idx="2">
                    <c:v>Oct</c:v>
                  </c:pt>
                  <c:pt idx="3">
                    <c:v>Nov</c:v>
                  </c:pt>
                  <c:pt idx="4">
                    <c:v>Dec</c:v>
                  </c:pt>
                  <c:pt idx="5">
                    <c:v>Jan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82410</c:v>
                </c:pt>
                <c:pt idx="1">
                  <c:v>81419</c:v>
                </c:pt>
                <c:pt idx="2">
                  <c:v>72313</c:v>
                </c:pt>
                <c:pt idx="3">
                  <c:v>63328</c:v>
                </c:pt>
                <c:pt idx="4">
                  <c:v>63838</c:v>
                </c:pt>
                <c:pt idx="5">
                  <c:v>82520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3047924" cy="548640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6309360"/>
            <a:ext cx="3047924" cy="548640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6309360"/>
            <a:ext cx="3047924" cy="548640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6309360"/>
            <a:ext cx="3047924" cy="548640"/>
          </a:xfrm>
          <a:prstGeom prst="rect">
            <a:avLst/>
          </a:prstGeom>
          <a:solidFill>
            <a:srgbClr val="00B9B3"/>
          </a:solidFill>
          <a:ln/>
        </p:spPr>
      </p:sp>
      <p:pic>
        <p:nvPicPr>
          <p:cNvPr id="6" name="Image 0" descr="/home/claude/jonathan_6mo_forecast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417320" cy="3694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CALL VOLUME FORECAST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– January 2027  •  Active Customers vs. Call Volume, Shown Separately</a:t>
            </a:r>
            <a:endParaRPr lang="en-US" sz="1700" dirty="0"/>
          </a:p>
        </p:txBody>
      </p:sp>
      <p:pic>
        <p:nvPicPr>
          <p:cNvPr id="9" name="Image 1" descr="/home/claude/jonathan_6mo_forecast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139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We're Answering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last forecast walkthrough, Jonathan asked a direct question: is the seasonal swing in call volume actually a change in customer behavior, or could it just be more customers on the books in certain months? This deck answers that with a 6-month, full-calendar-month forecast — showing active customers and call volume as two separate numbers, not one blended rate.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F5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035808"/>
            <a:ext cx="457200" cy="54864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2004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Question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4617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we have a lower active customer count in January/February versus summer? What does overall call volume look like — are we getting more calls in Jan/Feb than July?”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74320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F5F8F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3035808"/>
            <a:ext cx="457200" cy="54864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32004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3703320"/>
            <a:ext cx="4617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the forecast to a full 6 calendar months (Aug–Jan), and broke the output into two separate charts: active customers, and total forecasted calls — no blended ratio hiding what's driving what.</a:t>
            </a:r>
            <a:endParaRPr lang="en-US" sz="1300" dirty="0"/>
          </a:p>
        </p:txBody>
      </p:sp>
      <p:pic>
        <p:nvPicPr>
          <p:cNvPr id="12" name="Image 0" descr="/home/claude/jonathan_6mo_forecast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822960" cy="21397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 Stay Essentially Flat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– January 2027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508760"/>
          <a:ext cx="10515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57784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5715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0.1% change across all 6 months — the customer base is not driving the seasonal swing.</a:t>
            </a:r>
            <a:endParaRPr lang="en-US" sz="1300" dirty="0"/>
          </a:p>
        </p:txBody>
      </p:sp>
      <p:pic>
        <p:nvPicPr>
          <p:cNvPr id="7" name="Image 0" descr="/home/claude/jonathan_6mo_forecast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Volume Swings Seasonally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6 months — a real behavioral pattern, not a population effect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508760"/>
          <a:ext cx="10515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57784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5F8FA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5715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23% swing from the November low to the August/January highs — with the same flat customer base.</a:t>
            </a:r>
            <a:endParaRPr lang="en-US" sz="1300" dirty="0"/>
          </a:p>
        </p:txBody>
      </p:sp>
      <p:pic>
        <p:nvPicPr>
          <p:cNvPr id="7" name="Image 0" descr="/home/claude/jonathan_6mo_forecast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5F8F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938528"/>
            <a:ext cx="411480" cy="54864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seasonal swing is real customer behavior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 barely move (&lt;0.1%) while call volume swings 23% — this rules out population change as the driver.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5F8F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3310128"/>
            <a:ext cx="411480" cy="54864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4747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and August are the two peaks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land near 82,000+ forecasted calls, while November is the low point at ~63,000.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5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4681728"/>
            <a:ext cx="411480" cy="54864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463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the seasonal index findings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52578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separately validated seasonal index (Jan/Feb highest, Nov/Dec lowest) — two independent methods agree.</a:t>
            </a:r>
            <a:endParaRPr lang="en-US" sz="1250" dirty="0"/>
          </a:p>
        </p:txBody>
      </p:sp>
      <p:pic>
        <p:nvPicPr>
          <p:cNvPr id="15" name="Image 0" descr="/home/claude/jonathan_6mo_forecast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822960" cy="21397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jonathan_6mo_forecast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1280160" cy="3337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67335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from here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242316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A3A5C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2587752"/>
            <a:ext cx="411480" cy="54864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71576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real results as months land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044952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this forecast to actual call volume as August and September play out.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6576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A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822192"/>
            <a:ext cx="411480" cy="54864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9502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the customer-level driver model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4279392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autopay removal work wraps, merge credit-quality and bill-trend signals into this aggregate forecast.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48920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A3A5C"/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5056632"/>
            <a:ext cx="411480" cy="54864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51846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into the Remy update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8680" y="5513832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forecast and chart pair are ready to include as-is in the broader team update.</a:t>
            </a:r>
            <a:endParaRPr lang="en-US" sz="1200" dirty="0"/>
          </a:p>
        </p:txBody>
      </p:sp>
      <p:pic>
        <p:nvPicPr>
          <p:cNvPr id="17" name="Image 1" descr="/home/claude/jonathan_6mo_forecast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1397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2026-07-30T13:48:07Z</dcterms:created>
  <dcterms:modified xsi:type="dcterms:W3CDTF">2026-07-30T13:48:07Z</dcterms:modified>
</cp:coreProperties>
</file>