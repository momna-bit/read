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40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4061"/>
                </a:solidFill>
                <a:latin typeface="Arial"/>
              </a:rPr>
              <a:t>Forecasted Call Volume by Day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Calls per 1,000 Customers</c:v>
                </c:pt>
              </c:strCache>
            </c:strRef>
          </c:tx>
          <c:spPr>
            <a:solidFill>
              <a:srgbClr val="005CB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40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7.814</c:v>
                </c:pt>
                <c:pt idx="1">
                  <c:v>6.513</c:v>
                </c:pt>
                <c:pt idx="2">
                  <c:v>5.872</c:v>
                </c:pt>
                <c:pt idx="3">
                  <c:v>5.188</c:v>
                </c:pt>
                <c:pt idx="4">
                  <c:v>5.397</c:v>
                </c:pt>
                <c:pt idx="5">
                  <c:v>2.162</c:v>
                </c:pt>
                <c:pt idx="6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40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40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4061"/>
                </a:solidFill>
                <a:latin typeface="Arial"/>
              </a:rPr>
              <a:t>Narrowing the Target Population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F4A6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40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Bill-Related Callers</c:v>
                  </c:pt>
                  <c:pt idx="1">
                    <c:v>Precisely Flagged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24878</c:v>
                </c:pt>
                <c:pt idx="1">
                  <c:v>900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40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AED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40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4061"/>
                </a:solidFill>
                <a:latin typeface="Arial"/>
              </a:rPr>
              <a:t>Call Abandonment Rate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Abandonment Rate (%)</c:v>
                </c:pt>
              </c:strCache>
            </c:strRef>
          </c:tx>
          <c:spPr>
            <a:solidFill>
              <a:srgbClr val="0040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40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June
(Typical)</c:v>
                  </c:pt>
                  <c:pt idx="1">
                    <c:v>Early July</c:v>
                  </c:pt>
                  <c:pt idx="2">
                    <c:v>Mon After
Holiday</c:v>
                  </c:pt>
                  <c:pt idx="3">
                    <c:v>Day After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9</c:v>
                </c:pt>
                <c:pt idx="2">
                  <c:v>18</c:v>
                </c:pt>
                <c:pt idx="3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40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40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4061"/>
                </a:solidFill>
                <a:latin typeface="Arial"/>
              </a:rPr>
              <a:t>Assumed vs. Actual Removal Rate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New-Enrollee Removal Rate (%)</c:v>
                </c:pt>
              </c:strCache>
            </c:strRef>
          </c:tx>
          <c:spPr>
            <a:solidFill>
              <a:srgbClr val="F4A6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40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Original Estimate</c:v>
                  </c:pt>
                  <c:pt idx="1">
                    <c:v>Verified Finding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</c:v>
                </c:pt>
                <c:pt idx="1">
                  <c:v>15.2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40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40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4061"/>
                </a:solidFill>
                <a:latin typeface="Arial"/>
              </a:rPr>
              <a:t>Call Volume Seasonality by Month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Seasonal Index</c:v>
                </c:pt>
              </c:strCache>
            </c:strRef>
          </c:tx>
          <c:spPr>
            <a:solidFill>
              <a:srgbClr val="00B9B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1.107</c:v>
                </c:pt>
                <c:pt idx="1">
                  <c:v>1.214</c:v>
                </c:pt>
                <c:pt idx="2">
                  <c:v>1.049</c:v>
                </c:pt>
                <c:pt idx="3">
                  <c:v>0.931</c:v>
                </c:pt>
                <c:pt idx="4">
                  <c:v>0.928</c:v>
                </c:pt>
                <c:pt idx="5">
                  <c:v>0.955</c:v>
                </c:pt>
                <c:pt idx="6">
                  <c:v>1.074</c:v>
                </c:pt>
                <c:pt idx="7">
                  <c:v>1.085</c:v>
                </c:pt>
                <c:pt idx="8">
                  <c:v>1.059</c:v>
                </c:pt>
                <c:pt idx="9">
                  <c:v>0.935</c:v>
                </c:pt>
                <c:pt idx="10">
                  <c:v>0.848</c:v>
                </c:pt>
                <c:pt idx="11">
                  <c:v>0.802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40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4061"/>
                </a:solidFill>
                <a:latin typeface="Arial"/>
              </a:rPr>
              <a:t>Top Call Drivers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Calls (180 Days)</c:v>
                </c:pt>
              </c:strCache>
            </c:strRef>
          </c:tx>
          <c:spPr>
            <a:solidFill>
              <a:srgbClr val="005CB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40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Payment
Arrangement</c:v>
                  </c:pt>
                  <c:pt idx="1">
                    <c:v>Bill
Explanation</c:v>
                  </c:pt>
                  <c:pt idx="2">
                    <c:v>Payment
Help</c:v>
                  </c:pt>
                  <c:pt idx="3">
                    <c:v>Payment
Status</c:v>
                  </c:pt>
                  <c:pt idx="4">
                    <c:v>Enrollment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51279</c:v>
                </c:pt>
                <c:pt idx="1">
                  <c:v>35421</c:v>
                </c:pt>
                <c:pt idx="2">
                  <c:v>29642</c:v>
                </c:pt>
                <c:pt idx="3">
                  <c:v>20529</c:v>
                </c:pt>
                <c:pt idx="4">
                  <c:v>20460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40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Customers</c:v>
                </c:pt>
              </c:strCache>
            </c:strRef>
          </c:tx>
          <c:spPr>
            <a:solidFill>
              <a:srgbClr val="00BB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Aug</c:v>
                  </c:pt>
                  <c:pt idx="1">
                    <c:v>Sep</c:v>
                  </c:pt>
                  <c:pt idx="2">
                    <c:v>Oct</c:v>
                  </c:pt>
                  <c:pt idx="3">
                    <c:v>Nov</c:v>
                  </c:pt>
                  <c:pt idx="4">
                    <c:v>Dec</c:v>
                  </c:pt>
                  <c:pt idx="5">
                    <c:v>Jan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638560</c:v>
                </c:pt>
                <c:pt idx="1">
                  <c:v>637993</c:v>
                </c:pt>
                <c:pt idx="2">
                  <c:v>637941</c:v>
                </c:pt>
                <c:pt idx="3">
                  <c:v>637939</c:v>
                </c:pt>
                <c:pt idx="4">
                  <c:v>637939</c:v>
                </c:pt>
                <c:pt idx="5">
                  <c:v>637939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45000"/>
          <c:min val="630000"/>
        </c:scaling>
        <c:delete val="0"/>
        <c:axPos val="l"/>
        <c:majorGridlines>
          <c:spPr>
            <a:ln w="12700" cap="flat">
              <a:solidFill>
                <a:srgbClr val="E8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Calls</c:v>
                </c:pt>
              </c:strCache>
            </c:strRef>
          </c:tx>
          <c:spPr>
            <a:solidFill>
              <a:srgbClr val="005CB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Aug</c:v>
                  </c:pt>
                  <c:pt idx="1">
                    <c:v>Sep</c:v>
                  </c:pt>
                  <c:pt idx="2">
                    <c:v>Oct</c:v>
                  </c:pt>
                  <c:pt idx="3">
                    <c:v>Nov</c:v>
                  </c:pt>
                  <c:pt idx="4">
                    <c:v>Dec</c:v>
                  </c:pt>
                  <c:pt idx="5">
                    <c:v>Jan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82410</c:v>
                </c:pt>
                <c:pt idx="1">
                  <c:v>81419</c:v>
                </c:pt>
                <c:pt idx="2">
                  <c:v>72313</c:v>
                </c:pt>
                <c:pt idx="3">
                  <c:v>63328</c:v>
                </c:pt>
                <c:pt idx="4">
                  <c:v>63838</c:v>
                </c:pt>
                <c:pt idx="5">
                  <c:v>82520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image" Target="../media/image-1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0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3047924" cy="548640"/>
          </a:xfrm>
          <a:prstGeom prst="rect">
            <a:avLst/>
          </a:prstGeom>
          <a:solidFill>
            <a:srgbClr val="005CB9"/>
          </a:solidFill>
          <a:ln/>
        </p:spPr>
      </p:sp>
      <p:sp>
        <p:nvSpPr>
          <p:cNvPr id="3" name="Shape 1"/>
          <p:cNvSpPr/>
          <p:nvPr/>
        </p:nvSpPr>
        <p:spPr>
          <a:xfrm>
            <a:off x="3047924" y="6309360"/>
            <a:ext cx="3047924" cy="548640"/>
          </a:xfrm>
          <a:prstGeom prst="rect">
            <a:avLst/>
          </a:prstGeom>
          <a:solidFill>
            <a:srgbClr val="00BB86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48" y="6309360"/>
            <a:ext cx="3047924" cy="548640"/>
          </a:xfrm>
          <a:prstGeom prst="rect">
            <a:avLst/>
          </a:prstGeom>
          <a:solidFill>
            <a:srgbClr val="F4A600"/>
          </a:solidFill>
          <a:ln/>
        </p:spPr>
      </p:sp>
      <p:sp>
        <p:nvSpPr>
          <p:cNvPr id="5" name="Shape 3"/>
          <p:cNvSpPr/>
          <p:nvPr/>
        </p:nvSpPr>
        <p:spPr>
          <a:xfrm>
            <a:off x="9143771" y="6309360"/>
            <a:ext cx="3047924" cy="548640"/>
          </a:xfrm>
          <a:prstGeom prst="rect">
            <a:avLst/>
          </a:prstGeom>
          <a:solidFill>
            <a:srgbClr val="00B9B3"/>
          </a:solidFill>
          <a:ln/>
        </p:spPr>
      </p:sp>
      <p:pic>
        <p:nvPicPr>
          <p:cNvPr id="6" name="Image 0" descr="/home/claude/remy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417320" cy="3694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33172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UPDATE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822960" y="33375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Mass Market &amp; Canada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3794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Solved, Insights Delivered — Everything Completed Since July 6</a:t>
            </a:r>
            <a:endParaRPr lang="en-US" sz="1300" dirty="0"/>
          </a:p>
        </p:txBody>
      </p:sp>
      <p:pic>
        <p:nvPicPr>
          <p:cNvPr id="10" name="Image 1" descr="/home/claude/remy_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 So Far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workstreams, one connected body of work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1261872" cy="1371600"/>
          </a:xfrm>
          <a:prstGeom prst="roundRect">
            <a:avLst>
              <a:gd name="adj" fmla="val 5797"/>
            </a:avLst>
          </a:prstGeom>
          <a:solidFill>
            <a:srgbClr val="F5F8FA"/>
          </a:solidFill>
          <a:ln w="19050">
            <a:solidFill>
              <a:srgbClr val="005CB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" y="2633472"/>
            <a:ext cx="457200" cy="457200"/>
          </a:xfrm>
          <a:prstGeom prst="ellipse">
            <a:avLst/>
          </a:prstGeom>
          <a:solidFill>
            <a:srgbClr val="005CB9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" y="2633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3154680"/>
            <a:ext cx="11704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Dataset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792224" y="3035808"/>
            <a:ext cx="164592" cy="228600"/>
          </a:xfrm>
          <a:prstGeom prst="rightArrow">
            <a:avLst/>
          </a:prstGeom>
          <a:solidFill>
            <a:srgbClr val="44546A"/>
          </a:solidFill>
          <a:ln/>
        </p:spPr>
      </p:sp>
      <p:sp>
        <p:nvSpPr>
          <p:cNvPr id="9" name="Shape 7"/>
          <p:cNvSpPr/>
          <p:nvPr/>
        </p:nvSpPr>
        <p:spPr>
          <a:xfrm>
            <a:off x="1938528" y="2468880"/>
            <a:ext cx="1261872" cy="1371600"/>
          </a:xfrm>
          <a:prstGeom prst="roundRect">
            <a:avLst>
              <a:gd name="adj" fmla="val 5797"/>
            </a:avLst>
          </a:prstGeom>
          <a:solidFill>
            <a:srgbClr val="F5F8FA"/>
          </a:solidFill>
          <a:ln w="19050">
            <a:solidFill>
              <a:srgbClr val="00BB8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40864" y="2633472"/>
            <a:ext cx="457200" cy="457200"/>
          </a:xfrm>
          <a:prstGeom prst="ellipse">
            <a:avLst/>
          </a:prstGeom>
          <a:solidFill>
            <a:srgbClr val="00BB86"/>
          </a:solidFill>
          <a:ln/>
        </p:spPr>
      </p:sp>
      <p:sp>
        <p:nvSpPr>
          <p:cNvPr id="11" name="Text 9"/>
          <p:cNvSpPr/>
          <p:nvPr/>
        </p:nvSpPr>
        <p:spPr>
          <a:xfrm>
            <a:off x="2340864" y="2633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84248" y="3154680"/>
            <a:ext cx="11704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Forecast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82112" y="3035808"/>
            <a:ext cx="164592" cy="228600"/>
          </a:xfrm>
          <a:prstGeom prst="rightArrow">
            <a:avLst/>
          </a:prstGeom>
          <a:solidFill>
            <a:srgbClr val="44546A"/>
          </a:solidFill>
          <a:ln/>
        </p:spPr>
      </p:sp>
      <p:sp>
        <p:nvSpPr>
          <p:cNvPr id="14" name="Shape 12"/>
          <p:cNvSpPr/>
          <p:nvPr/>
        </p:nvSpPr>
        <p:spPr>
          <a:xfrm>
            <a:off x="3328416" y="2468880"/>
            <a:ext cx="1261872" cy="1371600"/>
          </a:xfrm>
          <a:prstGeom prst="roundRect">
            <a:avLst>
              <a:gd name="adj" fmla="val 5797"/>
            </a:avLst>
          </a:prstGeom>
          <a:solidFill>
            <a:srgbClr val="F5F8FA"/>
          </a:solidFill>
          <a:ln w="19050">
            <a:solidFill>
              <a:srgbClr val="F4A6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30752" y="2633472"/>
            <a:ext cx="457200" cy="457200"/>
          </a:xfrm>
          <a:prstGeom prst="ellipse">
            <a:avLst/>
          </a:prstGeom>
          <a:solidFill>
            <a:srgbClr val="F4A600"/>
          </a:solidFill>
          <a:ln/>
        </p:spPr>
      </p:sp>
      <p:sp>
        <p:nvSpPr>
          <p:cNvPr id="16" name="Text 14"/>
          <p:cNvSpPr/>
          <p:nvPr/>
        </p:nvSpPr>
        <p:spPr>
          <a:xfrm>
            <a:off x="3730752" y="2633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74136" y="3154680"/>
            <a:ext cx="11704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Usage-Alert Targeting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3035808"/>
            <a:ext cx="164592" cy="228600"/>
          </a:xfrm>
          <a:prstGeom prst="rightArrow">
            <a:avLst/>
          </a:prstGeom>
          <a:solidFill>
            <a:srgbClr val="44546A"/>
          </a:solidFill>
          <a:ln/>
        </p:spPr>
      </p:sp>
      <p:sp>
        <p:nvSpPr>
          <p:cNvPr id="19" name="Shape 17"/>
          <p:cNvSpPr/>
          <p:nvPr/>
        </p:nvSpPr>
        <p:spPr>
          <a:xfrm>
            <a:off x="4718304" y="2468880"/>
            <a:ext cx="1261872" cy="1371600"/>
          </a:xfrm>
          <a:prstGeom prst="roundRect">
            <a:avLst>
              <a:gd name="adj" fmla="val 5797"/>
            </a:avLst>
          </a:prstGeom>
          <a:solidFill>
            <a:srgbClr val="F5F8FA"/>
          </a:solidFill>
          <a:ln w="19050">
            <a:solidFill>
              <a:srgbClr val="00B9B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20640" y="2633472"/>
            <a:ext cx="457200" cy="457200"/>
          </a:xfrm>
          <a:prstGeom prst="ellipse">
            <a:avLst/>
          </a:prstGeom>
          <a:solidFill>
            <a:srgbClr val="00B9B3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2633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64024" y="3154680"/>
            <a:ext cx="11704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IVR &amp; Abandonment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61888" y="3035808"/>
            <a:ext cx="164592" cy="228600"/>
          </a:xfrm>
          <a:prstGeom prst="rightArrow">
            <a:avLst/>
          </a:prstGeom>
          <a:solidFill>
            <a:srgbClr val="44546A"/>
          </a:solidFill>
          <a:ln/>
        </p:spPr>
      </p:sp>
      <p:sp>
        <p:nvSpPr>
          <p:cNvPr id="24" name="Shape 22"/>
          <p:cNvSpPr/>
          <p:nvPr/>
        </p:nvSpPr>
        <p:spPr>
          <a:xfrm>
            <a:off x="6108192" y="2468880"/>
            <a:ext cx="1261872" cy="1371600"/>
          </a:xfrm>
          <a:prstGeom prst="roundRect">
            <a:avLst>
              <a:gd name="adj" fmla="val 5797"/>
            </a:avLst>
          </a:prstGeom>
          <a:solidFill>
            <a:srgbClr val="F5F8FA"/>
          </a:solidFill>
          <a:ln w="19050">
            <a:solidFill>
              <a:srgbClr val="005CB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10528" y="2633472"/>
            <a:ext cx="457200" cy="457200"/>
          </a:xfrm>
          <a:prstGeom prst="ellipse">
            <a:avLst/>
          </a:prstGeom>
          <a:solidFill>
            <a:srgbClr val="005CB9"/>
          </a:solidFill>
          <a:ln/>
        </p:spPr>
      </p:sp>
      <p:sp>
        <p:nvSpPr>
          <p:cNvPr id="26" name="Text 24"/>
          <p:cNvSpPr/>
          <p:nvPr/>
        </p:nvSpPr>
        <p:spPr>
          <a:xfrm>
            <a:off x="6510528" y="2633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53912" y="3154680"/>
            <a:ext cx="11704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Autopay Removal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351776" y="3035808"/>
            <a:ext cx="164592" cy="228600"/>
          </a:xfrm>
          <a:prstGeom prst="rightArrow">
            <a:avLst/>
          </a:prstGeom>
          <a:solidFill>
            <a:srgbClr val="44546A"/>
          </a:solidFill>
          <a:ln/>
        </p:spPr>
      </p:sp>
      <p:sp>
        <p:nvSpPr>
          <p:cNvPr id="29" name="Shape 27"/>
          <p:cNvSpPr/>
          <p:nvPr/>
        </p:nvSpPr>
        <p:spPr>
          <a:xfrm>
            <a:off x="7498080" y="2468880"/>
            <a:ext cx="1261872" cy="1371600"/>
          </a:xfrm>
          <a:prstGeom prst="roundRect">
            <a:avLst>
              <a:gd name="adj" fmla="val 5797"/>
            </a:avLst>
          </a:prstGeom>
          <a:solidFill>
            <a:srgbClr val="F5F8FA"/>
          </a:solidFill>
          <a:ln w="19050">
            <a:solidFill>
              <a:srgbClr val="00BB8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00416" y="2633472"/>
            <a:ext cx="457200" cy="457200"/>
          </a:xfrm>
          <a:prstGeom prst="ellipse">
            <a:avLst/>
          </a:prstGeom>
          <a:solidFill>
            <a:srgbClr val="00BB86"/>
          </a:solidFill>
          <a:ln/>
        </p:spPr>
      </p:sp>
      <p:sp>
        <p:nvSpPr>
          <p:cNvPr id="31" name="Text 29"/>
          <p:cNvSpPr/>
          <p:nvPr/>
        </p:nvSpPr>
        <p:spPr>
          <a:xfrm>
            <a:off x="7900416" y="2633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543800" y="3154680"/>
            <a:ext cx="11704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Refresh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741664" y="3035808"/>
            <a:ext cx="164592" cy="228600"/>
          </a:xfrm>
          <a:prstGeom prst="rightArrow">
            <a:avLst/>
          </a:prstGeom>
          <a:solidFill>
            <a:srgbClr val="44546A"/>
          </a:solidFill>
          <a:ln/>
        </p:spPr>
      </p:sp>
      <p:sp>
        <p:nvSpPr>
          <p:cNvPr id="34" name="Shape 32"/>
          <p:cNvSpPr/>
          <p:nvPr/>
        </p:nvSpPr>
        <p:spPr>
          <a:xfrm>
            <a:off x="8887968" y="2468880"/>
            <a:ext cx="1261872" cy="1371600"/>
          </a:xfrm>
          <a:prstGeom prst="roundRect">
            <a:avLst>
              <a:gd name="adj" fmla="val 5797"/>
            </a:avLst>
          </a:prstGeom>
          <a:solidFill>
            <a:srgbClr val="F5F8FA"/>
          </a:solidFill>
          <a:ln w="19050">
            <a:solidFill>
              <a:srgbClr val="F4A6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290304" y="2633472"/>
            <a:ext cx="457200" cy="457200"/>
          </a:xfrm>
          <a:prstGeom prst="ellipse">
            <a:avLst/>
          </a:prstGeom>
          <a:solidFill>
            <a:srgbClr val="F4A600"/>
          </a:solidFill>
          <a:ln/>
        </p:spPr>
      </p:sp>
      <p:sp>
        <p:nvSpPr>
          <p:cNvPr id="36" name="Text 34"/>
          <p:cNvSpPr/>
          <p:nvPr/>
        </p:nvSpPr>
        <p:spPr>
          <a:xfrm>
            <a:off x="9290304" y="2633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933688" y="3154680"/>
            <a:ext cx="11704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Outlook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0131552" y="3035808"/>
            <a:ext cx="164592" cy="228600"/>
          </a:xfrm>
          <a:prstGeom prst="rightArrow">
            <a:avLst/>
          </a:prstGeom>
          <a:solidFill>
            <a:srgbClr val="44546A"/>
          </a:solidFill>
          <a:ln/>
        </p:spPr>
      </p:sp>
      <p:sp>
        <p:nvSpPr>
          <p:cNvPr id="39" name="Shape 37"/>
          <p:cNvSpPr/>
          <p:nvPr/>
        </p:nvSpPr>
        <p:spPr>
          <a:xfrm>
            <a:off x="10277856" y="2468880"/>
            <a:ext cx="1261872" cy="1371600"/>
          </a:xfrm>
          <a:prstGeom prst="roundRect">
            <a:avLst>
              <a:gd name="adj" fmla="val 5797"/>
            </a:avLst>
          </a:prstGeom>
          <a:solidFill>
            <a:srgbClr val="F5F8FA"/>
          </a:solidFill>
          <a:ln w="19050">
            <a:solidFill>
              <a:srgbClr val="00B9B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680192" y="2633472"/>
            <a:ext cx="457200" cy="457200"/>
          </a:xfrm>
          <a:prstGeom prst="ellipse">
            <a:avLst/>
          </a:prstGeom>
          <a:solidFill>
            <a:srgbClr val="00B9B3"/>
          </a:solidFill>
          <a:ln/>
        </p:spPr>
      </p:sp>
      <p:sp>
        <p:nvSpPr>
          <p:cNvPr id="41" name="Text 39"/>
          <p:cNvSpPr/>
          <p:nvPr/>
        </p:nvSpPr>
        <p:spPr>
          <a:xfrm>
            <a:off x="10680192" y="2633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323576" y="3154680"/>
            <a:ext cx="11704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Shock Alerts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48640" y="429768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F5F8FA"/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" y="4480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22960" y="48463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workstream builds on the last — the baseline dataset feeds the forecast, the forecast reveals the credit-quality signal, and that signal now points toward a proactive alert model. This is a compounding body of work, not eight disconnected projects.</a:t>
            </a:r>
            <a:endParaRPr lang="en-US" sz="1300" dirty="0"/>
          </a:p>
        </p:txBody>
      </p:sp>
      <p:pic>
        <p:nvPicPr>
          <p:cNvPr id="46" name="Image 0" descr="/home/claude/remy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088136" cy="274320"/>
          </a:xfrm>
          <a:prstGeom prst="roundRect">
            <a:avLst>
              <a:gd name="adj" fmla="val 166667"/>
            </a:avLst>
          </a:prstGeom>
          <a:solidFill>
            <a:srgbClr val="00BB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881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Forecasting Dataset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05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975104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needed for forecasting was scattered across five separate corrections and systems, each run as a standalone piece.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0B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163824"/>
            <a:ext cx="5760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end-to-end: all five corrections now run as one connected pipeline, producing one row per day since July 2022, plus two new pieces — active customer count and queue classification.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92240" y="160020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005CB9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6002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366760" y="1833372"/>
            <a:ext cx="502920" cy="36576"/>
          </a:xfrm>
          <a:prstGeom prst="rect">
            <a:avLst/>
          </a:prstGeom>
          <a:solidFill>
            <a:srgbClr val="44546A"/>
          </a:solidFill>
          <a:ln/>
        </p:spPr>
      </p:sp>
      <p:sp>
        <p:nvSpPr>
          <p:cNvPr id="12" name="Shape 10"/>
          <p:cNvSpPr/>
          <p:nvPr/>
        </p:nvSpPr>
        <p:spPr>
          <a:xfrm>
            <a:off x="6492240" y="2221992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00BB86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22199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366760" y="2455164"/>
            <a:ext cx="502920" cy="36576"/>
          </a:xfrm>
          <a:prstGeom prst="rect">
            <a:avLst/>
          </a:prstGeom>
          <a:solidFill>
            <a:srgbClr val="44546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92240" y="2843784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F4A600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2843784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Past-Due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366760" y="3076956"/>
            <a:ext cx="502920" cy="36576"/>
          </a:xfrm>
          <a:prstGeom prst="rect">
            <a:avLst/>
          </a:prstGeom>
          <a:solidFill>
            <a:srgbClr val="44546A"/>
          </a:solidFill>
          <a:ln/>
        </p:spPr>
      </p:sp>
      <p:sp>
        <p:nvSpPr>
          <p:cNvPr id="18" name="Shape 16"/>
          <p:cNvSpPr/>
          <p:nvPr/>
        </p:nvSpPr>
        <p:spPr>
          <a:xfrm>
            <a:off x="6492240" y="3465576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00B9B3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3465576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IVR Metrics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366760" y="3698748"/>
            <a:ext cx="502920" cy="36576"/>
          </a:xfrm>
          <a:prstGeom prst="rect">
            <a:avLst/>
          </a:prstGeom>
          <a:solidFill>
            <a:srgbClr val="44546A"/>
          </a:solidFill>
          <a:ln/>
        </p:spPr>
      </p:sp>
      <p:sp>
        <p:nvSpPr>
          <p:cNvPr id="21" name="Shape 19"/>
          <p:cNvSpPr/>
          <p:nvPr/>
        </p:nvSpPr>
        <p:spPr>
          <a:xfrm>
            <a:off x="6492240" y="4087368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005CB9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408736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Count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366760" y="4320540"/>
            <a:ext cx="502920" cy="36576"/>
          </a:xfrm>
          <a:prstGeom prst="rect">
            <a:avLst/>
          </a:prstGeom>
          <a:solidFill>
            <a:srgbClr val="44546A"/>
          </a:solidFill>
          <a:ln/>
        </p:spPr>
      </p:sp>
      <p:sp>
        <p:nvSpPr>
          <p:cNvPr id="24" name="Shape 22"/>
          <p:cNvSpPr/>
          <p:nvPr/>
        </p:nvSpPr>
        <p:spPr>
          <a:xfrm>
            <a:off x="9006840" y="2706624"/>
            <a:ext cx="1737360" cy="1234440"/>
          </a:xfrm>
          <a:prstGeom prst="roundRect">
            <a:avLst>
              <a:gd name="adj" fmla="val 7407"/>
            </a:avLst>
          </a:prstGeom>
          <a:solidFill>
            <a:srgbClr val="004061"/>
          </a:solidFill>
          <a:ln/>
        </p:spPr>
      </p:sp>
      <p:sp>
        <p:nvSpPr>
          <p:cNvPr id="25" name="Text 23"/>
          <p:cNvSpPr/>
          <p:nvPr/>
        </p:nvSpPr>
        <p:spPr>
          <a:xfrm>
            <a:off x="9006840" y="2706624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5074920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F5F8FA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5120640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customer count validated independently against the usage-alert model — 642,534 vs. 640,860, within 0.3% of each other, built from two completely different queries.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779008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E9F2FF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824728"/>
            <a:ext cx="10698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5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the small snapshot-timing gap, and move the queue exclusion list into a proper reference table.</a:t>
            </a:r>
            <a:endParaRPr lang="en-US" sz="1050" dirty="0"/>
          </a:p>
        </p:txBody>
      </p:sp>
      <p:pic>
        <p:nvPicPr>
          <p:cNvPr id="30" name="Image 0" descr="/home/claude/remy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088136" cy="274320"/>
          </a:xfrm>
          <a:prstGeom prst="roundRect">
            <a:avLst>
              <a:gd name="adj" fmla="val 166667"/>
            </a:avLst>
          </a:prstGeom>
          <a:solidFill>
            <a:srgbClr val="00BB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881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Volume Forecasting Model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05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975104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way to predict daily call volume — staffing decisions were reactive to whatever came in that day.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0B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163824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validated a day-of-week forecasting model, then extended it using the full corrected dataset to reflect how calling behavior has genuinely changed over time.</a:t>
            </a:r>
            <a:endParaRPr lang="en-US" sz="11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492240" y="1554480"/>
          <a:ext cx="512064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5074920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F5F8FA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5120640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forecast now accurate to within -8% to +6% against real results, with known limitations (holidays) identified and documented up front.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5779008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E9F2FF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824728"/>
            <a:ext cx="10698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5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periodically as IVR/phone system changes continue to roll out.</a:t>
            </a:r>
            <a:endParaRPr lang="en-US" sz="1050" dirty="0"/>
          </a:p>
        </p:txBody>
      </p:sp>
      <p:pic>
        <p:nvPicPr>
          <p:cNvPr id="14" name="Image 0" descr="/home/claude/remy_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44268" cy="274320"/>
          </a:xfrm>
          <a:prstGeom prst="roundRect">
            <a:avLst>
              <a:gd name="adj" fmla="val 166667"/>
            </a:avLst>
          </a:prstGeom>
          <a:solidFill>
            <a:srgbClr val="F4A6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1442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SUBSTANTIALLY BUILT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Usage-Alert Targeting Model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05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975104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648,860 active customers, no way existed to identify which of the 24,878 who called about a bill needed proactive outreach.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0B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163824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targeting model combining credit standing, deposit status, and contact history to flag the right customers.</a:t>
            </a:r>
            <a:endParaRPr lang="en-US" sz="11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492240" y="1554480"/>
          <a:ext cx="512064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5074920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F5F8FA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5120640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Narrowed nearly 25,000 potential contacts down to a precise, actionable list of under 1,000 (3.6%).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5779008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E9F2FF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824728"/>
            <a:ext cx="10698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5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directly into the proactive Bill Shock Alert model (see later in this deck).</a:t>
            </a:r>
            <a:endParaRPr lang="en-US" sz="1050" dirty="0"/>
          </a:p>
        </p:txBody>
      </p:sp>
      <p:pic>
        <p:nvPicPr>
          <p:cNvPr id="14" name="Image 0" descr="/home/claude/remy_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088136" cy="274320"/>
          </a:xfrm>
          <a:prstGeom prst="roundRect">
            <a:avLst>
              <a:gd name="adj" fmla="val 166667"/>
            </a:avLst>
          </a:prstGeom>
          <a:solidFill>
            <a:srgbClr val="00BB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881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IVR Call Volume &amp; Abandonment Analysis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05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975104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abandonment was rising with no clear explanation available for leadership.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0B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163824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 down call volume and abandonment patterns by day of week to isolate the pattern.</a:t>
            </a:r>
            <a:endParaRPr lang="en-US" sz="11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492240" y="1554480"/>
          <a:ext cx="512064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5074920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F5F8FA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5120640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Traced the spike to a predictable holiday-Monday surge — a plannable staffing pattern, not a system failure.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5779008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E9F2FF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824728"/>
            <a:ext cx="10698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5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monitoring this pattern around upcoming holidays.</a:t>
            </a:r>
            <a:endParaRPr lang="en-US" sz="1050" dirty="0"/>
          </a:p>
        </p:txBody>
      </p:sp>
      <p:pic>
        <p:nvPicPr>
          <p:cNvPr id="14" name="Image 0" descr="/home/claude/remy_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088136" cy="274320"/>
          </a:xfrm>
          <a:prstGeom prst="roundRect">
            <a:avLst>
              <a:gd name="adj" fmla="val 166667"/>
            </a:avLst>
          </a:prstGeom>
          <a:solidFill>
            <a:srgbClr val="00BB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881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Autopay Removal Analysis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05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956816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believed new customers were the primary driver of autopay cancellations, estimated at 38%.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0B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871216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that assumption against real enrollment history, then dug into specific call drivers behind removals.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20440"/>
          <a:ext cx="5760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0233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0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What's Happening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0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Draft-Date Timing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Autopay pulls on the 1st, disrupting cash flow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 Shock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Surprise activation fee on a tiny first bill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Enrollment Consent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disputes ever agreeing to autopay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Chart 0" descr=""/>
          <p:cNvGraphicFramePr/>
          <p:nvPr/>
        </p:nvGraphicFramePr>
        <p:xfrm>
          <a:off x="6492240" y="1554480"/>
          <a:ext cx="512064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074920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F5F8FA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120640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driver was long-tenured customers nearing their due date (15.2% true rate), plus three concrete, distinct mechanisms identified above.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5779008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E9F2FF"/>
          </a:solidFill>
          <a:ln/>
        </p:spPr>
      </p:sp>
      <p:sp>
        <p:nvSpPr>
          <p:cNvPr id="14" name="Text 10"/>
          <p:cNvSpPr/>
          <p:nvPr/>
        </p:nvSpPr>
        <p:spPr>
          <a:xfrm>
            <a:off x="731520" y="5824728"/>
            <a:ext cx="10698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5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how often each driver appears across removal calls; loop in the Ops team on the consent process question.</a:t>
            </a:r>
            <a:endParaRPr lang="en-US" sz="1050" dirty="0"/>
          </a:p>
        </p:txBody>
      </p:sp>
      <p:pic>
        <p:nvPicPr>
          <p:cNvPr id="15" name="Image 0" descr="/home/claude/remy_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952244" cy="274320"/>
          </a:xfrm>
          <a:prstGeom prst="roundRect">
            <a:avLst>
              <a:gd name="adj" fmla="val 166667"/>
            </a:avLst>
          </a:prstGeom>
          <a:solidFill>
            <a:srgbClr val="005CB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9522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WORKSTREAM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Refresh: Seasonality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05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975104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 didn't account for seasonality and no longer reflected current customer calling behavior.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0B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163824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seasonal index by month, normalized against each year's own average to isolate the true seasonal pattern.</a:t>
            </a:r>
            <a:endParaRPr lang="en-US" sz="11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400800" y="1554480"/>
          <a:ext cx="521208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5074920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F5F8FA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5120640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peak in January/February (up to 21% above average) — not summer, as originally assumed.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5779008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E9F2FF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824728"/>
            <a:ext cx="10698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5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with the 6-month forecast update (see later in this deck).</a:t>
            </a:r>
            <a:endParaRPr lang="en-US" sz="1050" dirty="0"/>
          </a:p>
        </p:txBody>
      </p:sp>
      <p:pic>
        <p:nvPicPr>
          <p:cNvPr id="14" name="Image 0" descr="/home/claude/remy_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664208" cy="274320"/>
          </a:xfrm>
          <a:prstGeom prst="roundRect">
            <a:avLst>
              <a:gd name="adj" fmla="val 166667"/>
            </a:avLst>
          </a:prstGeom>
          <a:solidFill>
            <a:srgbClr val="F4A6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REMY THIS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Quality Predicts Call Rate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relevant to the customer-quality conversation — which customers cost more to serve long-term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5486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371600"/>
                <a:gridCol w="137160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 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0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Credit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(≤500)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0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Credit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(700+)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0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0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$200–$300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A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$300–$400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1.088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A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$400+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1.283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A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31520" y="3566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calls per customer, by bill size and credit tier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537960" y="1691640"/>
            <a:ext cx="5074920" cy="2148840"/>
          </a:xfrm>
          <a:prstGeom prst="roundRect">
            <a:avLst>
              <a:gd name="adj" fmla="val 3404"/>
            </a:avLst>
          </a:prstGeom>
          <a:solidFill>
            <a:srgbClr val="F5F8FA"/>
          </a:solidFill>
          <a:ln/>
        </p:spPr>
      </p:sp>
      <p:sp>
        <p:nvSpPr>
          <p:cNvPr id="9" name="Text 6"/>
          <p:cNvSpPr/>
          <p:nvPr/>
        </p:nvSpPr>
        <p:spPr>
          <a:xfrm>
            <a:off x="6766560" y="1828800"/>
            <a:ext cx="461772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every bill size, low-credit customers call 2.6–3.0x more often than high-credit customers.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9776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05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4233672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Jonathan flagged a concern: would cohort cells have enough volume to be statistically solid?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0" y="397764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0B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0" y="4233672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cohort cell has healthy volume (smallest: 5,830 customers) — and credit quality is the stronger signal, not bill size.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5074920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F5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5120640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data-backed answer to which customers cost more to serve long-term — relevant directly to onboarding and credit-pass-threshold decisions.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5779008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E9F2FF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5824728"/>
            <a:ext cx="10698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5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full cohort-based forecasting model using this signal.</a:t>
            </a:r>
            <a:endParaRPr lang="en-US" sz="1050" dirty="0"/>
          </a:p>
        </p:txBody>
      </p:sp>
      <p:pic>
        <p:nvPicPr>
          <p:cNvPr id="18" name="Image 0" descr="/home/claude/remy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952244" cy="274320"/>
          </a:xfrm>
          <a:prstGeom prst="roundRect">
            <a:avLst>
              <a:gd name="adj" fmla="val 166667"/>
            </a:avLst>
          </a:prstGeom>
          <a:solidFill>
            <a:srgbClr val="005CB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9522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WORKSTREAM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Refresh: Call-Reason Breakdown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05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975104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knew total call volume, but not which specific issues were actually driving it.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0B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163824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call-reason breakdown tied to the LLM call-classification pipeline, covering the last 180 days.</a:t>
            </a:r>
            <a:endParaRPr lang="en-US" sz="11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400800" y="1554480"/>
          <a:ext cx="521208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5074920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F5F8FA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5120640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Arrangement is the single largest driver (~51,000 calls) — confirming it's about a quarter of all calls and the top target for self-service.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5779008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E9F2FF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824728"/>
            <a:ext cx="10698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5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self-service investment specifically in the Payment Arrangement flow.</a:t>
            </a:r>
            <a:endParaRPr lang="en-US" sz="1050" dirty="0"/>
          </a:p>
        </p:txBody>
      </p:sp>
      <p:pic>
        <p:nvPicPr>
          <p:cNvPr id="14" name="Image 0" descr="/home/claude/remy_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568196" cy="274320"/>
          </a:xfrm>
          <a:prstGeom prst="roundRect">
            <a:avLst>
              <a:gd name="adj" fmla="val 166667"/>
            </a:avLst>
          </a:prstGeom>
          <a:solidFill>
            <a:srgbClr val="00B9B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5681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THIS WEEK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Forecast: Behavior, Not Population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the question: is seasonality driven by customer count, or real calling behavior?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Customers (Flat)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2103120"/>
          <a:ext cx="5394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6217920" y="17830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Forecasted Calls (Swings 23%)</a:t>
            </a:r>
            <a:endParaRPr lang="en-US" sz="12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217920" y="2103120"/>
          <a:ext cx="5394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5074920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F5F8FA"/>
          </a:solidFill>
          <a:ln/>
        </p:spPr>
      </p:sp>
      <p:sp>
        <p:nvSpPr>
          <p:cNvPr id="11" name="Text 7"/>
          <p:cNvSpPr/>
          <p:nvPr/>
        </p:nvSpPr>
        <p:spPr>
          <a:xfrm>
            <a:off x="731520" y="5120640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customers change less than 0.1% across 6 months, while call volume swings 23% — proving the seasonal pattern is real customer behavior.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48640" y="5779008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E9F2FF"/>
          </a:solidFill>
          <a:ln/>
        </p:spPr>
      </p:sp>
      <p:sp>
        <p:nvSpPr>
          <p:cNvPr id="13" name="Text 9"/>
          <p:cNvSpPr/>
          <p:nvPr/>
        </p:nvSpPr>
        <p:spPr>
          <a:xfrm>
            <a:off x="731520" y="5824728"/>
            <a:ext cx="10698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5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against real results as August and September actually land.</a:t>
            </a:r>
            <a:endParaRPr lang="en-US" sz="1050" dirty="0"/>
          </a:p>
        </p:txBody>
      </p:sp>
      <p:pic>
        <p:nvPicPr>
          <p:cNvPr id="14" name="Image 0" descr="/home/claude/remy_deck/igs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376172" cy="274320"/>
          </a:xfrm>
          <a:prstGeom prst="roundRect">
            <a:avLst>
              <a:gd name="adj" fmla="val 166667"/>
            </a:avLst>
          </a:prstGeom>
          <a:solidFill>
            <a:srgbClr val="F4A6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3761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Usage &amp; Bill Shock Alert Model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beyond “who's likely to call” toward catching bill shock before it happens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5778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737360"/>
                <a:gridCol w="17373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0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0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Non-Callers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0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Bill Increase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$77.62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$66.69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% Increase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41.05%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35.64%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Score (avg)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Tenure (avg days)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79476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factor distinguishes callers from non-callers — a real, usable signal.</a:t>
            </a:r>
            <a:endParaRPr lang="en-US" sz="105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828800"/>
          <a:ext cx="51206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64592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Increase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0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≤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0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Callers Caught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0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492240" y="32918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choice is a dial, not a switch — trades reach vs. alert volume.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48640" y="5074920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F5F8FA"/>
          </a:solidFill>
          <a:ln/>
        </p:spPr>
      </p:sp>
      <p:sp>
        <p:nvSpPr>
          <p:cNvPr id="11" name="Text 7"/>
          <p:cNvSpPr/>
          <p:nvPr/>
        </p:nvSpPr>
        <p:spPr>
          <a:xfrm>
            <a:off x="731520" y="5120640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validated, ready-to-use model for catching bill shock proactively — for callers and non-callers alike.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48640" y="5779008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E9F2FF"/>
          </a:solidFill>
          <a:ln/>
        </p:spPr>
      </p:sp>
      <p:sp>
        <p:nvSpPr>
          <p:cNvPr id="13" name="Text 9"/>
          <p:cNvSpPr/>
          <p:nvPr/>
        </p:nvSpPr>
        <p:spPr>
          <a:xfrm>
            <a:off x="731520" y="5824728"/>
            <a:ext cx="10698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5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threshold combination, then build the live alert trigger and customer message.</a:t>
            </a:r>
            <a:endParaRPr lang="en-US" sz="1050" dirty="0"/>
          </a:p>
        </p:txBody>
      </p:sp>
      <p:pic>
        <p:nvPicPr>
          <p:cNvPr id="14" name="Image 0" descr="/home/claude/remy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eight workstreams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886968"/>
          </a:xfrm>
          <a:prstGeom prst="roundRect">
            <a:avLst>
              <a:gd name="adj" fmla="val 6186"/>
            </a:avLst>
          </a:prstGeom>
          <a:solidFill>
            <a:srgbClr val="F5F8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46504"/>
            <a:ext cx="365760" cy="54864"/>
          </a:xfrm>
          <a:prstGeom prst="rect">
            <a:avLst/>
          </a:prstGeom>
          <a:solidFill>
            <a:srgbClr val="00BB8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is now accurate and behavior-aware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22199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Day-of-week + seasonal model tracks within -8% to +6%, confirmed as real customer behavior, not a population effect.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1064240" cy="886968"/>
          </a:xfrm>
          <a:prstGeom prst="roundRect">
            <a:avLst>
              <a:gd name="adj" fmla="val 6186"/>
            </a:avLst>
          </a:prstGeom>
          <a:solidFill>
            <a:srgbClr val="F5F8FA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798064"/>
            <a:ext cx="365760" cy="54864"/>
          </a:xfrm>
          <a:prstGeom prst="rect">
            <a:avLst/>
          </a:prstGeom>
          <a:solidFill>
            <a:srgbClr val="F4A60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260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quality is the strongest customer-risk signal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27355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call rate better than bill size — directly relevant to onboarding and credit-threshold decisions.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11064240" cy="886968"/>
          </a:xfrm>
          <a:prstGeom prst="roundRect">
            <a:avLst>
              <a:gd name="adj" fmla="val 6186"/>
            </a:avLst>
          </a:prstGeom>
          <a:solidFill>
            <a:srgbClr val="F5F8FA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849624"/>
            <a:ext cx="365760" cy="54864"/>
          </a:xfrm>
          <a:prstGeom prst="rect">
            <a:avLst/>
          </a:prstGeom>
          <a:solidFill>
            <a:srgbClr val="005CB9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9776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major assumptions were corrected with real data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432511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Autopay removal rate (38% → 15.2%) and forecast seasonality (summer → winter peak) both went against what the team assumed.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754880"/>
            <a:ext cx="11064240" cy="886968"/>
          </a:xfrm>
          <a:prstGeom prst="roundRect">
            <a:avLst>
              <a:gd name="adj" fmla="val 6186"/>
            </a:avLst>
          </a:prstGeom>
          <a:solidFill>
            <a:srgbClr val="F5F8FA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901184"/>
            <a:ext cx="365760" cy="54864"/>
          </a:xfrm>
          <a:prstGeom prst="rect">
            <a:avLst/>
          </a:prstGeom>
          <a:solidFill>
            <a:srgbClr val="00B9B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0292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now has a proactive tool, not just reactive ones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537667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Bill Shock Alert model can flag at-risk customers before they ever call.</a:t>
            </a:r>
            <a:endParaRPr lang="en-US" sz="1150" dirty="0"/>
          </a:p>
        </p:txBody>
      </p:sp>
      <p:pic>
        <p:nvPicPr>
          <p:cNvPr id="20" name="Image 0" descr="/home/claude/remy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40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my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1280160" cy="3337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0058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600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on this momentum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2221992"/>
            <a:ext cx="365760" cy="365760"/>
          </a:xfrm>
          <a:prstGeom prst="ellipse">
            <a:avLst/>
          </a:prstGeom>
          <a:solidFill>
            <a:srgbClr val="F4A600"/>
          </a:solidFill>
          <a:ln/>
        </p:spPr>
      </p:sp>
      <p:sp>
        <p:nvSpPr>
          <p:cNvPr id="6" name="Text 3"/>
          <p:cNvSpPr/>
          <p:nvPr/>
        </p:nvSpPr>
        <p:spPr>
          <a:xfrm>
            <a:off x="1143000" y="2167128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the Bill Shock Alert threshold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43000" y="248716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 decision on reach vs. alert volume, ready for a decision.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3063240"/>
            <a:ext cx="365760" cy="365760"/>
          </a:xfrm>
          <a:prstGeom prst="ellipse">
            <a:avLst/>
          </a:prstGeom>
          <a:solidFill>
            <a:srgbClr val="00BB86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3008376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cohort-based forecasting model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143000" y="3328416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validated credit-quality signal.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3904488"/>
            <a:ext cx="365760" cy="365760"/>
          </a:xfrm>
          <a:prstGeom prst="ellipse">
            <a:avLst/>
          </a:prstGeom>
          <a:solidFill>
            <a:srgbClr val="005CB9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3849624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customer-level drivers into the aggregate forecast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143000" y="4169664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credit quality and bill trend with the day-of-week/seasonal model.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" y="4745736"/>
            <a:ext cx="365760" cy="365760"/>
          </a:xfrm>
          <a:prstGeom prst="ellipse">
            <a:avLst/>
          </a:prstGeom>
          <a:solidFill>
            <a:srgbClr val="00B9B3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4690872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autopay driver investigation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143000" y="501091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draft-date, fee-shock, and consent issues across removal calls.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" y="5586984"/>
            <a:ext cx="365760" cy="365760"/>
          </a:xfrm>
          <a:prstGeom prst="ellipse">
            <a:avLst/>
          </a:prstGeom>
          <a:solidFill>
            <a:srgbClr val="F4A600"/>
          </a:solidFill>
          <a:ln/>
        </p:spPr>
      </p:sp>
      <p:sp>
        <p:nvSpPr>
          <p:cNvPr id="18" name="Text 15"/>
          <p:cNvSpPr/>
          <p:nvPr/>
        </p:nvSpPr>
        <p:spPr>
          <a:xfrm>
            <a:off x="1143000" y="5532120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6-month forecast against real results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143000" y="58521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August and September actually land.</a:t>
            </a:r>
            <a:endParaRPr lang="en-US" sz="1100" dirty="0"/>
          </a:p>
        </p:txBody>
      </p:sp>
      <p:pic>
        <p:nvPicPr>
          <p:cNvPr id="20" name="Image 1" descr="/home/claude/remy_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2026-07-30T19:22:40Z</dcterms:created>
  <dcterms:modified xsi:type="dcterms:W3CDTF">2026-07-30T19:22:40Z</dcterms:modified>
</cp:coreProperties>
</file>