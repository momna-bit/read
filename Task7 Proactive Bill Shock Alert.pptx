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 of customers flagged</c:v>
                </c:pt>
              </c:strCache>
            </c:strRef>
          </c:tx>
          <c:spPr>
            <a:solidFill>
              <a:srgbClr val="005CB9"/>
            </a:solidFill>
            <a:effectLst/>
          </c:spPr>
          <c:invertIfNegative val="0"/>
          <c:dLbls>
            <c:numFmt formatCode="#,##0" sourceLinked="0"/>
            <c:txPr>
              <a:bodyPr/>
              <a:lstStyle/>
              <a:p>
                <a:pPr>
                  <a:defRPr b="0" i="0" strike="noStrike" sz="1200" u="none">
                    <a:solidFill>
                      <a:srgbClr val="004061"/>
                    </a:solidFill>
                    <a:latin typeface="Arial"/>
                  </a:defRPr>
                </a:pPr>
              </a:p>
            </c:txPr>
            <c:showLegendKey val="0"/>
            <c:showVal val="1"/>
            <c:showCatName val="0"/>
            <c:showSerName val="0"/>
            <c:showPercent val="0"/>
            <c:showBubbleSize val="0"/>
            <c:showLeaderLines val="0"/>
          </c:dLbls>
          <c:cat>
            <c:multiLvlStrRef>
              <c:f>Sheet1!$A$2:$A$8</c:f>
              <c:multiLvlStrCache>
                <c:ptCount val="7"/>
                <c:lvl>
                  <c:pt idx="0">
                    <c:v>50%</c:v>
                  </c:pt>
                  <c:pt idx="1">
                    <c:v>55%</c:v>
                  </c:pt>
                  <c:pt idx="2">
                    <c:v>60%</c:v>
                  </c:pt>
                  <c:pt idx="3">
                    <c:v>65%</c:v>
                  </c:pt>
                  <c:pt idx="4">
                    <c:v>70%</c:v>
                  </c:pt>
                  <c:pt idx="5">
                    <c:v>75%</c:v>
                  </c:pt>
                  <c:pt idx="6">
                    <c:v>80%</c:v>
                  </c:pt>
                </c:lvl>
              </c:multiLvlStrCache>
            </c:multiLvlStrRef>
          </c:cat>
          <c:val>
            <c:numRef>
              <c:f>Sheet1!$B$2:$B$8</c:f>
              <c:numCache>
                <c:formatCode>General</c:formatCode>
                <c:ptCount val="7"/>
                <c:pt idx="0">
                  <c:v>33.5</c:v>
                </c:pt>
                <c:pt idx="1">
                  <c:v>20.9</c:v>
                </c:pt>
                <c:pt idx="2">
                  <c:v>13.7</c:v>
                </c:pt>
                <c:pt idx="3">
                  <c:v>8.2</c:v>
                </c:pt>
                <c:pt idx="4">
                  <c:v>4.1</c:v>
                </c:pt>
                <c:pt idx="5">
                  <c:v>1.5</c:v>
                </c:pt>
                <c:pt idx="6">
                  <c:v>0.2</c:v>
                </c:pt>
              </c:numCache>
            </c:numRef>
          </c:val>
        </c:ser>
        <c:dLbls>
          <c:numFmt formatCode="#,##0" sourceLinked="0"/>
          <c:txPr>
            <a:bodyPr/>
            <a:lstStyle/>
            <a:p>
              <a:pPr>
                <a:defRPr b="0" i="0" strike="noStrike" sz="1200" u="none">
                  <a:solidFill>
                    <a:srgbClr val="00406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B6B7C"/>
                    </a:solidFill>
                    <a:latin typeface="Arial"/>
                  </a:defRPr>
                </a:pPr>
                <a:r>
                  <a:rPr sz="1200" b="0" i="0" u="none" strike="noStrike">
                    <a:solidFill>
                      <a:srgbClr val="5B6B7C"/>
                    </a:solidFill>
                    <a:latin typeface="Arial"/>
                  </a:rPr>
                  <a:t>Cutoff — how confident the model must be before it sends an alert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C"/>
                </a:solidFill>
                <a:latin typeface="Arial"/>
              </a:defRPr>
            </a:pPr>
            <a:endParaRPr lang="en-US"/>
          </a:p>
        </c:txPr>
        <c:crossAx val="2094734552"/>
        <c:crosses val="autoZero"/>
        <c:auto val="1"/>
        <c:lblAlgn val="ctr"/>
        <c:noMultiLvlLbl val="1"/>
      </c:catAx>
      <c:valAx>
        <c:axId val="2094734552"/>
        <c:scaling>
          <c:orientation val="minMax"/>
          <c:max val="40"/>
        </c:scaling>
        <c:delete val="0"/>
        <c:axPos val="l"/>
        <c:majorGridlines>
          <c:spPr>
            <a:ln w="12700" cap="flat">
              <a:solidFill>
                <a:srgbClr val="E5E7EB"/>
              </a:solidFill>
              <a:prstDash val="solid"/>
              <a:round/>
            </a:ln>
          </c:spPr>
        </c:majorGridlines>
        <c:title>
          <c:tx>
            <c:rich>
              <a:bodyPr/>
              <a:lstStyle/>
              <a:p>
                <a:pPr>
                  <a:defRPr sz="1200" b="0" i="0" u="none" strike="noStrike">
                    <a:solidFill>
                      <a:srgbClr val="5B6B7C"/>
                    </a:solidFill>
                    <a:latin typeface="Arial"/>
                  </a:defRPr>
                </a:pPr>
                <a:r>
                  <a:rPr sz="1200" b="0" i="0" u="none" strike="noStrike">
                    <a:solidFill>
                      <a:srgbClr val="5B6B7C"/>
                    </a:solidFill>
                    <a:latin typeface="Arial"/>
                  </a:rPr>
                  <a:t>% of All Customers Flagged</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 of real callers caught</c:v>
                </c:pt>
              </c:strCache>
            </c:strRef>
          </c:tx>
          <c:spPr>
            <a:solidFill>
              <a:srgbClr val="00BB86"/>
            </a:solidFill>
            <a:effectLst/>
          </c:spPr>
          <c:invertIfNegative val="0"/>
          <c:dLbls>
            <c:numFmt formatCode="#,##0" sourceLinked="0"/>
            <c:txPr>
              <a:bodyPr/>
              <a:lstStyle/>
              <a:p>
                <a:pPr>
                  <a:defRPr b="0" i="0" strike="noStrike" sz="1200" u="none">
                    <a:solidFill>
                      <a:srgbClr val="004061"/>
                    </a:solidFill>
                    <a:latin typeface="Arial"/>
                  </a:defRPr>
                </a:pPr>
              </a:p>
            </c:txPr>
            <c:showLegendKey val="0"/>
            <c:showVal val="1"/>
            <c:showCatName val="0"/>
            <c:showSerName val="0"/>
            <c:showPercent val="0"/>
            <c:showBubbleSize val="0"/>
            <c:showLeaderLines val="0"/>
          </c:dLbls>
          <c:cat>
            <c:multiLvlStrRef>
              <c:f>Sheet1!$A$2:$A$8</c:f>
              <c:multiLvlStrCache>
                <c:ptCount val="7"/>
                <c:lvl>
                  <c:pt idx="0">
                    <c:v>50%</c:v>
                  </c:pt>
                  <c:pt idx="1">
                    <c:v>55%</c:v>
                  </c:pt>
                  <c:pt idx="2">
                    <c:v>60%</c:v>
                  </c:pt>
                  <c:pt idx="3">
                    <c:v>65%</c:v>
                  </c:pt>
                  <c:pt idx="4">
                    <c:v>70%</c:v>
                  </c:pt>
                  <c:pt idx="5">
                    <c:v>75%</c:v>
                  </c:pt>
                  <c:pt idx="6">
                    <c:v>80%</c:v>
                  </c:pt>
                </c:lvl>
              </c:multiLvlStrCache>
            </c:multiLvlStrRef>
          </c:cat>
          <c:val>
            <c:numRef>
              <c:f>Sheet1!$B$2:$B$8</c:f>
              <c:numCache>
                <c:formatCode>General</c:formatCode>
                <c:ptCount val="7"/>
                <c:pt idx="0">
                  <c:v>89.9</c:v>
                </c:pt>
                <c:pt idx="1">
                  <c:v>53.8</c:v>
                </c:pt>
                <c:pt idx="2">
                  <c:v>37.2</c:v>
                </c:pt>
                <c:pt idx="3">
                  <c:v>26.2</c:v>
                </c:pt>
                <c:pt idx="4">
                  <c:v>17</c:v>
                </c:pt>
                <c:pt idx="5">
                  <c:v>9.2</c:v>
                </c:pt>
                <c:pt idx="6">
                  <c:v>3.6</c:v>
                </c:pt>
              </c:numCache>
            </c:numRef>
          </c:val>
        </c:ser>
        <c:dLbls>
          <c:numFmt formatCode="#,##0" sourceLinked="0"/>
          <c:txPr>
            <a:bodyPr/>
            <a:lstStyle/>
            <a:p>
              <a:pPr>
                <a:defRPr b="0" i="0" strike="noStrike" sz="1200" u="none">
                  <a:solidFill>
                    <a:srgbClr val="00406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B6B7C"/>
                    </a:solidFill>
                    <a:latin typeface="Arial"/>
                  </a:defRPr>
                </a:pPr>
                <a:r>
                  <a:rPr sz="1200" b="0" i="0" u="none" strike="noStrike">
                    <a:solidFill>
                      <a:srgbClr val="5B6B7C"/>
                    </a:solidFill>
                    <a:latin typeface="Arial"/>
                  </a:rPr>
                  <a:t>Cutoff — how confident the model must be before it sends an alert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C"/>
                </a:solidFill>
                <a:latin typeface="Arial"/>
              </a:defRPr>
            </a:pPr>
            <a:endParaRPr lang="en-US"/>
          </a:p>
        </c:txPr>
        <c:crossAx val="2094734552"/>
        <c:crosses val="autoZero"/>
        <c:auto val="1"/>
        <c:lblAlgn val="ctr"/>
        <c:noMultiLvlLbl val="1"/>
      </c:catAx>
      <c:valAx>
        <c:axId val="2094734552"/>
        <c:scaling>
          <c:orientation val="minMax"/>
          <c:max val="100"/>
        </c:scaling>
        <c:delete val="0"/>
        <c:axPos val="l"/>
        <c:majorGridlines>
          <c:spPr>
            <a:ln w="12700" cap="flat">
              <a:solidFill>
                <a:srgbClr val="E5E7EB"/>
              </a:solidFill>
              <a:prstDash val="solid"/>
              <a:round/>
            </a:ln>
          </c:spPr>
        </c:majorGridlines>
        <c:title>
          <c:tx>
            <c:rich>
              <a:bodyPr/>
              <a:lstStyle/>
              <a:p>
                <a:pPr>
                  <a:defRPr sz="1200" b="0" i="0" u="none" strike="noStrike">
                    <a:solidFill>
                      <a:srgbClr val="5B6B7C"/>
                    </a:solidFill>
                    <a:latin typeface="Arial"/>
                  </a:defRPr>
                </a:pPr>
                <a:r>
                  <a:rPr sz="1200" b="0" i="0" u="none" strike="noStrike">
                    <a:solidFill>
                      <a:srgbClr val="5B6B7C"/>
                    </a:solidFill>
                    <a:latin typeface="Arial"/>
                  </a:rPr>
                  <a:t>% of Real Callers Caught in Advance (Recall)</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4061"/>
        </a:solidFill>
      </p:bgPr>
    </p:bg>
    <p:spTree>
      <p:nvGrpSpPr>
        <p:cNvPr id="1" name=""/>
        <p:cNvGrpSpPr/>
        <p:nvPr/>
      </p:nvGrpSpPr>
      <p:grpSpPr>
        <a:xfrm>
          <a:off x="0" y="0"/>
          <a:ext cx="0" cy="0"/>
          <a:chOff x="0" y="0"/>
          <a:chExt cx="0" cy="0"/>
        </a:xfrm>
      </p:grpSpPr>
      <p:pic>
        <p:nvPicPr>
          <p:cNvPr id="2" name="Image 0" descr="/home/claude/task7_deck/igs_logo.png">    </p:cNvPr>
          <p:cNvPicPr>
            <a:picLocks noChangeAspect="1"/>
          </p:cNvPicPr>
          <p:nvPr/>
        </p:nvPicPr>
        <p:blipFill>
          <a:blip r:embed="rId1"/>
          <a:stretch>
            <a:fillRect/>
          </a:stretch>
        </p:blipFill>
        <p:spPr>
          <a:xfrm>
            <a:off x="457200" y="320040"/>
            <a:ext cx="868680" cy="225857"/>
          </a:xfrm>
          <a:prstGeom prst="rect">
            <a:avLst/>
          </a:prstGeom>
        </p:spPr>
      </p:pic>
      <p:sp>
        <p:nvSpPr>
          <p:cNvPr id="3" name="Text 0"/>
          <p:cNvSpPr/>
          <p:nvPr/>
        </p:nvSpPr>
        <p:spPr>
          <a:xfrm>
            <a:off x="640080" y="2743200"/>
            <a:ext cx="10881360" cy="822960"/>
          </a:xfrm>
          <a:prstGeom prst="rect">
            <a:avLst/>
          </a:prstGeom>
          <a:noFill/>
          <a:ln/>
        </p:spPr>
        <p:txBody>
          <a:bodyPr wrap="square" rtlCol="0" anchor="ctr"/>
          <a:lstStyle/>
          <a:p>
            <a:pPr indent="0" marL="0">
              <a:buNone/>
            </a:pPr>
            <a:r>
              <a:rPr lang="en-US" sz="3300" b="1" dirty="0">
                <a:solidFill>
                  <a:srgbClr val="FFFFFF"/>
                </a:solidFill>
                <a:latin typeface="Calibri" pitchFamily="34" charset="0"/>
                <a:ea typeface="Calibri" pitchFamily="34" charset="-122"/>
                <a:cs typeface="Calibri" pitchFamily="34" charset="-120"/>
              </a:rPr>
              <a:t>PROACTIVE USAGE &amp; BILL SHOCK ALERT</a:t>
            </a:r>
            <a:endParaRPr lang="en-US" sz="3300" dirty="0"/>
          </a:p>
        </p:txBody>
      </p:sp>
      <p:sp>
        <p:nvSpPr>
          <p:cNvPr id="4" name="Text 1"/>
          <p:cNvSpPr/>
          <p:nvPr/>
        </p:nvSpPr>
        <p:spPr>
          <a:xfrm>
            <a:off x="640080" y="3520440"/>
            <a:ext cx="10607040" cy="457200"/>
          </a:xfrm>
          <a:prstGeom prst="rect">
            <a:avLst/>
          </a:prstGeom>
          <a:noFill/>
          <a:ln/>
        </p:spPr>
        <p:txBody>
          <a:bodyPr wrap="square" rtlCol="0" anchor="ctr"/>
          <a:lstStyle/>
          <a:p>
            <a:pPr indent="0" marL="0">
              <a:buNone/>
            </a:pPr>
            <a:r>
              <a:rPr lang="en-US" sz="1550" dirty="0">
                <a:solidFill>
                  <a:srgbClr val="00B9B3"/>
                </a:solidFill>
                <a:latin typeface="Calibri" pitchFamily="34" charset="0"/>
                <a:ea typeface="Calibri" pitchFamily="34" charset="-122"/>
                <a:cs typeface="Calibri" pitchFamily="34" charset="-120"/>
              </a:rPr>
              <a:t>Predicting which customers are likely to call about a bill increase, and where to set the alert cutoff</a:t>
            </a:r>
            <a:endParaRPr lang="en-US" sz="1550" dirty="0"/>
          </a:p>
        </p:txBody>
      </p:sp>
      <p:sp>
        <p:nvSpPr>
          <p:cNvPr id="5" name="Shape 2"/>
          <p:cNvSpPr/>
          <p:nvPr/>
        </p:nvSpPr>
        <p:spPr>
          <a:xfrm>
            <a:off x="0" y="6519672"/>
            <a:ext cx="3047238" cy="338328"/>
          </a:xfrm>
          <a:prstGeom prst="rect">
            <a:avLst/>
          </a:prstGeom>
          <a:solidFill>
            <a:srgbClr val="005CB9"/>
          </a:solidFill>
          <a:ln/>
        </p:spPr>
      </p:sp>
      <p:sp>
        <p:nvSpPr>
          <p:cNvPr id="6" name="Shape 3"/>
          <p:cNvSpPr/>
          <p:nvPr/>
        </p:nvSpPr>
        <p:spPr>
          <a:xfrm>
            <a:off x="3047238" y="6519672"/>
            <a:ext cx="3047238" cy="338328"/>
          </a:xfrm>
          <a:prstGeom prst="rect">
            <a:avLst/>
          </a:prstGeom>
          <a:solidFill>
            <a:srgbClr val="00BB86"/>
          </a:solidFill>
          <a:ln/>
        </p:spPr>
      </p:sp>
      <p:sp>
        <p:nvSpPr>
          <p:cNvPr id="7" name="Shape 4"/>
          <p:cNvSpPr/>
          <p:nvPr/>
        </p:nvSpPr>
        <p:spPr>
          <a:xfrm>
            <a:off x="6094476" y="6519672"/>
            <a:ext cx="3047238" cy="338328"/>
          </a:xfrm>
          <a:prstGeom prst="rect">
            <a:avLst/>
          </a:prstGeom>
          <a:solidFill>
            <a:srgbClr val="F4A600"/>
          </a:solidFill>
          <a:ln/>
        </p:spPr>
      </p:sp>
      <p:sp>
        <p:nvSpPr>
          <p:cNvPr id="8" name="Shape 5"/>
          <p:cNvSpPr/>
          <p:nvPr/>
        </p:nvSpPr>
        <p:spPr>
          <a:xfrm>
            <a:off x="9141714" y="6519672"/>
            <a:ext cx="3047238" cy="338328"/>
          </a:xfrm>
          <a:prstGeom prst="rect">
            <a:avLst/>
          </a:prstGeom>
          <a:solidFill>
            <a:srgbClr val="00B9B3"/>
          </a:solidFill>
          <a:ln/>
        </p:spPr>
      </p:sp>
      <p:pic>
        <p:nvPicPr>
          <p:cNvPr id="9" name="Image 1" descr="/home/claude/task7_deck/igs_logo.png">    </p:cNvPr>
          <p:cNvPicPr>
            <a:picLocks noChangeAspect="1"/>
          </p:cNvPicPr>
          <p:nvPr/>
        </p:nvPicPr>
        <p:blipFill>
          <a:blip r:embed="rId2"/>
          <a:stretch>
            <a:fillRect/>
          </a:stretch>
        </p:blipFill>
        <p:spPr>
          <a:xfrm>
            <a:off x="411480" y="6565392"/>
            <a:ext cx="777240" cy="201168"/>
          </a:xfrm>
          <a:prstGeom prst="rect">
            <a:avLst/>
          </a:prstGeom>
        </p:spPr>
      </p:pic>
      <p:sp>
        <p:nvSpPr>
          <p:cNvPr id="10" name="Text 6"/>
          <p:cNvSpPr/>
          <p:nvPr/>
        </p:nvSpPr>
        <p:spPr>
          <a:xfrm>
            <a:off x="11475720" y="6473952"/>
            <a:ext cx="457200" cy="274320"/>
          </a:xfrm>
          <a:prstGeom prst="rect">
            <a:avLst/>
          </a:prstGeom>
          <a:noFill/>
          <a:ln/>
        </p:spPr>
        <p:txBody>
          <a:bodyPr wrap="square" rtlCol="0" anchor="ctr"/>
          <a:lstStyle/>
          <a:p>
            <a:pPr algn="r" indent="0" marL="0">
              <a:buNone/>
            </a:pPr>
            <a:r>
              <a:rPr lang="en-US" sz="1100" dirty="0">
                <a:solidFill>
                  <a:srgbClr val="5C86A8"/>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2331720" cy="310896"/>
          </a:xfrm>
          <a:prstGeom prst="roundRect">
            <a:avLst>
              <a:gd name="adj" fmla="val 50000"/>
            </a:avLst>
          </a:prstGeom>
          <a:solidFill>
            <a:srgbClr val="005CB9"/>
          </a:solidFill>
          <a:ln/>
        </p:spPr>
      </p:sp>
      <p:sp>
        <p:nvSpPr>
          <p:cNvPr id="3" name="Text 1"/>
          <p:cNvSpPr/>
          <p:nvPr/>
        </p:nvSpPr>
        <p:spPr>
          <a:xfrm>
            <a:off x="457200" y="365760"/>
            <a:ext cx="2331720" cy="310896"/>
          </a:xfrm>
          <a:prstGeom prst="rect">
            <a:avLst/>
          </a:prstGeom>
          <a:noFill/>
          <a:ln/>
        </p:spPr>
        <p:txBody>
          <a:bodyPr wrap="square" rtlCol="0" anchor="ctr"/>
          <a:lstStyle/>
          <a:p>
            <a:pPr algn="ctr" indent="0" marL="0">
              <a:buNone/>
            </a:pPr>
            <a:r>
              <a:rPr lang="en-US" sz="1050" b="1" spc="50" kern="0" dirty="0">
                <a:solidFill>
                  <a:srgbClr val="FFFFFF"/>
                </a:solidFill>
                <a:latin typeface="Calibri" pitchFamily="34" charset="0"/>
                <a:ea typeface="Calibri" pitchFamily="34" charset="-122"/>
                <a:cs typeface="Calibri" pitchFamily="34" charset="-120"/>
              </a:rPr>
              <a:t>STEP 1: THE GOAL</a:t>
            </a:r>
            <a:endParaRPr lang="en-US" sz="1050" dirty="0"/>
          </a:p>
        </p:txBody>
      </p:sp>
      <p:sp>
        <p:nvSpPr>
          <p:cNvPr id="4" name="Text 2"/>
          <p:cNvSpPr/>
          <p:nvPr/>
        </p:nvSpPr>
        <p:spPr>
          <a:xfrm>
            <a:off x="457200" y="804672"/>
            <a:ext cx="9966960" cy="594360"/>
          </a:xfrm>
          <a:prstGeom prst="rect">
            <a:avLst/>
          </a:prstGeom>
          <a:noFill/>
          <a:ln/>
        </p:spPr>
        <p:txBody>
          <a:bodyPr wrap="square" rtlCol="0" anchor="ctr"/>
          <a:lstStyle/>
          <a:p>
            <a:pPr indent="0" marL="0">
              <a:buNone/>
            </a:pPr>
            <a:r>
              <a:rPr lang="en-US" sz="2800" b="1" dirty="0">
                <a:solidFill>
                  <a:srgbClr val="004061"/>
                </a:solidFill>
                <a:latin typeface="Calibri" pitchFamily="34" charset="0"/>
                <a:ea typeface="Calibri" pitchFamily="34" charset="-122"/>
                <a:cs typeface="Calibri" pitchFamily="34" charset="-120"/>
              </a:rPr>
              <a:t>Why We're Doing This</a:t>
            </a:r>
            <a:endParaRPr lang="en-US" sz="2800" dirty="0"/>
          </a:p>
        </p:txBody>
      </p:sp>
      <p:pic>
        <p:nvPicPr>
          <p:cNvPr id="5" name="Image 0" descr="/home/claude/task7_deck/igs_logo.png">    </p:cNvPr>
          <p:cNvPicPr>
            <a:picLocks noChangeAspect="1"/>
          </p:cNvPicPr>
          <p:nvPr/>
        </p:nvPicPr>
        <p:blipFill>
          <a:blip r:embed="rId1"/>
          <a:stretch>
            <a:fillRect/>
          </a:stretch>
        </p:blipFill>
        <p:spPr>
          <a:xfrm>
            <a:off x="10698480" y="365760"/>
            <a:ext cx="868680" cy="225857"/>
          </a:xfrm>
          <a:prstGeom prst="rect">
            <a:avLst/>
          </a:prstGeom>
        </p:spPr>
      </p:pic>
      <p:sp>
        <p:nvSpPr>
          <p:cNvPr id="6" name="Text 3"/>
          <p:cNvSpPr/>
          <p:nvPr/>
        </p:nvSpPr>
        <p:spPr>
          <a:xfrm>
            <a:off x="457200" y="1554480"/>
            <a:ext cx="11247120" cy="1463040"/>
          </a:xfrm>
          <a:prstGeom prst="rect">
            <a:avLst/>
          </a:prstGeom>
          <a:noFill/>
          <a:ln/>
        </p:spPr>
        <p:txBody>
          <a:bodyPr wrap="square" rtlCol="0" anchor="t"/>
          <a:lstStyle/>
          <a:p>
            <a:pPr indent="0" marL="0">
              <a:lnSpc>
                <a:spcPct val="135000"/>
              </a:lnSpc>
              <a:buNone/>
            </a:pPr>
            <a:r>
              <a:rPr lang="en-US" sz="1600" dirty="0">
                <a:solidFill>
                  <a:srgbClr val="3A3A3A"/>
                </a:solidFill>
                <a:latin typeface="Calibri" pitchFamily="34" charset="0"/>
                <a:ea typeface="Calibri" pitchFamily="34" charset="-122"/>
                <a:cs typeface="Calibri" pitchFamily="34" charset="-120"/>
              </a:rPr>
              <a:t>Jonathan wants us to spot customers who are likely to call about a bill increase — before they actually call. Right now, we only find out someone's upset when they're already on the phone with Care. If we can flag the risk early, we can reach out first, on our terms.</a:t>
            </a:r>
            <a:endParaRPr lang="en-US" sz="1600" dirty="0"/>
          </a:p>
        </p:txBody>
      </p:sp>
      <p:sp>
        <p:nvSpPr>
          <p:cNvPr id="7" name="Shape 4"/>
          <p:cNvSpPr/>
          <p:nvPr/>
        </p:nvSpPr>
        <p:spPr>
          <a:xfrm>
            <a:off x="457200" y="3200400"/>
            <a:ext cx="11274552" cy="1600200"/>
          </a:xfrm>
          <a:prstGeom prst="rect">
            <a:avLst>
              <a:gd name="adj" fmla="val 3429"/>
            </a:avLst>
          </a:prstGeom>
          <a:solidFill>
            <a:srgbClr val="F5F8FB"/>
          </a:solidFill>
          <a:ln/>
        </p:spPr>
      </p:sp>
      <p:sp>
        <p:nvSpPr>
          <p:cNvPr id="8" name="Text 5"/>
          <p:cNvSpPr/>
          <p:nvPr/>
        </p:nvSpPr>
        <p:spPr>
          <a:xfrm>
            <a:off x="777240" y="3364992"/>
            <a:ext cx="3657600" cy="320040"/>
          </a:xfrm>
          <a:prstGeom prst="rect">
            <a:avLst/>
          </a:prstGeom>
          <a:noFill/>
          <a:ln/>
        </p:spPr>
        <p:txBody>
          <a:bodyPr wrap="square" rtlCol="0" anchor="ctr"/>
          <a:lstStyle/>
          <a:p>
            <a:pPr indent="0" marL="0">
              <a:buNone/>
            </a:pPr>
            <a:r>
              <a:rPr lang="en-US" sz="1350" b="1" dirty="0">
                <a:solidFill>
                  <a:srgbClr val="00BB86"/>
                </a:solidFill>
                <a:latin typeface="Calibri" pitchFamily="34" charset="0"/>
                <a:ea typeface="Calibri" pitchFamily="34" charset="-122"/>
                <a:cs typeface="Calibri" pitchFamily="34" charset="-120"/>
              </a:rPr>
              <a:t>In plain terms:</a:t>
            </a:r>
            <a:endParaRPr lang="en-US" sz="1350" dirty="0"/>
          </a:p>
        </p:txBody>
      </p:sp>
      <p:sp>
        <p:nvSpPr>
          <p:cNvPr id="9" name="Text 6"/>
          <p:cNvSpPr/>
          <p:nvPr/>
        </p:nvSpPr>
        <p:spPr>
          <a:xfrm>
            <a:off x="777240" y="3703320"/>
            <a:ext cx="10652760" cy="1005840"/>
          </a:xfrm>
          <a:prstGeom prst="rect">
            <a:avLst/>
          </a:prstGeom>
          <a:noFill/>
          <a:ln/>
        </p:spPr>
        <p:txBody>
          <a:bodyPr wrap="square" rtlCol="0" anchor="t"/>
          <a:lstStyle/>
          <a:p>
            <a:pPr indent="0" marL="0">
              <a:lnSpc>
                <a:spcPct val="130000"/>
              </a:lnSpc>
              <a:buNone/>
            </a:pPr>
            <a:r>
              <a:rPr lang="en-US" sz="1400" dirty="0">
                <a:solidFill>
                  <a:srgbClr val="3A3A3A"/>
                </a:solidFill>
                <a:latin typeface="Calibri" pitchFamily="34" charset="0"/>
                <a:ea typeface="Calibri" pitchFamily="34" charset="-122"/>
                <a:cs typeface="Calibri" pitchFamily="34" charset="-120"/>
              </a:rPr>
              <a:t>We wanted a system that guesses, ahead of time, how likely a customer is to call about their bill. If it works, the customer gets help early and stays with us. If they still end up leaving, we catch that earlier too, with less unpaid balance left behind — either way is a win.</a:t>
            </a:r>
            <a:endParaRPr lang="en-US" sz="1400" dirty="0"/>
          </a:p>
        </p:txBody>
      </p:sp>
      <p:sp>
        <p:nvSpPr>
          <p:cNvPr id="10" name="Text 7"/>
          <p:cNvSpPr/>
          <p:nvPr/>
        </p:nvSpPr>
        <p:spPr>
          <a:xfrm>
            <a:off x="11475720" y="6473952"/>
            <a:ext cx="457200" cy="274320"/>
          </a:xfrm>
          <a:prstGeom prst="rect">
            <a:avLst/>
          </a:prstGeom>
          <a:noFill/>
          <a:ln/>
        </p:spPr>
        <p:txBody>
          <a:bodyPr wrap="square" rtlCol="0" anchor="ctr"/>
          <a:lstStyle/>
          <a:p>
            <a:pPr algn="r" indent="0" marL="0">
              <a:buNone/>
            </a:pPr>
            <a:r>
              <a:rPr lang="en-US" sz="1100" dirty="0">
                <a:solidFill>
                  <a:srgbClr val="AFB6BD"/>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2331720" cy="310896"/>
          </a:xfrm>
          <a:prstGeom prst="roundRect">
            <a:avLst>
              <a:gd name="adj" fmla="val 50000"/>
            </a:avLst>
          </a:prstGeom>
          <a:solidFill>
            <a:srgbClr val="00BB86"/>
          </a:solidFill>
          <a:ln/>
        </p:spPr>
      </p:sp>
      <p:sp>
        <p:nvSpPr>
          <p:cNvPr id="3" name="Text 1"/>
          <p:cNvSpPr/>
          <p:nvPr/>
        </p:nvSpPr>
        <p:spPr>
          <a:xfrm>
            <a:off x="457200" y="365760"/>
            <a:ext cx="2331720" cy="310896"/>
          </a:xfrm>
          <a:prstGeom prst="rect">
            <a:avLst/>
          </a:prstGeom>
          <a:noFill/>
          <a:ln/>
        </p:spPr>
        <p:txBody>
          <a:bodyPr wrap="square" rtlCol="0" anchor="ctr"/>
          <a:lstStyle/>
          <a:p>
            <a:pPr algn="ctr" indent="0" marL="0">
              <a:buNone/>
            </a:pPr>
            <a:r>
              <a:rPr lang="en-US" sz="1050" b="1" spc="50" kern="0" dirty="0">
                <a:solidFill>
                  <a:srgbClr val="FFFFFF"/>
                </a:solidFill>
                <a:latin typeface="Calibri" pitchFamily="34" charset="0"/>
                <a:ea typeface="Calibri" pitchFamily="34" charset="-122"/>
                <a:cs typeface="Calibri" pitchFamily="34" charset="-120"/>
              </a:rPr>
              <a:t>STEP 2: THE METHOD</a:t>
            </a:r>
            <a:endParaRPr lang="en-US" sz="1050" dirty="0"/>
          </a:p>
        </p:txBody>
      </p:sp>
      <p:sp>
        <p:nvSpPr>
          <p:cNvPr id="4" name="Text 2"/>
          <p:cNvSpPr/>
          <p:nvPr/>
        </p:nvSpPr>
        <p:spPr>
          <a:xfrm>
            <a:off x="457200" y="804672"/>
            <a:ext cx="9966960" cy="594360"/>
          </a:xfrm>
          <a:prstGeom prst="rect">
            <a:avLst/>
          </a:prstGeom>
          <a:noFill/>
          <a:ln/>
        </p:spPr>
        <p:txBody>
          <a:bodyPr wrap="square" rtlCol="0" anchor="ctr"/>
          <a:lstStyle/>
          <a:p>
            <a:pPr indent="0" marL="0">
              <a:buNone/>
            </a:pPr>
            <a:r>
              <a:rPr lang="en-US" sz="2800" b="1" dirty="0">
                <a:solidFill>
                  <a:srgbClr val="004061"/>
                </a:solidFill>
                <a:latin typeface="Calibri" pitchFamily="34" charset="0"/>
                <a:ea typeface="Calibri" pitchFamily="34" charset="-122"/>
                <a:cs typeface="Calibri" pitchFamily="34" charset="-120"/>
              </a:rPr>
              <a:t>How We Did This</a:t>
            </a:r>
            <a:endParaRPr lang="en-US" sz="2800" dirty="0"/>
          </a:p>
        </p:txBody>
      </p:sp>
      <p:pic>
        <p:nvPicPr>
          <p:cNvPr id="5" name="Image 0" descr="/home/claude/task7_deck/igs_logo.png">    </p:cNvPr>
          <p:cNvPicPr>
            <a:picLocks noChangeAspect="1"/>
          </p:cNvPicPr>
          <p:nvPr/>
        </p:nvPicPr>
        <p:blipFill>
          <a:blip r:embed="rId1"/>
          <a:stretch>
            <a:fillRect/>
          </a:stretch>
        </p:blipFill>
        <p:spPr>
          <a:xfrm>
            <a:off x="10698480" y="365760"/>
            <a:ext cx="868680" cy="225857"/>
          </a:xfrm>
          <a:prstGeom prst="rect">
            <a:avLst/>
          </a:prstGeom>
        </p:spPr>
      </p:pic>
      <p:sp>
        <p:nvSpPr>
          <p:cNvPr id="6" name="Shape 3"/>
          <p:cNvSpPr/>
          <p:nvPr/>
        </p:nvSpPr>
        <p:spPr>
          <a:xfrm>
            <a:off x="502920" y="1691640"/>
            <a:ext cx="457200" cy="457200"/>
          </a:xfrm>
          <a:prstGeom prst="ellipse">
            <a:avLst/>
          </a:prstGeom>
          <a:solidFill>
            <a:srgbClr val="005CB9"/>
          </a:solidFill>
          <a:ln/>
        </p:spPr>
      </p:sp>
      <p:sp>
        <p:nvSpPr>
          <p:cNvPr id="7" name="Text 4"/>
          <p:cNvSpPr/>
          <p:nvPr/>
        </p:nvSpPr>
        <p:spPr>
          <a:xfrm>
            <a:off x="502920" y="1691640"/>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5"/>
          <p:cNvSpPr/>
          <p:nvPr/>
        </p:nvSpPr>
        <p:spPr>
          <a:xfrm>
            <a:off x="1188720" y="1645920"/>
            <a:ext cx="10332720" cy="365760"/>
          </a:xfrm>
          <a:prstGeom prst="rect">
            <a:avLst/>
          </a:prstGeom>
          <a:noFill/>
          <a:ln/>
        </p:spPr>
        <p:txBody>
          <a:bodyPr wrap="square" rtlCol="0" anchor="ctr"/>
          <a:lstStyle/>
          <a:p>
            <a:pPr indent="0" marL="0">
              <a:buNone/>
            </a:pPr>
            <a:r>
              <a:rPr lang="en-US" sz="1600" b="1" dirty="0">
                <a:solidFill>
                  <a:srgbClr val="004061"/>
                </a:solidFill>
                <a:latin typeface="Calibri" pitchFamily="34" charset="0"/>
                <a:ea typeface="Calibri" pitchFamily="34" charset="-122"/>
                <a:cs typeface="Calibri" pitchFamily="34" charset="-120"/>
              </a:rPr>
              <a:t>Gathered the information</a:t>
            </a:r>
            <a:endParaRPr lang="en-US" sz="1600" dirty="0"/>
          </a:p>
        </p:txBody>
      </p:sp>
      <p:sp>
        <p:nvSpPr>
          <p:cNvPr id="9" name="Text 6"/>
          <p:cNvSpPr/>
          <p:nvPr/>
        </p:nvSpPr>
        <p:spPr>
          <a:xfrm>
            <a:off x="1188720" y="2039112"/>
            <a:ext cx="10332720" cy="502920"/>
          </a:xfrm>
          <a:prstGeom prst="rect">
            <a:avLst/>
          </a:prstGeom>
          <a:noFill/>
          <a:ln/>
        </p:spPr>
        <p:txBody>
          <a:bodyPr wrap="square" rtlCol="0" anchor="t"/>
          <a:lstStyle/>
          <a:p>
            <a:pPr indent="0" marL="0">
              <a:lnSpc>
                <a:spcPct val="125000"/>
              </a:lnSpc>
              <a:buNone/>
            </a:pPr>
            <a:r>
              <a:rPr lang="en-US" sz="1300" dirty="0">
                <a:solidFill>
                  <a:srgbClr val="3A3A3A"/>
                </a:solidFill>
                <a:latin typeface="Calibri" pitchFamily="34" charset="0"/>
                <a:ea typeface="Calibri" pitchFamily="34" charset="-122"/>
                <a:cs typeface="Calibri" pitchFamily="34" charset="-120"/>
              </a:rPr>
              <a:t>Pulled every Texas residential bill since January 2024, along with each customer's credit score, tenure, and whether they called Care within 14 days of that bill.</a:t>
            </a:r>
            <a:endParaRPr lang="en-US" sz="1300" dirty="0"/>
          </a:p>
        </p:txBody>
      </p:sp>
      <p:sp>
        <p:nvSpPr>
          <p:cNvPr id="10" name="Shape 7"/>
          <p:cNvSpPr/>
          <p:nvPr/>
        </p:nvSpPr>
        <p:spPr>
          <a:xfrm>
            <a:off x="502920" y="2679192"/>
            <a:ext cx="457200" cy="457200"/>
          </a:xfrm>
          <a:prstGeom prst="ellipse">
            <a:avLst/>
          </a:prstGeom>
          <a:solidFill>
            <a:srgbClr val="005CB9"/>
          </a:solidFill>
          <a:ln/>
        </p:spPr>
      </p:sp>
      <p:sp>
        <p:nvSpPr>
          <p:cNvPr id="11" name="Text 8"/>
          <p:cNvSpPr/>
          <p:nvPr/>
        </p:nvSpPr>
        <p:spPr>
          <a:xfrm>
            <a:off x="502920" y="2679192"/>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9"/>
          <p:cNvSpPr/>
          <p:nvPr/>
        </p:nvSpPr>
        <p:spPr>
          <a:xfrm>
            <a:off x="1188720" y="2633472"/>
            <a:ext cx="10332720" cy="365760"/>
          </a:xfrm>
          <a:prstGeom prst="rect">
            <a:avLst/>
          </a:prstGeom>
          <a:noFill/>
          <a:ln/>
        </p:spPr>
        <p:txBody>
          <a:bodyPr wrap="square" rtlCol="0" anchor="ctr"/>
          <a:lstStyle/>
          <a:p>
            <a:pPr indent="0" marL="0">
              <a:buNone/>
            </a:pPr>
            <a:r>
              <a:rPr lang="en-US" sz="1600" b="1" dirty="0">
                <a:solidFill>
                  <a:srgbClr val="004061"/>
                </a:solidFill>
                <a:latin typeface="Calibri" pitchFamily="34" charset="0"/>
                <a:ea typeface="Calibri" pitchFamily="34" charset="-122"/>
                <a:cs typeface="Calibri" pitchFamily="34" charset="-120"/>
              </a:rPr>
              <a:t>Taught the computer to spot patterns</a:t>
            </a:r>
            <a:endParaRPr lang="en-US" sz="1600" dirty="0"/>
          </a:p>
        </p:txBody>
      </p:sp>
      <p:sp>
        <p:nvSpPr>
          <p:cNvPr id="13" name="Text 10"/>
          <p:cNvSpPr/>
          <p:nvPr/>
        </p:nvSpPr>
        <p:spPr>
          <a:xfrm>
            <a:off x="1188720" y="3026664"/>
            <a:ext cx="10332720" cy="502920"/>
          </a:xfrm>
          <a:prstGeom prst="rect">
            <a:avLst/>
          </a:prstGeom>
          <a:noFill/>
          <a:ln/>
        </p:spPr>
        <p:txBody>
          <a:bodyPr wrap="square" rtlCol="0" anchor="t"/>
          <a:lstStyle/>
          <a:p>
            <a:pPr indent="0" marL="0">
              <a:lnSpc>
                <a:spcPct val="125000"/>
              </a:lnSpc>
              <a:buNone/>
            </a:pPr>
            <a:r>
              <a:rPr lang="en-US" sz="1300" dirty="0">
                <a:solidFill>
                  <a:srgbClr val="3A3A3A"/>
                </a:solidFill>
                <a:latin typeface="Calibri" pitchFamily="34" charset="0"/>
                <a:ea typeface="Calibri" pitchFamily="34" charset="-122"/>
                <a:cs typeface="Calibri" pitchFamily="34" charset="-120"/>
              </a:rPr>
              <a:t>Showed it thousands of real examples — some where the customer called, some where they didn't — so it could learn what tends to be different between the two groups.</a:t>
            </a:r>
            <a:endParaRPr lang="en-US" sz="1300" dirty="0"/>
          </a:p>
        </p:txBody>
      </p:sp>
      <p:sp>
        <p:nvSpPr>
          <p:cNvPr id="14" name="Shape 11"/>
          <p:cNvSpPr/>
          <p:nvPr/>
        </p:nvSpPr>
        <p:spPr>
          <a:xfrm>
            <a:off x="502920" y="3666744"/>
            <a:ext cx="457200" cy="457200"/>
          </a:xfrm>
          <a:prstGeom prst="ellipse">
            <a:avLst/>
          </a:prstGeom>
          <a:solidFill>
            <a:srgbClr val="005CB9"/>
          </a:solidFill>
          <a:ln/>
        </p:spPr>
      </p:sp>
      <p:sp>
        <p:nvSpPr>
          <p:cNvPr id="15" name="Text 12"/>
          <p:cNvSpPr/>
          <p:nvPr/>
        </p:nvSpPr>
        <p:spPr>
          <a:xfrm>
            <a:off x="502920" y="3666744"/>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3"/>
          <p:cNvSpPr/>
          <p:nvPr/>
        </p:nvSpPr>
        <p:spPr>
          <a:xfrm>
            <a:off x="1188720" y="3621024"/>
            <a:ext cx="10332720" cy="365760"/>
          </a:xfrm>
          <a:prstGeom prst="rect">
            <a:avLst/>
          </a:prstGeom>
          <a:noFill/>
          <a:ln/>
        </p:spPr>
        <p:txBody>
          <a:bodyPr wrap="square" rtlCol="0" anchor="ctr"/>
          <a:lstStyle/>
          <a:p>
            <a:pPr indent="0" marL="0">
              <a:buNone/>
            </a:pPr>
            <a:r>
              <a:rPr lang="en-US" sz="1600" b="1" dirty="0">
                <a:solidFill>
                  <a:srgbClr val="004061"/>
                </a:solidFill>
                <a:latin typeface="Calibri" pitchFamily="34" charset="0"/>
                <a:ea typeface="Calibri" pitchFamily="34" charset="-122"/>
                <a:cs typeface="Calibri" pitchFamily="34" charset="-120"/>
              </a:rPr>
              <a:t>Tested it on hidden examples</a:t>
            </a:r>
            <a:endParaRPr lang="en-US" sz="1600" dirty="0"/>
          </a:p>
        </p:txBody>
      </p:sp>
      <p:sp>
        <p:nvSpPr>
          <p:cNvPr id="17" name="Text 14"/>
          <p:cNvSpPr/>
          <p:nvPr/>
        </p:nvSpPr>
        <p:spPr>
          <a:xfrm>
            <a:off x="1188720" y="4014216"/>
            <a:ext cx="10332720" cy="502920"/>
          </a:xfrm>
          <a:prstGeom prst="rect">
            <a:avLst/>
          </a:prstGeom>
          <a:noFill/>
          <a:ln/>
        </p:spPr>
        <p:txBody>
          <a:bodyPr wrap="square" rtlCol="0" anchor="t"/>
          <a:lstStyle/>
          <a:p>
            <a:pPr indent="0" marL="0">
              <a:lnSpc>
                <a:spcPct val="125000"/>
              </a:lnSpc>
              <a:buNone/>
            </a:pPr>
            <a:r>
              <a:rPr lang="en-US" sz="1300" dirty="0">
                <a:solidFill>
                  <a:srgbClr val="3A3A3A"/>
                </a:solidFill>
                <a:latin typeface="Calibri" pitchFamily="34" charset="0"/>
                <a:ea typeface="Calibri" pitchFamily="34" charset="-122"/>
                <a:cs typeface="Calibri" pitchFamily="34" charset="-120"/>
              </a:rPr>
              <a:t>Held back 1 in every 5 bills during training, then checked the predictions against those hidden real outcomes, like a fair, unseen test.</a:t>
            </a:r>
            <a:endParaRPr lang="en-US" sz="1300" dirty="0"/>
          </a:p>
        </p:txBody>
      </p:sp>
      <p:sp>
        <p:nvSpPr>
          <p:cNvPr id="18" name="Shape 15"/>
          <p:cNvSpPr/>
          <p:nvPr/>
        </p:nvSpPr>
        <p:spPr>
          <a:xfrm>
            <a:off x="502920" y="4654296"/>
            <a:ext cx="457200" cy="457200"/>
          </a:xfrm>
          <a:prstGeom prst="ellipse">
            <a:avLst/>
          </a:prstGeom>
          <a:solidFill>
            <a:srgbClr val="005CB9"/>
          </a:solidFill>
          <a:ln/>
        </p:spPr>
      </p:sp>
      <p:sp>
        <p:nvSpPr>
          <p:cNvPr id="19" name="Text 16"/>
          <p:cNvSpPr/>
          <p:nvPr/>
        </p:nvSpPr>
        <p:spPr>
          <a:xfrm>
            <a:off x="502920" y="4654296"/>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0" name="Text 17"/>
          <p:cNvSpPr/>
          <p:nvPr/>
        </p:nvSpPr>
        <p:spPr>
          <a:xfrm>
            <a:off x="1188720" y="4608576"/>
            <a:ext cx="10332720" cy="365760"/>
          </a:xfrm>
          <a:prstGeom prst="rect">
            <a:avLst/>
          </a:prstGeom>
          <a:noFill/>
          <a:ln/>
        </p:spPr>
        <p:txBody>
          <a:bodyPr wrap="square" rtlCol="0" anchor="ctr"/>
          <a:lstStyle/>
          <a:p>
            <a:pPr indent="0" marL="0">
              <a:buNone/>
            </a:pPr>
            <a:r>
              <a:rPr lang="en-US" sz="1600" b="1" dirty="0">
                <a:solidFill>
                  <a:srgbClr val="004061"/>
                </a:solidFill>
                <a:latin typeface="Calibri" pitchFamily="34" charset="0"/>
                <a:ea typeface="Calibri" pitchFamily="34" charset="-122"/>
                <a:cs typeface="Calibri" pitchFamily="34" charset="-120"/>
              </a:rPr>
              <a:t>Scored every customer</a:t>
            </a:r>
            <a:endParaRPr lang="en-US" sz="1600" dirty="0"/>
          </a:p>
        </p:txBody>
      </p:sp>
      <p:sp>
        <p:nvSpPr>
          <p:cNvPr id="21" name="Text 18"/>
          <p:cNvSpPr/>
          <p:nvPr/>
        </p:nvSpPr>
        <p:spPr>
          <a:xfrm>
            <a:off x="1188720" y="5001768"/>
            <a:ext cx="10332720" cy="502920"/>
          </a:xfrm>
          <a:prstGeom prst="rect">
            <a:avLst/>
          </a:prstGeom>
          <a:noFill/>
          <a:ln/>
        </p:spPr>
        <p:txBody>
          <a:bodyPr wrap="square" rtlCol="0" anchor="t"/>
          <a:lstStyle/>
          <a:p>
            <a:pPr indent="0" marL="0">
              <a:lnSpc>
                <a:spcPct val="125000"/>
              </a:lnSpc>
              <a:buNone/>
            </a:pPr>
            <a:r>
              <a:rPr lang="en-US" sz="1300" dirty="0">
                <a:solidFill>
                  <a:srgbClr val="3A3A3A"/>
                </a:solidFill>
                <a:latin typeface="Calibri" pitchFamily="34" charset="0"/>
                <a:ea typeface="Calibri" pitchFamily="34" charset="-122"/>
                <a:cs typeface="Calibri" pitchFamily="34" charset="-120"/>
              </a:rPr>
              <a:t>Once we trusted the patterns it learned, we had it go through every customer-bill and assign a 0-100% "Call Likelihood" score.</a:t>
            </a:r>
            <a:endParaRPr lang="en-US" sz="1300" dirty="0"/>
          </a:p>
        </p:txBody>
      </p:sp>
      <p:sp>
        <p:nvSpPr>
          <p:cNvPr id="22" name="Shape 19"/>
          <p:cNvSpPr/>
          <p:nvPr/>
        </p:nvSpPr>
        <p:spPr>
          <a:xfrm>
            <a:off x="457200" y="5806440"/>
            <a:ext cx="11274552" cy="658368"/>
          </a:xfrm>
          <a:prstGeom prst="rect">
            <a:avLst>
              <a:gd name="adj" fmla="val 8333"/>
            </a:avLst>
          </a:prstGeom>
          <a:solidFill>
            <a:srgbClr val="F5F8FB"/>
          </a:solidFill>
          <a:ln/>
        </p:spPr>
      </p:sp>
      <p:sp>
        <p:nvSpPr>
          <p:cNvPr id="23" name="Text 20"/>
          <p:cNvSpPr/>
          <p:nvPr/>
        </p:nvSpPr>
        <p:spPr>
          <a:xfrm>
            <a:off x="777240" y="5925312"/>
            <a:ext cx="10652760" cy="457200"/>
          </a:xfrm>
          <a:prstGeom prst="rect">
            <a:avLst/>
          </a:prstGeom>
          <a:noFill/>
          <a:ln/>
        </p:spPr>
        <p:txBody>
          <a:bodyPr wrap="square" rtlCol="0" anchor="t"/>
          <a:lstStyle/>
          <a:p>
            <a:pPr indent="0" marL="0">
              <a:lnSpc>
                <a:spcPct val="120000"/>
              </a:lnSpc>
              <a:buNone/>
            </a:pPr>
            <a:r>
              <a:rPr lang="en-US" sz="1250" b="1" dirty="0">
                <a:solidFill>
                  <a:srgbClr val="004061"/>
                </a:solidFill>
                <a:latin typeface="Calibri" pitchFamily="34" charset="0"/>
                <a:ea typeface="Calibri" pitchFamily="34" charset="-122"/>
                <a:cs typeface="Calibri" pitchFamily="34" charset="-120"/>
              </a:rPr>
              <a:t>Tools used:  </a:t>
            </a:r>
            <a:pPr indent="0" marL="0">
              <a:lnSpc>
                <a:spcPct val="120000"/>
              </a:lnSpc>
              <a:buNone/>
            </a:pPr>
            <a:r>
              <a:rPr lang="en-US" sz="1250" dirty="0">
                <a:solidFill>
                  <a:srgbClr val="3A3A3A"/>
                </a:solidFill>
                <a:latin typeface="Calibri" pitchFamily="34" charset="0"/>
                <a:ea typeface="Calibri" pitchFamily="34" charset="-122"/>
                <a:cs typeface="Calibri" pitchFamily="34" charset="-120"/>
              </a:rPr>
              <a:t>We used a statistical model called logistic regression — a standard way of turning several clues into a single percentage likelihood — run in Python on the SQL data we'd already validated.</a:t>
            </a:r>
            <a:endParaRPr lang="en-US" sz="1250" dirty="0"/>
          </a:p>
        </p:txBody>
      </p:sp>
      <p:sp>
        <p:nvSpPr>
          <p:cNvPr id="24" name="Text 21"/>
          <p:cNvSpPr/>
          <p:nvPr/>
        </p:nvSpPr>
        <p:spPr>
          <a:xfrm>
            <a:off x="11475720" y="6473952"/>
            <a:ext cx="457200" cy="274320"/>
          </a:xfrm>
          <a:prstGeom prst="rect">
            <a:avLst/>
          </a:prstGeom>
          <a:noFill/>
          <a:ln/>
        </p:spPr>
        <p:txBody>
          <a:bodyPr wrap="square" rtlCol="0" anchor="ctr"/>
          <a:lstStyle/>
          <a:p>
            <a:pPr algn="r" indent="0" marL="0">
              <a:buNone/>
            </a:pPr>
            <a:r>
              <a:rPr lang="en-US" sz="1100" dirty="0">
                <a:solidFill>
                  <a:srgbClr val="AFB6BD"/>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2331720" cy="310896"/>
          </a:xfrm>
          <a:prstGeom prst="roundRect">
            <a:avLst>
              <a:gd name="adj" fmla="val 50000"/>
            </a:avLst>
          </a:prstGeom>
          <a:solidFill>
            <a:srgbClr val="F4A600"/>
          </a:solidFill>
          <a:ln/>
        </p:spPr>
      </p:sp>
      <p:sp>
        <p:nvSpPr>
          <p:cNvPr id="3" name="Text 1"/>
          <p:cNvSpPr/>
          <p:nvPr/>
        </p:nvSpPr>
        <p:spPr>
          <a:xfrm>
            <a:off x="457200" y="365760"/>
            <a:ext cx="2331720" cy="310896"/>
          </a:xfrm>
          <a:prstGeom prst="rect">
            <a:avLst/>
          </a:prstGeom>
          <a:noFill/>
          <a:ln/>
        </p:spPr>
        <p:txBody>
          <a:bodyPr wrap="square" rtlCol="0" anchor="ctr"/>
          <a:lstStyle/>
          <a:p>
            <a:pPr algn="ctr" indent="0" marL="0">
              <a:buNone/>
            </a:pPr>
            <a:r>
              <a:rPr lang="en-US" sz="1050" b="1" spc="50" kern="0" dirty="0">
                <a:solidFill>
                  <a:srgbClr val="FFFFFF"/>
                </a:solidFill>
                <a:latin typeface="Calibri" pitchFamily="34" charset="0"/>
                <a:ea typeface="Calibri" pitchFamily="34" charset="-122"/>
                <a:cs typeface="Calibri" pitchFamily="34" charset="-120"/>
              </a:rPr>
              <a:t>WHAT WE FOUND</a:t>
            </a:r>
            <a:endParaRPr lang="en-US" sz="1050" dirty="0"/>
          </a:p>
        </p:txBody>
      </p:sp>
      <p:sp>
        <p:nvSpPr>
          <p:cNvPr id="4" name="Text 2"/>
          <p:cNvSpPr/>
          <p:nvPr/>
        </p:nvSpPr>
        <p:spPr>
          <a:xfrm>
            <a:off x="457200" y="804672"/>
            <a:ext cx="9966960" cy="594360"/>
          </a:xfrm>
          <a:prstGeom prst="rect">
            <a:avLst/>
          </a:prstGeom>
          <a:noFill/>
          <a:ln/>
        </p:spPr>
        <p:txBody>
          <a:bodyPr wrap="square" rtlCol="0" anchor="ctr"/>
          <a:lstStyle/>
          <a:p>
            <a:pPr indent="0" marL="0">
              <a:buNone/>
            </a:pPr>
            <a:r>
              <a:rPr lang="en-US" sz="2800" b="1" dirty="0">
                <a:solidFill>
                  <a:srgbClr val="004061"/>
                </a:solidFill>
                <a:latin typeface="Calibri" pitchFamily="34" charset="0"/>
                <a:ea typeface="Calibri" pitchFamily="34" charset="-122"/>
                <a:cs typeface="Calibri" pitchFamily="34" charset="-120"/>
              </a:rPr>
              <a:t>The Model Has Real, Modest Signal</a:t>
            </a:r>
            <a:endParaRPr lang="en-US" sz="2800" dirty="0"/>
          </a:p>
        </p:txBody>
      </p:sp>
      <p:sp>
        <p:nvSpPr>
          <p:cNvPr id="5" name="Text 3"/>
          <p:cNvSpPr/>
          <p:nvPr/>
        </p:nvSpPr>
        <p:spPr>
          <a:xfrm>
            <a:off x="457200" y="1353312"/>
            <a:ext cx="10332720" cy="365760"/>
          </a:xfrm>
          <a:prstGeom prst="rect">
            <a:avLst/>
          </a:prstGeom>
          <a:noFill/>
          <a:ln/>
        </p:spPr>
        <p:txBody>
          <a:bodyPr wrap="square" rtlCol="0" anchor="ctr"/>
          <a:lstStyle/>
          <a:p>
            <a:pPr indent="0" marL="0">
              <a:buNone/>
            </a:pPr>
            <a:r>
              <a:rPr lang="en-US" sz="1450" dirty="0">
                <a:solidFill>
                  <a:srgbClr val="5B6B7C"/>
                </a:solidFill>
                <a:latin typeface="Calibri" pitchFamily="34" charset="0"/>
                <a:ea typeface="Calibri" pitchFamily="34" charset="-122"/>
                <a:cs typeface="Calibri" pitchFamily="34" charset="-120"/>
              </a:rPr>
              <a:t>Not sharp enough to be a crystal ball, but clearly better than a guess</a:t>
            </a:r>
            <a:endParaRPr lang="en-US" sz="1450" dirty="0"/>
          </a:p>
        </p:txBody>
      </p:sp>
      <p:pic>
        <p:nvPicPr>
          <p:cNvPr id="6" name="Image 0" descr="/home/claude/task7_deck/igs_logo.png">    </p:cNvPr>
          <p:cNvPicPr>
            <a:picLocks noChangeAspect="1"/>
          </p:cNvPicPr>
          <p:nvPr/>
        </p:nvPicPr>
        <p:blipFill>
          <a:blip r:embed="rId1"/>
          <a:stretch>
            <a:fillRect/>
          </a:stretch>
        </p:blipFill>
        <p:spPr>
          <a:xfrm>
            <a:off x="10698480" y="365760"/>
            <a:ext cx="868680" cy="225857"/>
          </a:xfrm>
          <a:prstGeom prst="rect">
            <a:avLst/>
          </a:prstGeom>
        </p:spPr>
      </p:pic>
      <p:sp>
        <p:nvSpPr>
          <p:cNvPr id="7" name="Shape 4"/>
          <p:cNvSpPr/>
          <p:nvPr/>
        </p:nvSpPr>
        <p:spPr>
          <a:xfrm>
            <a:off x="457200" y="1874520"/>
            <a:ext cx="5440680" cy="3977640"/>
          </a:xfrm>
          <a:prstGeom prst="rect">
            <a:avLst>
              <a:gd name="adj" fmla="val 1379"/>
            </a:avLst>
          </a:prstGeom>
          <a:solidFill>
            <a:srgbClr val="F5F8FB"/>
          </a:solidFill>
          <a:ln/>
        </p:spPr>
      </p:sp>
      <p:sp>
        <p:nvSpPr>
          <p:cNvPr id="8" name="Shape 5"/>
          <p:cNvSpPr/>
          <p:nvPr/>
        </p:nvSpPr>
        <p:spPr>
          <a:xfrm>
            <a:off x="731520" y="2148840"/>
            <a:ext cx="411480" cy="54864"/>
          </a:xfrm>
          <a:prstGeom prst="rect">
            <a:avLst/>
          </a:prstGeom>
          <a:solidFill>
            <a:srgbClr val="F4A600"/>
          </a:solidFill>
          <a:ln/>
        </p:spPr>
      </p:sp>
      <p:sp>
        <p:nvSpPr>
          <p:cNvPr id="9" name="Text 6"/>
          <p:cNvSpPr/>
          <p:nvPr/>
        </p:nvSpPr>
        <p:spPr>
          <a:xfrm>
            <a:off x="731520" y="2331720"/>
            <a:ext cx="4892040" cy="457200"/>
          </a:xfrm>
          <a:prstGeom prst="rect">
            <a:avLst/>
          </a:prstGeom>
          <a:noFill/>
          <a:ln/>
        </p:spPr>
        <p:txBody>
          <a:bodyPr wrap="square" rtlCol="0" anchor="ctr"/>
          <a:lstStyle/>
          <a:p>
            <a:pPr indent="0" marL="0">
              <a:buNone/>
            </a:pPr>
            <a:r>
              <a:rPr lang="en-US" sz="1700" b="1" dirty="0">
                <a:solidFill>
                  <a:srgbClr val="004061"/>
                </a:solidFill>
                <a:latin typeface="Calibri" pitchFamily="34" charset="0"/>
                <a:ea typeface="Calibri" pitchFamily="34" charset="-122"/>
                <a:cs typeface="Calibri" pitchFamily="34" charset="-120"/>
              </a:rPr>
              <a:t>1. The accuracy score is 0.64</a:t>
            </a:r>
            <a:endParaRPr lang="en-US" sz="1700" dirty="0"/>
          </a:p>
        </p:txBody>
      </p:sp>
      <p:sp>
        <p:nvSpPr>
          <p:cNvPr id="10" name="Text 7"/>
          <p:cNvSpPr/>
          <p:nvPr/>
        </p:nvSpPr>
        <p:spPr>
          <a:xfrm>
            <a:off x="731520" y="2926080"/>
            <a:ext cx="4892040" cy="2697480"/>
          </a:xfrm>
          <a:prstGeom prst="rect">
            <a:avLst/>
          </a:prstGeom>
          <a:noFill/>
          <a:ln/>
        </p:spPr>
        <p:txBody>
          <a:bodyPr wrap="square" rtlCol="0" anchor="t"/>
          <a:lstStyle/>
          <a:p>
            <a:pPr indent="0" marL="0">
              <a:lnSpc>
                <a:spcPct val="135000"/>
              </a:lnSpc>
              <a:buNone/>
            </a:pPr>
            <a:r>
              <a:rPr lang="en-US" sz="1350" dirty="0">
                <a:solidFill>
                  <a:srgbClr val="3A3A3A"/>
                </a:solidFill>
                <a:latin typeface="Calibri" pitchFamily="34" charset="0"/>
                <a:ea typeface="Calibri" pitchFamily="34" charset="-122"/>
                <a:cs typeface="Calibri" pitchFamily="34" charset="-120"/>
              </a:rPr>
              <a:t>This is measured on a 0.50 to 1.00 scale, where 0.50 means pure guessing and 1.00 means perfect prediction.
</a:t>
            </a:r>
            <a:pPr indent="0" marL="0">
              <a:lnSpc>
                <a:spcPct val="135000"/>
              </a:lnSpc>
              <a:buNone/>
            </a:pPr>
            <a:r>
              <a:rPr lang="en-US" sz="1350" dirty="0">
                <a:solidFill>
                  <a:srgbClr val="3A3A3A"/>
                </a:solidFill>
                <a:latin typeface="Calibri" pitchFamily="34" charset="0"/>
                <a:ea typeface="Calibri" pitchFamily="34" charset="-122"/>
                <a:cs typeface="Calibri" pitchFamily="34" charset="-120"/>
              </a:rPr>
              <a:t>0.64 means the model is clearly better than a coin flip — but not sharp enough to nail every case.
</a:t>
            </a:r>
            <a:pPr indent="0" marL="0">
              <a:lnSpc>
                <a:spcPct val="135000"/>
              </a:lnSpc>
              <a:buNone/>
            </a:pPr>
            <a:r>
              <a:rPr lang="en-US" sz="1350" dirty="0">
                <a:solidFill>
                  <a:srgbClr val="3A3A3A"/>
                </a:solidFill>
                <a:latin typeface="Calibri" pitchFamily="34" charset="0"/>
                <a:ea typeface="Calibri" pitchFamily="34" charset="-122"/>
                <a:cs typeface="Calibri" pitchFamily="34" charset="-120"/>
              </a:rPr>
              <a:t>This is a real, honest limitation of using only three inputs, not a bug to fix.</a:t>
            </a:r>
            <a:endParaRPr lang="en-US" sz="1350" dirty="0"/>
          </a:p>
        </p:txBody>
      </p:sp>
      <p:sp>
        <p:nvSpPr>
          <p:cNvPr id="11" name="Shape 8"/>
          <p:cNvSpPr/>
          <p:nvPr/>
        </p:nvSpPr>
        <p:spPr>
          <a:xfrm>
            <a:off x="6263640" y="1874520"/>
            <a:ext cx="5440680" cy="3977640"/>
          </a:xfrm>
          <a:prstGeom prst="rect">
            <a:avLst>
              <a:gd name="adj" fmla="val 1379"/>
            </a:avLst>
          </a:prstGeom>
          <a:solidFill>
            <a:srgbClr val="F5F8FB"/>
          </a:solidFill>
          <a:ln/>
        </p:spPr>
      </p:sp>
      <p:sp>
        <p:nvSpPr>
          <p:cNvPr id="12" name="Shape 9"/>
          <p:cNvSpPr/>
          <p:nvPr/>
        </p:nvSpPr>
        <p:spPr>
          <a:xfrm>
            <a:off x="6537960" y="2148840"/>
            <a:ext cx="411480" cy="54864"/>
          </a:xfrm>
          <a:prstGeom prst="rect">
            <a:avLst/>
          </a:prstGeom>
          <a:solidFill>
            <a:srgbClr val="005CB9"/>
          </a:solidFill>
          <a:ln/>
        </p:spPr>
      </p:sp>
      <p:sp>
        <p:nvSpPr>
          <p:cNvPr id="13" name="Text 10"/>
          <p:cNvSpPr/>
          <p:nvPr/>
        </p:nvSpPr>
        <p:spPr>
          <a:xfrm>
            <a:off x="6537960" y="2331720"/>
            <a:ext cx="4892040" cy="457200"/>
          </a:xfrm>
          <a:prstGeom prst="rect">
            <a:avLst/>
          </a:prstGeom>
          <a:noFill/>
          <a:ln/>
        </p:spPr>
        <p:txBody>
          <a:bodyPr wrap="square" rtlCol="0" anchor="ctr"/>
          <a:lstStyle/>
          <a:p>
            <a:pPr indent="0" marL="0">
              <a:buNone/>
            </a:pPr>
            <a:r>
              <a:rPr lang="en-US" sz="1700" b="1" dirty="0">
                <a:solidFill>
                  <a:srgbClr val="004061"/>
                </a:solidFill>
                <a:latin typeface="Calibri" pitchFamily="34" charset="0"/>
                <a:ea typeface="Calibri" pitchFamily="34" charset="-122"/>
                <a:cs typeface="Calibri" pitchFamily="34" charset="-120"/>
              </a:rPr>
              <a:t>2. All three clues point the right way</a:t>
            </a:r>
            <a:endParaRPr lang="en-US" sz="1700" dirty="0"/>
          </a:p>
        </p:txBody>
      </p:sp>
      <p:sp>
        <p:nvSpPr>
          <p:cNvPr id="14" name="Text 11"/>
          <p:cNvSpPr/>
          <p:nvPr/>
        </p:nvSpPr>
        <p:spPr>
          <a:xfrm>
            <a:off x="6537960" y="2926080"/>
            <a:ext cx="4892040" cy="2697480"/>
          </a:xfrm>
          <a:prstGeom prst="rect">
            <a:avLst/>
          </a:prstGeom>
          <a:noFill/>
          <a:ln/>
        </p:spPr>
        <p:txBody>
          <a:bodyPr wrap="square" rtlCol="0" anchor="t"/>
          <a:lstStyle/>
          <a:p>
            <a:pPr indent="0" marL="0">
              <a:lnSpc>
                <a:spcPct val="130000"/>
              </a:lnSpc>
              <a:buNone/>
            </a:pPr>
            <a:r>
              <a:rPr lang="en-US" sz="1350" dirty="0">
                <a:solidFill>
                  <a:srgbClr val="3A3A3A"/>
                </a:solidFill>
                <a:latin typeface="Calibri" pitchFamily="34" charset="0"/>
                <a:ea typeface="Calibri" pitchFamily="34" charset="-122"/>
                <a:cs typeface="Calibri" pitchFamily="34" charset="-120"/>
              </a:rPr>
              <a:t>Bigger bill increase → more likely to call.
</a:t>
            </a:r>
            <a:pPr indent="0" marL="0">
              <a:lnSpc>
                <a:spcPct val="130000"/>
              </a:lnSpc>
              <a:buNone/>
            </a:pPr>
            <a:r>
              <a:rPr lang="en-US" sz="1350" dirty="0">
                <a:solidFill>
                  <a:srgbClr val="3A3A3A"/>
                </a:solidFill>
                <a:latin typeface="Calibri" pitchFamily="34" charset="0"/>
                <a:ea typeface="Calibri" pitchFamily="34" charset="-122"/>
                <a:cs typeface="Calibri" pitchFamily="34" charset="-120"/>
              </a:rPr>
              <a:t>Lower credit score → more likely to call.
</a:t>
            </a:r>
            <a:pPr indent="0" marL="0">
              <a:lnSpc>
                <a:spcPct val="130000"/>
              </a:lnSpc>
              <a:buNone/>
            </a:pPr>
            <a:r>
              <a:rPr lang="en-US" sz="1350" dirty="0">
                <a:solidFill>
                  <a:srgbClr val="3A3A3A"/>
                </a:solidFill>
                <a:latin typeface="Calibri" pitchFamily="34" charset="0"/>
                <a:ea typeface="Calibri" pitchFamily="34" charset="-122"/>
                <a:cs typeface="Calibri" pitchFamily="34" charset="-120"/>
              </a:rPr>
              <a:t>Shorter tenure → more likely to call.
</a:t>
            </a:r>
            <a:pPr indent="0" marL="0">
              <a:lnSpc>
                <a:spcPct val="130000"/>
              </a:lnSpc>
              <a:buNone/>
            </a:pPr>
            <a:r>
              <a:rPr lang="en-US" sz="1350" dirty="0">
                <a:solidFill>
                  <a:srgbClr val="3A3A3A"/>
                </a:solidFill>
                <a:latin typeface="Calibri" pitchFamily="34" charset="0"/>
                <a:ea typeface="Calibri" pitchFamily="34" charset="-122"/>
                <a:cs typeface="Calibri" pitchFamily="34" charset="-120"/>
              </a:rPr>
              <a:t>All three match what we already know about customer behavior — the direction is right, just not strong enough alone.</a:t>
            </a:r>
            <a:endParaRPr lang="en-US" sz="1350" dirty="0"/>
          </a:p>
        </p:txBody>
      </p:sp>
      <p:sp>
        <p:nvSpPr>
          <p:cNvPr id="15" name="Text 12"/>
          <p:cNvSpPr/>
          <p:nvPr/>
        </p:nvSpPr>
        <p:spPr>
          <a:xfrm>
            <a:off x="11475720" y="6473952"/>
            <a:ext cx="457200" cy="274320"/>
          </a:xfrm>
          <a:prstGeom prst="rect">
            <a:avLst/>
          </a:prstGeom>
          <a:noFill/>
          <a:ln/>
        </p:spPr>
        <p:txBody>
          <a:bodyPr wrap="square" rtlCol="0" anchor="ctr"/>
          <a:lstStyle/>
          <a:p>
            <a:pPr algn="r" indent="0" marL="0">
              <a:buNone/>
            </a:pPr>
            <a:r>
              <a:rPr lang="en-US" sz="1100" dirty="0">
                <a:solidFill>
                  <a:srgbClr val="AFB6BD"/>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2331720" cy="310896"/>
          </a:xfrm>
          <a:prstGeom prst="roundRect">
            <a:avLst>
              <a:gd name="adj" fmla="val 50000"/>
            </a:avLst>
          </a:prstGeom>
          <a:solidFill>
            <a:srgbClr val="00BB86"/>
          </a:solidFill>
          <a:ln/>
        </p:spPr>
      </p:sp>
      <p:sp>
        <p:nvSpPr>
          <p:cNvPr id="3" name="Text 1"/>
          <p:cNvSpPr/>
          <p:nvPr/>
        </p:nvSpPr>
        <p:spPr>
          <a:xfrm>
            <a:off x="457200" y="365760"/>
            <a:ext cx="2331720" cy="310896"/>
          </a:xfrm>
          <a:prstGeom prst="rect">
            <a:avLst/>
          </a:prstGeom>
          <a:noFill/>
          <a:ln/>
        </p:spPr>
        <p:txBody>
          <a:bodyPr wrap="square" rtlCol="0" anchor="ctr"/>
          <a:lstStyle/>
          <a:p>
            <a:pPr algn="ctr" indent="0" marL="0">
              <a:buNone/>
            </a:pPr>
            <a:r>
              <a:rPr lang="en-US" sz="1050" b="1" spc="50" kern="0" dirty="0">
                <a:solidFill>
                  <a:srgbClr val="FFFFFF"/>
                </a:solidFill>
                <a:latin typeface="Calibri" pitchFamily="34" charset="0"/>
                <a:ea typeface="Calibri" pitchFamily="34" charset="-122"/>
                <a:cs typeface="Calibri" pitchFamily="34" charset="-120"/>
              </a:rPr>
              <a:t>THE TRADE-OFF</a:t>
            </a:r>
            <a:endParaRPr lang="en-US" sz="1050" dirty="0"/>
          </a:p>
        </p:txBody>
      </p:sp>
      <p:sp>
        <p:nvSpPr>
          <p:cNvPr id="4" name="Text 2"/>
          <p:cNvSpPr/>
          <p:nvPr/>
        </p:nvSpPr>
        <p:spPr>
          <a:xfrm>
            <a:off x="457200" y="804672"/>
            <a:ext cx="9966960" cy="594360"/>
          </a:xfrm>
          <a:prstGeom prst="rect">
            <a:avLst/>
          </a:prstGeom>
          <a:noFill/>
          <a:ln/>
        </p:spPr>
        <p:txBody>
          <a:bodyPr wrap="square" rtlCol="0" anchor="ctr"/>
          <a:lstStyle/>
          <a:p>
            <a:pPr indent="0" marL="0">
              <a:buNone/>
            </a:pPr>
            <a:r>
              <a:rPr lang="en-US" sz="2800" b="1" dirty="0">
                <a:solidFill>
                  <a:srgbClr val="004061"/>
                </a:solidFill>
                <a:latin typeface="Calibri" pitchFamily="34" charset="0"/>
                <a:ea typeface="Calibri" pitchFamily="34" charset="-122"/>
                <a:cs typeface="Calibri" pitchFamily="34" charset="-120"/>
              </a:rPr>
              <a:t>How Many Customers Would Get an Alert?</a:t>
            </a:r>
            <a:endParaRPr lang="en-US" sz="2800" dirty="0"/>
          </a:p>
        </p:txBody>
      </p:sp>
      <p:pic>
        <p:nvPicPr>
          <p:cNvPr id="5" name="Image 0" descr="/home/claude/task7_deck/igs_logo.png">    </p:cNvPr>
          <p:cNvPicPr>
            <a:picLocks noChangeAspect="1"/>
          </p:cNvPicPr>
          <p:nvPr/>
        </p:nvPicPr>
        <p:blipFill>
          <a:blip r:embed="rId1"/>
          <a:stretch>
            <a:fillRect/>
          </a:stretch>
        </p:blipFill>
        <p:spPr>
          <a:xfrm>
            <a:off x="10698480" y="365760"/>
            <a:ext cx="868680" cy="225857"/>
          </a:xfrm>
          <a:prstGeom prst="rect">
            <a:avLst/>
          </a:prstGeom>
        </p:spPr>
      </p:pic>
      <p:sp>
        <p:nvSpPr>
          <p:cNvPr id="6" name="Text 3"/>
          <p:cNvSpPr/>
          <p:nvPr/>
        </p:nvSpPr>
        <p:spPr>
          <a:xfrm>
            <a:off x="457200" y="1417320"/>
            <a:ext cx="11247120" cy="365760"/>
          </a:xfrm>
          <a:prstGeom prst="rect">
            <a:avLst/>
          </a:prstGeom>
          <a:noFill/>
          <a:ln/>
        </p:spPr>
        <p:txBody>
          <a:bodyPr wrap="square" rtlCol="0" anchor="ctr"/>
          <a:lstStyle/>
          <a:p>
            <a:pPr algn="ctr" indent="0" marL="0">
              <a:buNone/>
            </a:pPr>
            <a:r>
              <a:rPr lang="en-US" sz="1400" b="1" dirty="0">
                <a:solidFill>
                  <a:srgbClr val="004061"/>
                </a:solidFill>
                <a:latin typeface="Calibri" pitchFamily="34" charset="0"/>
                <a:ea typeface="Calibri" pitchFamily="34" charset="-122"/>
                <a:cs typeface="Calibri" pitchFamily="34" charset="-120"/>
              </a:rPr>
              <a:t>% of Our Entire Customer Base That Would Get an Alert, by Cutoff</a:t>
            </a:r>
            <a:endParaRPr lang="en-US" sz="1400" dirty="0"/>
          </a:p>
        </p:txBody>
      </p:sp>
      <p:graphicFrame>
        <p:nvGraphicFramePr>
          <p:cNvPr id="7" name="Chart 0" descr=""/>
          <p:cNvGraphicFramePr/>
          <p:nvPr/>
        </p:nvGraphicFramePr>
        <p:xfrm>
          <a:off x="640080" y="1874520"/>
          <a:ext cx="10881360" cy="342900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457200" y="5440680"/>
            <a:ext cx="11274552" cy="960120"/>
          </a:xfrm>
          <a:prstGeom prst="rect">
            <a:avLst>
              <a:gd name="adj" fmla="val 5714"/>
            </a:avLst>
          </a:prstGeom>
          <a:solidFill>
            <a:srgbClr val="F5F8FB"/>
          </a:solidFill>
          <a:ln/>
        </p:spPr>
      </p:sp>
      <p:sp>
        <p:nvSpPr>
          <p:cNvPr id="9" name="Text 5"/>
          <p:cNvSpPr/>
          <p:nvPr/>
        </p:nvSpPr>
        <p:spPr>
          <a:xfrm>
            <a:off x="777240" y="5550408"/>
            <a:ext cx="10652760" cy="777240"/>
          </a:xfrm>
          <a:prstGeom prst="rect">
            <a:avLst/>
          </a:prstGeom>
          <a:noFill/>
          <a:ln/>
        </p:spPr>
        <p:txBody>
          <a:bodyPr wrap="square" rtlCol="0" anchor="t"/>
          <a:lstStyle/>
          <a:p>
            <a:pPr indent="0" marL="0">
              <a:lnSpc>
                <a:spcPct val="125000"/>
              </a:lnSpc>
              <a:buNone/>
            </a:pPr>
            <a:r>
              <a:rPr lang="en-US" sz="1300" dirty="0">
                <a:solidFill>
                  <a:srgbClr val="3A3A3A"/>
                </a:solidFill>
                <a:latin typeface="Calibri" pitchFamily="34" charset="0"/>
                <a:ea typeface="Calibri" pitchFamily="34" charset="-122"/>
                <a:cs typeface="Calibri" pitchFamily="34" charset="-120"/>
              </a:rPr>
              <a:t>In plain terms: the bottom axis is the cutoff we could choose — how sure the model has to be before it flags someone. The left-hand axis is what share of our whole customer base would get an alert at that cutoff. At 50%, a third of all customers get flagged — far too broad. By 70-80%, almost nobody does.</a:t>
            </a:r>
            <a:endParaRPr lang="en-US" sz="1300" dirty="0"/>
          </a:p>
        </p:txBody>
      </p:sp>
      <p:sp>
        <p:nvSpPr>
          <p:cNvPr id="10" name="Text 6"/>
          <p:cNvSpPr/>
          <p:nvPr/>
        </p:nvSpPr>
        <p:spPr>
          <a:xfrm>
            <a:off x="11475720" y="6473952"/>
            <a:ext cx="457200" cy="274320"/>
          </a:xfrm>
          <a:prstGeom prst="rect">
            <a:avLst/>
          </a:prstGeom>
          <a:noFill/>
          <a:ln/>
        </p:spPr>
        <p:txBody>
          <a:bodyPr wrap="square" rtlCol="0" anchor="ctr"/>
          <a:lstStyle/>
          <a:p>
            <a:pPr algn="r" indent="0" marL="0">
              <a:buNone/>
            </a:pPr>
            <a:r>
              <a:rPr lang="en-US" sz="1100" dirty="0">
                <a:solidFill>
                  <a:srgbClr val="AFB6BD"/>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2331720" cy="310896"/>
          </a:xfrm>
          <a:prstGeom prst="roundRect">
            <a:avLst>
              <a:gd name="adj" fmla="val 50000"/>
            </a:avLst>
          </a:prstGeom>
          <a:solidFill>
            <a:srgbClr val="00BB86"/>
          </a:solidFill>
          <a:ln/>
        </p:spPr>
      </p:sp>
      <p:sp>
        <p:nvSpPr>
          <p:cNvPr id="3" name="Text 1"/>
          <p:cNvSpPr/>
          <p:nvPr/>
        </p:nvSpPr>
        <p:spPr>
          <a:xfrm>
            <a:off x="457200" y="365760"/>
            <a:ext cx="2331720" cy="310896"/>
          </a:xfrm>
          <a:prstGeom prst="rect">
            <a:avLst/>
          </a:prstGeom>
          <a:noFill/>
          <a:ln/>
        </p:spPr>
        <p:txBody>
          <a:bodyPr wrap="square" rtlCol="0" anchor="ctr"/>
          <a:lstStyle/>
          <a:p>
            <a:pPr algn="ctr" indent="0" marL="0">
              <a:buNone/>
            </a:pPr>
            <a:r>
              <a:rPr lang="en-US" sz="1050" b="1" spc="50" kern="0" dirty="0">
                <a:solidFill>
                  <a:srgbClr val="FFFFFF"/>
                </a:solidFill>
                <a:latin typeface="Calibri" pitchFamily="34" charset="0"/>
                <a:ea typeface="Calibri" pitchFamily="34" charset="-122"/>
                <a:cs typeface="Calibri" pitchFamily="34" charset="-120"/>
              </a:rPr>
              <a:t>THE TRADE-OFF</a:t>
            </a:r>
            <a:endParaRPr lang="en-US" sz="1050" dirty="0"/>
          </a:p>
        </p:txBody>
      </p:sp>
      <p:sp>
        <p:nvSpPr>
          <p:cNvPr id="4" name="Text 2"/>
          <p:cNvSpPr/>
          <p:nvPr/>
        </p:nvSpPr>
        <p:spPr>
          <a:xfrm>
            <a:off x="457200" y="804672"/>
            <a:ext cx="9966960" cy="594360"/>
          </a:xfrm>
          <a:prstGeom prst="rect">
            <a:avLst/>
          </a:prstGeom>
          <a:noFill/>
          <a:ln/>
        </p:spPr>
        <p:txBody>
          <a:bodyPr wrap="square" rtlCol="0" anchor="ctr"/>
          <a:lstStyle/>
          <a:p>
            <a:pPr indent="0" marL="0">
              <a:buNone/>
            </a:pPr>
            <a:r>
              <a:rPr lang="en-US" sz="2800" b="1" dirty="0">
                <a:solidFill>
                  <a:srgbClr val="004061"/>
                </a:solidFill>
                <a:latin typeface="Calibri" pitchFamily="34" charset="0"/>
                <a:ea typeface="Calibri" pitchFamily="34" charset="-122"/>
                <a:cs typeface="Calibri" pitchFamily="34" charset="-120"/>
              </a:rPr>
              <a:t>How Many Real Callers Would We Catch?</a:t>
            </a:r>
            <a:endParaRPr lang="en-US" sz="2800" dirty="0"/>
          </a:p>
        </p:txBody>
      </p:sp>
      <p:pic>
        <p:nvPicPr>
          <p:cNvPr id="5" name="Image 0" descr="/home/claude/task7_deck/igs_logo.png">    </p:cNvPr>
          <p:cNvPicPr>
            <a:picLocks noChangeAspect="1"/>
          </p:cNvPicPr>
          <p:nvPr/>
        </p:nvPicPr>
        <p:blipFill>
          <a:blip r:embed="rId1"/>
          <a:stretch>
            <a:fillRect/>
          </a:stretch>
        </p:blipFill>
        <p:spPr>
          <a:xfrm>
            <a:off x="10698480" y="365760"/>
            <a:ext cx="868680" cy="225857"/>
          </a:xfrm>
          <a:prstGeom prst="rect">
            <a:avLst/>
          </a:prstGeom>
        </p:spPr>
      </p:pic>
      <p:sp>
        <p:nvSpPr>
          <p:cNvPr id="6" name="Text 3"/>
          <p:cNvSpPr/>
          <p:nvPr/>
        </p:nvSpPr>
        <p:spPr>
          <a:xfrm>
            <a:off x="457200" y="1417320"/>
            <a:ext cx="11247120" cy="365760"/>
          </a:xfrm>
          <a:prstGeom prst="rect">
            <a:avLst/>
          </a:prstGeom>
          <a:noFill/>
          <a:ln/>
        </p:spPr>
        <p:txBody>
          <a:bodyPr wrap="square" rtlCol="0" anchor="ctr"/>
          <a:lstStyle/>
          <a:p>
            <a:pPr algn="ctr" indent="0" marL="0">
              <a:buNone/>
            </a:pPr>
            <a:r>
              <a:rPr lang="en-US" sz="1400" b="1" dirty="0">
                <a:solidFill>
                  <a:srgbClr val="004061"/>
                </a:solidFill>
                <a:latin typeface="Calibri" pitchFamily="34" charset="0"/>
                <a:ea typeface="Calibri" pitchFamily="34" charset="-122"/>
                <a:cs typeface="Calibri" pitchFamily="34" charset="-120"/>
              </a:rPr>
              <a:t>% of Actual Callers Who Would Have Gotten an Alert, by Cutoff</a:t>
            </a:r>
            <a:endParaRPr lang="en-US" sz="1400" dirty="0"/>
          </a:p>
        </p:txBody>
      </p:sp>
      <p:graphicFrame>
        <p:nvGraphicFramePr>
          <p:cNvPr id="7" name="Chart 0" descr=""/>
          <p:cNvGraphicFramePr/>
          <p:nvPr/>
        </p:nvGraphicFramePr>
        <p:xfrm>
          <a:off x="640080" y="1874520"/>
          <a:ext cx="10881360" cy="342900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457200" y="5440680"/>
            <a:ext cx="11274552" cy="960120"/>
          </a:xfrm>
          <a:prstGeom prst="rect">
            <a:avLst>
              <a:gd name="adj" fmla="val 5714"/>
            </a:avLst>
          </a:prstGeom>
          <a:solidFill>
            <a:srgbClr val="F5F8FB"/>
          </a:solidFill>
          <a:ln/>
        </p:spPr>
      </p:sp>
      <p:sp>
        <p:nvSpPr>
          <p:cNvPr id="9" name="Text 5"/>
          <p:cNvSpPr/>
          <p:nvPr/>
        </p:nvSpPr>
        <p:spPr>
          <a:xfrm>
            <a:off x="777240" y="5550408"/>
            <a:ext cx="10652760" cy="777240"/>
          </a:xfrm>
          <a:prstGeom prst="rect">
            <a:avLst/>
          </a:prstGeom>
          <a:noFill/>
          <a:ln/>
        </p:spPr>
        <p:txBody>
          <a:bodyPr wrap="square" rtlCol="0" anchor="t"/>
          <a:lstStyle/>
          <a:p>
            <a:pPr indent="0" marL="0">
              <a:lnSpc>
                <a:spcPct val="125000"/>
              </a:lnSpc>
              <a:buNone/>
            </a:pPr>
            <a:r>
              <a:rPr lang="en-US" sz="1300" dirty="0">
                <a:solidFill>
                  <a:srgbClr val="3A3A3A"/>
                </a:solidFill>
                <a:latin typeface="Calibri" pitchFamily="34" charset="0"/>
                <a:ea typeface="Calibri" pitchFamily="34" charset="-122"/>
                <a:cs typeface="Calibri" pitchFamily="34" charset="-120"/>
              </a:rPr>
              <a:t>In plain terms: same bottom axis — the cutoff. This left-hand axis shows what share of customers who actually called would have received an alert first. Lower cutoffs catch more real callers, but (as the last slide showed) at the cost of flagging almost everyone. That's the trade-off we need to balance.</a:t>
            </a:r>
            <a:endParaRPr lang="en-US" sz="1300" dirty="0"/>
          </a:p>
        </p:txBody>
      </p:sp>
      <p:sp>
        <p:nvSpPr>
          <p:cNvPr id="10" name="Text 6"/>
          <p:cNvSpPr/>
          <p:nvPr/>
        </p:nvSpPr>
        <p:spPr>
          <a:xfrm>
            <a:off x="11475720" y="6473952"/>
            <a:ext cx="457200" cy="274320"/>
          </a:xfrm>
          <a:prstGeom prst="rect">
            <a:avLst/>
          </a:prstGeom>
          <a:noFill/>
          <a:ln/>
        </p:spPr>
        <p:txBody>
          <a:bodyPr wrap="square" rtlCol="0" anchor="ctr"/>
          <a:lstStyle/>
          <a:p>
            <a:pPr algn="r" indent="0" marL="0">
              <a:buNone/>
            </a:pPr>
            <a:r>
              <a:rPr lang="en-US" sz="1100" dirty="0">
                <a:solidFill>
                  <a:srgbClr val="AFB6BD"/>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2331720" cy="310896"/>
          </a:xfrm>
          <a:prstGeom prst="roundRect">
            <a:avLst>
              <a:gd name="adj" fmla="val 50000"/>
            </a:avLst>
          </a:prstGeom>
          <a:solidFill>
            <a:srgbClr val="005CB9"/>
          </a:solidFill>
          <a:ln/>
        </p:spPr>
      </p:sp>
      <p:sp>
        <p:nvSpPr>
          <p:cNvPr id="3" name="Text 1"/>
          <p:cNvSpPr/>
          <p:nvPr/>
        </p:nvSpPr>
        <p:spPr>
          <a:xfrm>
            <a:off x="457200" y="365760"/>
            <a:ext cx="2331720" cy="310896"/>
          </a:xfrm>
          <a:prstGeom prst="rect">
            <a:avLst/>
          </a:prstGeom>
          <a:noFill/>
          <a:ln/>
        </p:spPr>
        <p:txBody>
          <a:bodyPr wrap="square" rtlCol="0" anchor="ctr"/>
          <a:lstStyle/>
          <a:p>
            <a:pPr algn="ctr" indent="0" marL="0">
              <a:buNone/>
            </a:pPr>
            <a:r>
              <a:rPr lang="en-US" sz="1050" b="1" spc="50" kern="0" dirty="0">
                <a:solidFill>
                  <a:srgbClr val="FFFFFF"/>
                </a:solidFill>
                <a:latin typeface="Calibri" pitchFamily="34" charset="0"/>
                <a:ea typeface="Calibri" pitchFamily="34" charset="-122"/>
                <a:cs typeface="Calibri" pitchFamily="34" charset="-120"/>
              </a:rPr>
              <a:t>THE RECOMMENDATION</a:t>
            </a:r>
            <a:endParaRPr lang="en-US" sz="1050" dirty="0"/>
          </a:p>
        </p:txBody>
      </p:sp>
      <p:sp>
        <p:nvSpPr>
          <p:cNvPr id="4" name="Text 2"/>
          <p:cNvSpPr/>
          <p:nvPr/>
        </p:nvSpPr>
        <p:spPr>
          <a:xfrm>
            <a:off x="457200" y="804672"/>
            <a:ext cx="9966960" cy="594360"/>
          </a:xfrm>
          <a:prstGeom prst="rect">
            <a:avLst/>
          </a:prstGeom>
          <a:noFill/>
          <a:ln/>
        </p:spPr>
        <p:txBody>
          <a:bodyPr wrap="square" rtlCol="0" anchor="ctr"/>
          <a:lstStyle/>
          <a:p>
            <a:pPr indent="0" marL="0">
              <a:buNone/>
            </a:pPr>
            <a:r>
              <a:rPr lang="en-US" sz="2800" b="1" dirty="0">
                <a:solidFill>
                  <a:srgbClr val="004061"/>
                </a:solidFill>
                <a:latin typeface="Calibri" pitchFamily="34" charset="0"/>
                <a:ea typeface="Calibri" pitchFamily="34" charset="-122"/>
                <a:cs typeface="Calibri" pitchFamily="34" charset="-120"/>
              </a:rPr>
              <a:t>Proposed Starting Point: 60%</a:t>
            </a:r>
            <a:endParaRPr lang="en-US" sz="2800" dirty="0"/>
          </a:p>
        </p:txBody>
      </p:sp>
      <p:pic>
        <p:nvPicPr>
          <p:cNvPr id="5" name="Image 0" descr="/home/claude/task7_deck/igs_logo.png">    </p:cNvPr>
          <p:cNvPicPr>
            <a:picLocks noChangeAspect="1"/>
          </p:cNvPicPr>
          <p:nvPr/>
        </p:nvPicPr>
        <p:blipFill>
          <a:blip r:embed="rId1"/>
          <a:stretch>
            <a:fillRect/>
          </a:stretch>
        </p:blipFill>
        <p:spPr>
          <a:xfrm>
            <a:off x="10698480" y="365760"/>
            <a:ext cx="868680" cy="225857"/>
          </a:xfrm>
          <a:prstGeom prst="rect">
            <a:avLst/>
          </a:prstGeom>
        </p:spPr>
      </p:pic>
      <p:sp>
        <p:nvSpPr>
          <p:cNvPr id="6" name="Shape 3"/>
          <p:cNvSpPr/>
          <p:nvPr/>
        </p:nvSpPr>
        <p:spPr>
          <a:xfrm>
            <a:off x="457200" y="1600200"/>
            <a:ext cx="3657600" cy="4297680"/>
          </a:xfrm>
          <a:prstGeom prst="rect">
            <a:avLst>
              <a:gd name="adj" fmla="val 2000"/>
            </a:avLst>
          </a:prstGeom>
          <a:solidFill>
            <a:srgbClr val="004061"/>
          </a:solidFill>
          <a:ln/>
        </p:spPr>
      </p:sp>
      <p:sp>
        <p:nvSpPr>
          <p:cNvPr id="7" name="Text 4"/>
          <p:cNvSpPr/>
          <p:nvPr/>
        </p:nvSpPr>
        <p:spPr>
          <a:xfrm>
            <a:off x="457200" y="1965960"/>
            <a:ext cx="3657600" cy="1097280"/>
          </a:xfrm>
          <a:prstGeom prst="rect">
            <a:avLst/>
          </a:prstGeom>
          <a:noFill/>
          <a:ln/>
        </p:spPr>
        <p:txBody>
          <a:bodyPr wrap="square" rtlCol="0" anchor="ctr"/>
          <a:lstStyle/>
          <a:p>
            <a:pPr algn="ctr" indent="0" marL="0">
              <a:buNone/>
            </a:pPr>
            <a:r>
              <a:rPr lang="en-US" sz="5800" b="1" dirty="0">
                <a:solidFill>
                  <a:srgbClr val="00B9B3"/>
                </a:solidFill>
                <a:latin typeface="Calibri" pitchFamily="34" charset="0"/>
                <a:ea typeface="Calibri" pitchFamily="34" charset="-122"/>
                <a:cs typeface="Calibri" pitchFamily="34" charset="-120"/>
              </a:rPr>
              <a:t>60%</a:t>
            </a:r>
            <a:endParaRPr lang="en-US" sz="5800" dirty="0"/>
          </a:p>
        </p:txBody>
      </p:sp>
      <p:sp>
        <p:nvSpPr>
          <p:cNvPr id="8" name="Text 5"/>
          <p:cNvSpPr/>
          <p:nvPr/>
        </p:nvSpPr>
        <p:spPr>
          <a:xfrm>
            <a:off x="457200" y="3017520"/>
            <a:ext cx="365760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Call Likelihood Cutoff</a:t>
            </a:r>
            <a:endParaRPr lang="en-US" sz="1400" dirty="0"/>
          </a:p>
        </p:txBody>
      </p:sp>
      <p:sp>
        <p:nvSpPr>
          <p:cNvPr id="9" name="Text 6"/>
          <p:cNvSpPr/>
          <p:nvPr/>
        </p:nvSpPr>
        <p:spPr>
          <a:xfrm>
            <a:off x="731520" y="3611880"/>
            <a:ext cx="2103120" cy="365760"/>
          </a:xfrm>
          <a:prstGeom prst="rect">
            <a:avLst/>
          </a:prstGeom>
          <a:noFill/>
          <a:ln/>
        </p:spPr>
        <p:txBody>
          <a:bodyPr wrap="square" rtlCol="0" anchor="ctr"/>
          <a:lstStyle/>
          <a:p>
            <a:pPr indent="0" marL="0">
              <a:buNone/>
            </a:pPr>
            <a:r>
              <a:rPr lang="en-US" sz="1150" dirty="0">
                <a:solidFill>
                  <a:srgbClr val="AFC3D8"/>
                </a:solidFill>
                <a:latin typeface="Calibri" pitchFamily="34" charset="0"/>
                <a:ea typeface="Calibri" pitchFamily="34" charset="-122"/>
                <a:cs typeface="Calibri" pitchFamily="34" charset="-120"/>
              </a:rPr>
              <a:t>Customers flagged</a:t>
            </a:r>
            <a:endParaRPr lang="en-US" sz="1150" dirty="0"/>
          </a:p>
        </p:txBody>
      </p:sp>
      <p:sp>
        <p:nvSpPr>
          <p:cNvPr id="10" name="Text 7"/>
          <p:cNvSpPr/>
          <p:nvPr/>
        </p:nvSpPr>
        <p:spPr>
          <a:xfrm>
            <a:off x="2743200" y="3611880"/>
            <a:ext cx="1188720" cy="365760"/>
          </a:xfrm>
          <a:prstGeom prst="rect">
            <a:avLst/>
          </a:prstGeom>
          <a:noFill/>
          <a:ln/>
        </p:spPr>
        <p:txBody>
          <a:bodyPr wrap="square" rtlCol="0" anchor="ctr"/>
          <a:lstStyle/>
          <a:p>
            <a:pPr algn="r" indent="0" marL="0">
              <a:buNone/>
            </a:pPr>
            <a:r>
              <a:rPr lang="en-US" sz="1150" b="1" dirty="0">
                <a:solidFill>
                  <a:srgbClr val="FFFFFF"/>
                </a:solidFill>
                <a:latin typeface="Calibri" pitchFamily="34" charset="0"/>
                <a:ea typeface="Calibri" pitchFamily="34" charset="-122"/>
                <a:cs typeface="Calibri" pitchFamily="34" charset="-120"/>
              </a:rPr>
              <a:t>13.7% of base</a:t>
            </a:r>
            <a:endParaRPr lang="en-US" sz="1150" dirty="0"/>
          </a:p>
        </p:txBody>
      </p:sp>
      <p:sp>
        <p:nvSpPr>
          <p:cNvPr id="11" name="Text 8"/>
          <p:cNvSpPr/>
          <p:nvPr/>
        </p:nvSpPr>
        <p:spPr>
          <a:xfrm>
            <a:off x="731520" y="4069080"/>
            <a:ext cx="2103120" cy="365760"/>
          </a:xfrm>
          <a:prstGeom prst="rect">
            <a:avLst/>
          </a:prstGeom>
          <a:noFill/>
          <a:ln/>
        </p:spPr>
        <p:txBody>
          <a:bodyPr wrap="square" rtlCol="0" anchor="ctr"/>
          <a:lstStyle/>
          <a:p>
            <a:pPr indent="0" marL="0">
              <a:buNone/>
            </a:pPr>
            <a:r>
              <a:rPr lang="en-US" sz="1150" dirty="0">
                <a:solidFill>
                  <a:srgbClr val="AFC3D8"/>
                </a:solidFill>
                <a:latin typeface="Calibri" pitchFamily="34" charset="0"/>
                <a:ea typeface="Calibri" pitchFamily="34" charset="-122"/>
                <a:cs typeface="Calibri" pitchFamily="34" charset="-120"/>
              </a:rPr>
              <a:t>Real callers caught</a:t>
            </a:r>
            <a:endParaRPr lang="en-US" sz="1150" dirty="0"/>
          </a:p>
        </p:txBody>
      </p:sp>
      <p:sp>
        <p:nvSpPr>
          <p:cNvPr id="12" name="Text 9"/>
          <p:cNvSpPr/>
          <p:nvPr/>
        </p:nvSpPr>
        <p:spPr>
          <a:xfrm>
            <a:off x="2743200" y="4069080"/>
            <a:ext cx="1188720" cy="365760"/>
          </a:xfrm>
          <a:prstGeom prst="rect">
            <a:avLst/>
          </a:prstGeom>
          <a:noFill/>
          <a:ln/>
        </p:spPr>
        <p:txBody>
          <a:bodyPr wrap="square" rtlCol="0" anchor="ctr"/>
          <a:lstStyle/>
          <a:p>
            <a:pPr algn="r" indent="0" marL="0">
              <a:buNone/>
            </a:pPr>
            <a:r>
              <a:rPr lang="en-US" sz="1150" b="1" dirty="0">
                <a:solidFill>
                  <a:srgbClr val="FFFFFF"/>
                </a:solidFill>
                <a:latin typeface="Calibri" pitchFamily="34" charset="0"/>
                <a:ea typeface="Calibri" pitchFamily="34" charset="-122"/>
                <a:cs typeface="Calibri" pitchFamily="34" charset="-120"/>
              </a:rPr>
              <a:t>26.2%</a:t>
            </a:r>
            <a:endParaRPr lang="en-US" sz="1150" dirty="0"/>
          </a:p>
        </p:txBody>
      </p:sp>
      <p:sp>
        <p:nvSpPr>
          <p:cNvPr id="13" name="Text 10"/>
          <p:cNvSpPr/>
          <p:nvPr/>
        </p:nvSpPr>
        <p:spPr>
          <a:xfrm>
            <a:off x="731520" y="4526280"/>
            <a:ext cx="2103120" cy="365760"/>
          </a:xfrm>
          <a:prstGeom prst="rect">
            <a:avLst/>
          </a:prstGeom>
          <a:noFill/>
          <a:ln/>
        </p:spPr>
        <p:txBody>
          <a:bodyPr wrap="square" rtlCol="0" anchor="ctr"/>
          <a:lstStyle/>
          <a:p>
            <a:pPr indent="0" marL="0">
              <a:buNone/>
            </a:pPr>
            <a:r>
              <a:rPr lang="en-US" sz="1150" dirty="0">
                <a:solidFill>
                  <a:srgbClr val="AFC3D8"/>
                </a:solidFill>
                <a:latin typeface="Calibri" pitchFamily="34" charset="0"/>
                <a:ea typeface="Calibri" pitchFamily="34" charset="-122"/>
                <a:cs typeface="Calibri" pitchFamily="34" charset="-120"/>
              </a:rPr>
              <a:t>Alert accuracy</a:t>
            </a:r>
            <a:endParaRPr lang="en-US" sz="1150" dirty="0"/>
          </a:p>
        </p:txBody>
      </p:sp>
      <p:sp>
        <p:nvSpPr>
          <p:cNvPr id="14" name="Text 11"/>
          <p:cNvSpPr/>
          <p:nvPr/>
        </p:nvSpPr>
        <p:spPr>
          <a:xfrm>
            <a:off x="2743200" y="4526280"/>
            <a:ext cx="1188720" cy="365760"/>
          </a:xfrm>
          <a:prstGeom prst="rect">
            <a:avLst/>
          </a:prstGeom>
          <a:noFill/>
          <a:ln/>
        </p:spPr>
        <p:txBody>
          <a:bodyPr wrap="square" rtlCol="0" anchor="ctr"/>
          <a:lstStyle/>
          <a:p>
            <a:pPr algn="r" indent="0" marL="0">
              <a:buNone/>
            </a:pPr>
            <a:r>
              <a:rPr lang="en-US" sz="1150" b="1" dirty="0">
                <a:solidFill>
                  <a:srgbClr val="FFFFFF"/>
                </a:solidFill>
                <a:latin typeface="Calibri" pitchFamily="34" charset="0"/>
                <a:ea typeface="Calibri" pitchFamily="34" charset="-122"/>
                <a:cs typeface="Calibri" pitchFamily="34" charset="-120"/>
              </a:rPr>
              <a:t>~7.3%</a:t>
            </a:r>
            <a:endParaRPr lang="en-US" sz="1150" dirty="0"/>
          </a:p>
        </p:txBody>
      </p:sp>
      <p:sp>
        <p:nvSpPr>
          <p:cNvPr id="15" name="Text 12"/>
          <p:cNvSpPr/>
          <p:nvPr/>
        </p:nvSpPr>
        <p:spPr>
          <a:xfrm>
            <a:off x="731520" y="5166360"/>
            <a:ext cx="3108960" cy="640080"/>
          </a:xfrm>
          <a:prstGeom prst="rect">
            <a:avLst/>
          </a:prstGeom>
          <a:noFill/>
          <a:ln/>
        </p:spPr>
        <p:txBody>
          <a:bodyPr wrap="square" rtlCol="0" anchor="t"/>
          <a:lstStyle/>
          <a:p>
            <a:pPr indent="0" marL="0">
              <a:lnSpc>
                <a:spcPct val="125000"/>
              </a:lnSpc>
              <a:buNone/>
            </a:pPr>
            <a:r>
              <a:rPr lang="en-US" sz="1050" i="1" dirty="0">
                <a:solidFill>
                  <a:srgbClr val="AFC3D8"/>
                </a:solidFill>
                <a:latin typeface="Calibri" pitchFamily="34" charset="0"/>
                <a:ea typeface="Calibri" pitchFamily="34" charset="-122"/>
                <a:cs typeface="Calibri" pitchFamily="34" charset="-120"/>
              </a:rPr>
              <a:t>A starting point, not a final answer — fully adjustable once we see real alert volume.</a:t>
            </a:r>
            <a:endParaRPr lang="en-US" sz="1050" dirty="0"/>
          </a:p>
        </p:txBody>
      </p:sp>
      <p:sp>
        <p:nvSpPr>
          <p:cNvPr id="16" name="Shape 13"/>
          <p:cNvSpPr/>
          <p:nvPr/>
        </p:nvSpPr>
        <p:spPr>
          <a:xfrm>
            <a:off x="4480560" y="1856232"/>
            <a:ext cx="109728" cy="109728"/>
          </a:xfrm>
          <a:prstGeom prst="ellipse">
            <a:avLst/>
          </a:prstGeom>
          <a:solidFill>
            <a:srgbClr val="00BB86"/>
          </a:solidFill>
          <a:ln/>
        </p:spPr>
      </p:sp>
      <p:sp>
        <p:nvSpPr>
          <p:cNvPr id="17" name="Text 14"/>
          <p:cNvSpPr/>
          <p:nvPr/>
        </p:nvSpPr>
        <p:spPr>
          <a:xfrm>
            <a:off x="4736592" y="1673352"/>
            <a:ext cx="6949440" cy="960120"/>
          </a:xfrm>
          <a:prstGeom prst="rect">
            <a:avLst/>
          </a:prstGeom>
          <a:noFill/>
          <a:ln/>
        </p:spPr>
        <p:txBody>
          <a:bodyPr wrap="square" rtlCol="0" anchor="t"/>
          <a:lstStyle/>
          <a:p>
            <a:pPr indent="0" marL="0">
              <a:lnSpc>
                <a:spcPct val="130000"/>
              </a:lnSpc>
              <a:buNone/>
            </a:pPr>
            <a:r>
              <a:rPr lang="en-US" sz="1350" dirty="0">
                <a:solidFill>
                  <a:srgbClr val="3A3A3A"/>
                </a:solidFill>
                <a:latin typeface="Calibri" pitchFamily="34" charset="0"/>
                <a:ea typeface="Calibri" pitchFamily="34" charset="-122"/>
                <a:cs typeface="Calibri" pitchFamily="34" charset="-120"/>
              </a:rPr>
              <a:t>Highest cutoff where alert volume drops under 15% of the base, while still catching over a quarter of real callers.</a:t>
            </a:r>
            <a:endParaRPr lang="en-US" sz="1350" dirty="0"/>
          </a:p>
        </p:txBody>
      </p:sp>
      <p:sp>
        <p:nvSpPr>
          <p:cNvPr id="18" name="Shape 15"/>
          <p:cNvSpPr/>
          <p:nvPr/>
        </p:nvSpPr>
        <p:spPr>
          <a:xfrm>
            <a:off x="4480560" y="2889504"/>
            <a:ext cx="109728" cy="109728"/>
          </a:xfrm>
          <a:prstGeom prst="ellipse">
            <a:avLst/>
          </a:prstGeom>
          <a:solidFill>
            <a:srgbClr val="00BB86"/>
          </a:solidFill>
          <a:ln/>
        </p:spPr>
      </p:sp>
      <p:sp>
        <p:nvSpPr>
          <p:cNvPr id="19" name="Text 16"/>
          <p:cNvSpPr/>
          <p:nvPr/>
        </p:nvSpPr>
        <p:spPr>
          <a:xfrm>
            <a:off x="4736592" y="2706624"/>
            <a:ext cx="6949440" cy="960120"/>
          </a:xfrm>
          <a:prstGeom prst="rect">
            <a:avLst/>
          </a:prstGeom>
          <a:noFill/>
          <a:ln/>
        </p:spPr>
        <p:txBody>
          <a:bodyPr wrap="square" rtlCol="0" anchor="t"/>
          <a:lstStyle/>
          <a:p>
            <a:pPr indent="0" marL="0">
              <a:lnSpc>
                <a:spcPct val="130000"/>
              </a:lnSpc>
              <a:buNone/>
            </a:pPr>
            <a:r>
              <a:rPr lang="en-US" sz="1350" dirty="0">
                <a:solidFill>
                  <a:srgbClr val="3A3A3A"/>
                </a:solidFill>
                <a:latin typeface="Calibri" pitchFamily="34" charset="0"/>
                <a:ea typeface="Calibri" pitchFamily="34" charset="-122"/>
                <a:cs typeface="Calibri" pitchFamily="34" charset="-120"/>
              </a:rPr>
              <a:t>Below 55%, cutoffs flag 20%+ of the entire customer base — too broad to act on meaningfully.</a:t>
            </a:r>
            <a:endParaRPr lang="en-US" sz="1350" dirty="0"/>
          </a:p>
        </p:txBody>
      </p:sp>
      <p:sp>
        <p:nvSpPr>
          <p:cNvPr id="20" name="Shape 17"/>
          <p:cNvSpPr/>
          <p:nvPr/>
        </p:nvSpPr>
        <p:spPr>
          <a:xfrm>
            <a:off x="4480560" y="3922776"/>
            <a:ext cx="109728" cy="109728"/>
          </a:xfrm>
          <a:prstGeom prst="ellipse">
            <a:avLst/>
          </a:prstGeom>
          <a:solidFill>
            <a:srgbClr val="00BB86"/>
          </a:solidFill>
          <a:ln/>
        </p:spPr>
      </p:sp>
      <p:sp>
        <p:nvSpPr>
          <p:cNvPr id="21" name="Text 18"/>
          <p:cNvSpPr/>
          <p:nvPr/>
        </p:nvSpPr>
        <p:spPr>
          <a:xfrm>
            <a:off x="4736592" y="3739896"/>
            <a:ext cx="6949440" cy="960120"/>
          </a:xfrm>
          <a:prstGeom prst="rect">
            <a:avLst/>
          </a:prstGeom>
          <a:noFill/>
          <a:ln/>
        </p:spPr>
        <p:txBody>
          <a:bodyPr wrap="square" rtlCol="0" anchor="t"/>
          <a:lstStyle/>
          <a:p>
            <a:pPr indent="0" marL="0">
              <a:lnSpc>
                <a:spcPct val="130000"/>
              </a:lnSpc>
              <a:buNone/>
            </a:pPr>
            <a:r>
              <a:rPr lang="en-US" sz="1350" dirty="0">
                <a:solidFill>
                  <a:srgbClr val="3A3A3A"/>
                </a:solidFill>
                <a:latin typeface="Calibri" pitchFamily="34" charset="0"/>
                <a:ea typeface="Calibri" pitchFamily="34" charset="-122"/>
                <a:cs typeface="Calibri" pitchFamily="34" charset="-120"/>
              </a:rPr>
              <a:t>Above 65%, recall drops under 30% and keeps falling fast — we'd miss most real callers.</a:t>
            </a:r>
            <a:endParaRPr lang="en-US" sz="1350" dirty="0"/>
          </a:p>
        </p:txBody>
      </p:sp>
      <p:sp>
        <p:nvSpPr>
          <p:cNvPr id="22" name="Shape 19"/>
          <p:cNvSpPr/>
          <p:nvPr/>
        </p:nvSpPr>
        <p:spPr>
          <a:xfrm>
            <a:off x="4480560" y="4956048"/>
            <a:ext cx="109728" cy="109728"/>
          </a:xfrm>
          <a:prstGeom prst="ellipse">
            <a:avLst/>
          </a:prstGeom>
          <a:solidFill>
            <a:srgbClr val="00BB86"/>
          </a:solidFill>
          <a:ln/>
        </p:spPr>
      </p:sp>
      <p:sp>
        <p:nvSpPr>
          <p:cNvPr id="23" name="Text 20"/>
          <p:cNvSpPr/>
          <p:nvPr/>
        </p:nvSpPr>
        <p:spPr>
          <a:xfrm>
            <a:off x="4736592" y="4773168"/>
            <a:ext cx="6949440" cy="960120"/>
          </a:xfrm>
          <a:prstGeom prst="rect">
            <a:avLst/>
          </a:prstGeom>
          <a:noFill/>
          <a:ln/>
        </p:spPr>
        <p:txBody>
          <a:bodyPr wrap="square" rtlCol="0" anchor="t"/>
          <a:lstStyle/>
          <a:p>
            <a:pPr indent="0" marL="0">
              <a:lnSpc>
                <a:spcPct val="130000"/>
              </a:lnSpc>
              <a:buNone/>
            </a:pPr>
            <a:r>
              <a:rPr lang="en-US" sz="1350" dirty="0">
                <a:solidFill>
                  <a:srgbClr val="3A3A3A"/>
                </a:solidFill>
                <a:latin typeface="Calibri" pitchFamily="34" charset="0"/>
                <a:ea typeface="Calibri" pitchFamily="34" charset="-122"/>
                <a:cs typeface="Calibri" pitchFamily="34" charset="-120"/>
              </a:rPr>
              <a:t>Precision stays modest everywhere (roughly 5-8%) — a real limitation of the model, not a tuning problem.</a:t>
            </a:r>
            <a:endParaRPr lang="en-US" sz="1350" dirty="0"/>
          </a:p>
        </p:txBody>
      </p:sp>
      <p:sp>
        <p:nvSpPr>
          <p:cNvPr id="24" name="Text 21"/>
          <p:cNvSpPr/>
          <p:nvPr/>
        </p:nvSpPr>
        <p:spPr>
          <a:xfrm>
            <a:off x="11475720" y="6473952"/>
            <a:ext cx="457200" cy="274320"/>
          </a:xfrm>
          <a:prstGeom prst="rect">
            <a:avLst/>
          </a:prstGeom>
          <a:noFill/>
          <a:ln/>
        </p:spPr>
        <p:txBody>
          <a:bodyPr wrap="square" rtlCol="0" anchor="ctr"/>
          <a:lstStyle/>
          <a:p>
            <a:pPr algn="r" indent="0" marL="0">
              <a:buNone/>
            </a:pPr>
            <a:r>
              <a:rPr lang="en-US" sz="1100" dirty="0">
                <a:solidFill>
                  <a:srgbClr val="AFB6BD"/>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2331720" cy="310896"/>
          </a:xfrm>
          <a:prstGeom prst="roundRect">
            <a:avLst>
              <a:gd name="adj" fmla="val 50000"/>
            </a:avLst>
          </a:prstGeom>
          <a:solidFill>
            <a:srgbClr val="F4A600"/>
          </a:solidFill>
          <a:ln/>
        </p:spPr>
      </p:sp>
      <p:sp>
        <p:nvSpPr>
          <p:cNvPr id="3" name="Text 1"/>
          <p:cNvSpPr/>
          <p:nvPr/>
        </p:nvSpPr>
        <p:spPr>
          <a:xfrm>
            <a:off x="457200" y="365760"/>
            <a:ext cx="2331720" cy="310896"/>
          </a:xfrm>
          <a:prstGeom prst="rect">
            <a:avLst/>
          </a:prstGeom>
          <a:noFill/>
          <a:ln/>
        </p:spPr>
        <p:txBody>
          <a:bodyPr wrap="square" rtlCol="0" anchor="ctr"/>
          <a:lstStyle/>
          <a:p>
            <a:pPr algn="ctr" indent="0" marL="0">
              <a:buNone/>
            </a:pPr>
            <a:r>
              <a:rPr lang="en-US" sz="1050" b="1" spc="50" kern="0" dirty="0">
                <a:solidFill>
                  <a:srgbClr val="FFFFFF"/>
                </a:solidFill>
                <a:latin typeface="Calibri" pitchFamily="34" charset="0"/>
                <a:ea typeface="Calibri" pitchFamily="34" charset="-122"/>
                <a:cs typeface="Calibri" pitchFamily="34" charset="-120"/>
              </a:rPr>
              <a:t>BEING UPFRONT ABOUT LIMITS</a:t>
            </a:r>
            <a:endParaRPr lang="en-US" sz="1050" dirty="0"/>
          </a:p>
        </p:txBody>
      </p:sp>
      <p:sp>
        <p:nvSpPr>
          <p:cNvPr id="4" name="Text 2"/>
          <p:cNvSpPr/>
          <p:nvPr/>
        </p:nvSpPr>
        <p:spPr>
          <a:xfrm>
            <a:off x="457200" y="804672"/>
            <a:ext cx="9966960" cy="594360"/>
          </a:xfrm>
          <a:prstGeom prst="rect">
            <a:avLst/>
          </a:prstGeom>
          <a:noFill/>
          <a:ln/>
        </p:spPr>
        <p:txBody>
          <a:bodyPr wrap="square" rtlCol="0" anchor="ctr"/>
          <a:lstStyle/>
          <a:p>
            <a:pPr indent="0" marL="0">
              <a:buNone/>
            </a:pPr>
            <a:r>
              <a:rPr lang="en-US" sz="2800" b="1" dirty="0">
                <a:solidFill>
                  <a:srgbClr val="004061"/>
                </a:solidFill>
                <a:latin typeface="Calibri" pitchFamily="34" charset="0"/>
                <a:ea typeface="Calibri" pitchFamily="34" charset="-122"/>
                <a:cs typeface="Calibri" pitchFamily="34" charset="-120"/>
              </a:rPr>
              <a:t>What This Model Doesn't Do Yet</a:t>
            </a:r>
            <a:endParaRPr lang="en-US" sz="2800" dirty="0"/>
          </a:p>
        </p:txBody>
      </p:sp>
      <p:sp>
        <p:nvSpPr>
          <p:cNvPr id="5" name="Text 3"/>
          <p:cNvSpPr/>
          <p:nvPr/>
        </p:nvSpPr>
        <p:spPr>
          <a:xfrm>
            <a:off x="457200" y="1353312"/>
            <a:ext cx="10332720" cy="365760"/>
          </a:xfrm>
          <a:prstGeom prst="rect">
            <a:avLst/>
          </a:prstGeom>
          <a:noFill/>
          <a:ln/>
        </p:spPr>
        <p:txBody>
          <a:bodyPr wrap="square" rtlCol="0" anchor="ctr"/>
          <a:lstStyle/>
          <a:p>
            <a:pPr indent="0" marL="0">
              <a:buNone/>
            </a:pPr>
            <a:r>
              <a:rPr lang="en-US" sz="1450" dirty="0">
                <a:solidFill>
                  <a:srgbClr val="5B6B7C"/>
                </a:solidFill>
                <a:latin typeface="Calibri" pitchFamily="34" charset="0"/>
                <a:ea typeface="Calibri" pitchFamily="34" charset="-122"/>
                <a:cs typeface="Calibri" pitchFamily="34" charset="-120"/>
              </a:rPr>
              <a:t>It's a useful first pass, but it has real limits worth naming</a:t>
            </a:r>
            <a:endParaRPr lang="en-US" sz="1450" dirty="0"/>
          </a:p>
        </p:txBody>
      </p:sp>
      <p:pic>
        <p:nvPicPr>
          <p:cNvPr id="6" name="Image 0" descr="/home/claude/task7_deck/igs_logo.png">    </p:cNvPr>
          <p:cNvPicPr>
            <a:picLocks noChangeAspect="1"/>
          </p:cNvPicPr>
          <p:nvPr/>
        </p:nvPicPr>
        <p:blipFill>
          <a:blip r:embed="rId1"/>
          <a:stretch>
            <a:fillRect/>
          </a:stretch>
        </p:blipFill>
        <p:spPr>
          <a:xfrm>
            <a:off x="10698480" y="365760"/>
            <a:ext cx="868680" cy="225857"/>
          </a:xfrm>
          <a:prstGeom prst="rect">
            <a:avLst/>
          </a:prstGeom>
        </p:spPr>
      </p:pic>
      <p:sp>
        <p:nvSpPr>
          <p:cNvPr id="7" name="Shape 4"/>
          <p:cNvSpPr/>
          <p:nvPr/>
        </p:nvSpPr>
        <p:spPr>
          <a:xfrm>
            <a:off x="457200" y="1874520"/>
            <a:ext cx="5440680" cy="3977640"/>
          </a:xfrm>
          <a:prstGeom prst="rect">
            <a:avLst>
              <a:gd name="adj" fmla="val 1379"/>
            </a:avLst>
          </a:prstGeom>
          <a:solidFill>
            <a:srgbClr val="F5F8FB"/>
          </a:solidFill>
          <a:ln/>
        </p:spPr>
      </p:sp>
      <p:sp>
        <p:nvSpPr>
          <p:cNvPr id="8" name="Shape 5"/>
          <p:cNvSpPr/>
          <p:nvPr/>
        </p:nvSpPr>
        <p:spPr>
          <a:xfrm>
            <a:off x="731520" y="2148840"/>
            <a:ext cx="411480" cy="54864"/>
          </a:xfrm>
          <a:prstGeom prst="rect">
            <a:avLst/>
          </a:prstGeom>
          <a:solidFill>
            <a:srgbClr val="F4A600"/>
          </a:solidFill>
          <a:ln/>
        </p:spPr>
      </p:sp>
      <p:sp>
        <p:nvSpPr>
          <p:cNvPr id="9" name="Text 6"/>
          <p:cNvSpPr/>
          <p:nvPr/>
        </p:nvSpPr>
        <p:spPr>
          <a:xfrm>
            <a:off x="731520" y="2331720"/>
            <a:ext cx="4892040" cy="457200"/>
          </a:xfrm>
          <a:prstGeom prst="rect">
            <a:avLst/>
          </a:prstGeom>
          <a:noFill/>
          <a:ln/>
        </p:spPr>
        <p:txBody>
          <a:bodyPr wrap="square" rtlCol="0" anchor="ctr"/>
          <a:lstStyle/>
          <a:p>
            <a:pPr indent="0" marL="0">
              <a:buNone/>
            </a:pPr>
            <a:r>
              <a:rPr lang="en-US" sz="1700" b="1" dirty="0">
                <a:solidFill>
                  <a:srgbClr val="004061"/>
                </a:solidFill>
                <a:latin typeface="Calibri" pitchFamily="34" charset="0"/>
                <a:ea typeface="Calibri" pitchFamily="34" charset="-122"/>
                <a:cs typeface="Calibri" pitchFamily="34" charset="-120"/>
              </a:rPr>
              <a:t>1. Only Three Inputs</a:t>
            </a:r>
            <a:endParaRPr lang="en-US" sz="1700" dirty="0"/>
          </a:p>
        </p:txBody>
      </p:sp>
      <p:sp>
        <p:nvSpPr>
          <p:cNvPr id="10" name="Text 7"/>
          <p:cNvSpPr/>
          <p:nvPr/>
        </p:nvSpPr>
        <p:spPr>
          <a:xfrm>
            <a:off x="731520" y="2926080"/>
            <a:ext cx="4892040" cy="2697480"/>
          </a:xfrm>
          <a:prstGeom prst="rect">
            <a:avLst/>
          </a:prstGeom>
          <a:noFill/>
          <a:ln/>
        </p:spPr>
        <p:txBody>
          <a:bodyPr wrap="square" rtlCol="0" anchor="t"/>
          <a:lstStyle/>
          <a:p>
            <a:pPr indent="0" marL="0">
              <a:lnSpc>
                <a:spcPct val="135000"/>
              </a:lnSpc>
              <a:buNone/>
            </a:pPr>
            <a:r>
              <a:rPr lang="en-US" sz="1350" dirty="0">
                <a:solidFill>
                  <a:srgbClr val="3A3A3A"/>
                </a:solidFill>
                <a:latin typeface="Calibri" pitchFamily="34" charset="0"/>
                <a:ea typeface="Calibri" pitchFamily="34" charset="-122"/>
                <a:cs typeface="Calibri" pitchFamily="34" charset="-120"/>
              </a:rPr>
              <a:t>Bill increase, credit score, and tenure are useful, but they don't capture everything — like whether someone has called before, or their payment history. That's likely why the accuracy tops out at 0.64.</a:t>
            </a:r>
            <a:endParaRPr lang="en-US" sz="1350" dirty="0"/>
          </a:p>
        </p:txBody>
      </p:sp>
      <p:sp>
        <p:nvSpPr>
          <p:cNvPr id="11" name="Shape 8"/>
          <p:cNvSpPr/>
          <p:nvPr/>
        </p:nvSpPr>
        <p:spPr>
          <a:xfrm>
            <a:off x="6263640" y="1874520"/>
            <a:ext cx="5440680" cy="3977640"/>
          </a:xfrm>
          <a:prstGeom prst="rect">
            <a:avLst>
              <a:gd name="adj" fmla="val 1379"/>
            </a:avLst>
          </a:prstGeom>
          <a:solidFill>
            <a:srgbClr val="F5F8FB"/>
          </a:solidFill>
          <a:ln/>
        </p:spPr>
      </p:sp>
      <p:sp>
        <p:nvSpPr>
          <p:cNvPr id="12" name="Shape 9"/>
          <p:cNvSpPr/>
          <p:nvPr/>
        </p:nvSpPr>
        <p:spPr>
          <a:xfrm>
            <a:off x="6537960" y="2148840"/>
            <a:ext cx="411480" cy="54864"/>
          </a:xfrm>
          <a:prstGeom prst="rect">
            <a:avLst/>
          </a:prstGeom>
          <a:solidFill>
            <a:srgbClr val="005CB9"/>
          </a:solidFill>
          <a:ln/>
        </p:spPr>
      </p:sp>
      <p:sp>
        <p:nvSpPr>
          <p:cNvPr id="13" name="Text 10"/>
          <p:cNvSpPr/>
          <p:nvPr/>
        </p:nvSpPr>
        <p:spPr>
          <a:xfrm>
            <a:off x="6537960" y="2331720"/>
            <a:ext cx="4892040" cy="457200"/>
          </a:xfrm>
          <a:prstGeom prst="rect">
            <a:avLst/>
          </a:prstGeom>
          <a:noFill/>
          <a:ln/>
        </p:spPr>
        <p:txBody>
          <a:bodyPr wrap="square" rtlCol="0" anchor="ctr"/>
          <a:lstStyle/>
          <a:p>
            <a:pPr indent="0" marL="0">
              <a:buNone/>
            </a:pPr>
            <a:r>
              <a:rPr lang="en-US" sz="1700" b="1" dirty="0">
                <a:solidFill>
                  <a:srgbClr val="004061"/>
                </a:solidFill>
                <a:latin typeface="Calibri" pitchFamily="34" charset="0"/>
                <a:ea typeface="Calibri" pitchFamily="34" charset="-122"/>
                <a:cs typeface="Calibri" pitchFamily="34" charset="-120"/>
              </a:rPr>
              <a:t>2. Not Yet Tracked Over Time</a:t>
            </a:r>
            <a:endParaRPr lang="en-US" sz="1700" dirty="0"/>
          </a:p>
        </p:txBody>
      </p:sp>
      <p:sp>
        <p:nvSpPr>
          <p:cNvPr id="14" name="Text 11"/>
          <p:cNvSpPr/>
          <p:nvPr/>
        </p:nvSpPr>
        <p:spPr>
          <a:xfrm>
            <a:off x="6537960" y="2926080"/>
            <a:ext cx="4892040" cy="2697480"/>
          </a:xfrm>
          <a:prstGeom prst="rect">
            <a:avLst/>
          </a:prstGeom>
          <a:noFill/>
          <a:ln/>
        </p:spPr>
        <p:txBody>
          <a:bodyPr wrap="square" rtlCol="0" anchor="t"/>
          <a:lstStyle/>
          <a:p>
            <a:pPr indent="0" marL="0">
              <a:lnSpc>
                <a:spcPct val="135000"/>
              </a:lnSpc>
              <a:buNone/>
            </a:pPr>
            <a:r>
              <a:rPr lang="en-US" sz="1350" dirty="0">
                <a:solidFill>
                  <a:srgbClr val="3A3A3A"/>
                </a:solidFill>
                <a:latin typeface="Calibri" pitchFamily="34" charset="0"/>
                <a:ea typeface="Calibri" pitchFamily="34" charset="-122"/>
                <a:cs typeface="Calibri" pitchFamily="34" charset="-120"/>
              </a:rPr>
              <a:t>This is a one-time backtest, not a live, ongoing check. We haven't yet set up a way to track whether the model's predictions keep holding up over time, the way we do for the call forecast.</a:t>
            </a:r>
            <a:endParaRPr lang="en-US" sz="1350" dirty="0"/>
          </a:p>
        </p:txBody>
      </p:sp>
      <p:sp>
        <p:nvSpPr>
          <p:cNvPr id="15" name="Text 12"/>
          <p:cNvSpPr/>
          <p:nvPr/>
        </p:nvSpPr>
        <p:spPr>
          <a:xfrm>
            <a:off x="11475720" y="6473952"/>
            <a:ext cx="457200" cy="274320"/>
          </a:xfrm>
          <a:prstGeom prst="rect">
            <a:avLst/>
          </a:prstGeom>
          <a:noFill/>
          <a:ln/>
        </p:spPr>
        <p:txBody>
          <a:bodyPr wrap="square" rtlCol="0" anchor="ctr"/>
          <a:lstStyle/>
          <a:p>
            <a:pPr algn="r" indent="0" marL="0">
              <a:buNone/>
            </a:pPr>
            <a:r>
              <a:rPr lang="en-US" sz="1100" dirty="0">
                <a:solidFill>
                  <a:srgbClr val="AFB6BD"/>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804672"/>
            <a:ext cx="9966960" cy="594360"/>
          </a:xfrm>
          <a:prstGeom prst="rect">
            <a:avLst/>
          </a:prstGeom>
          <a:noFill/>
          <a:ln/>
        </p:spPr>
        <p:txBody>
          <a:bodyPr wrap="square" rtlCol="0" anchor="ctr"/>
          <a:lstStyle/>
          <a:p>
            <a:pPr indent="0" marL="0">
              <a:buNone/>
            </a:pPr>
            <a:r>
              <a:rPr lang="en-US" sz="2800" b="1" dirty="0">
                <a:solidFill>
                  <a:srgbClr val="004061"/>
                </a:solidFill>
                <a:latin typeface="Calibri" pitchFamily="34" charset="0"/>
                <a:ea typeface="Calibri" pitchFamily="34" charset="-122"/>
                <a:cs typeface="Calibri" pitchFamily="34" charset="-120"/>
              </a:rPr>
              <a:t>Key Findings</a:t>
            </a:r>
            <a:endParaRPr lang="en-US" sz="2800" dirty="0"/>
          </a:p>
        </p:txBody>
      </p:sp>
      <p:pic>
        <p:nvPicPr>
          <p:cNvPr id="3" name="Image 0" descr="/home/claude/task7_deck/igs_logo.png">    </p:cNvPr>
          <p:cNvPicPr>
            <a:picLocks noChangeAspect="1"/>
          </p:cNvPicPr>
          <p:nvPr/>
        </p:nvPicPr>
        <p:blipFill>
          <a:blip r:embed="rId1"/>
          <a:stretch>
            <a:fillRect/>
          </a:stretch>
        </p:blipFill>
        <p:spPr>
          <a:xfrm>
            <a:off x="10698480" y="365760"/>
            <a:ext cx="868680" cy="225857"/>
          </a:xfrm>
          <a:prstGeom prst="rect">
            <a:avLst/>
          </a:prstGeom>
        </p:spPr>
      </p:pic>
      <p:sp>
        <p:nvSpPr>
          <p:cNvPr id="4" name="Shape 1"/>
          <p:cNvSpPr/>
          <p:nvPr/>
        </p:nvSpPr>
        <p:spPr>
          <a:xfrm>
            <a:off x="457200" y="1691640"/>
            <a:ext cx="11274552" cy="1051560"/>
          </a:xfrm>
          <a:prstGeom prst="rect">
            <a:avLst>
              <a:gd name="adj" fmla="val 5217"/>
            </a:avLst>
          </a:prstGeom>
          <a:solidFill>
            <a:srgbClr val="F5F8FB"/>
          </a:solidFill>
          <a:ln/>
        </p:spPr>
      </p:sp>
      <p:sp>
        <p:nvSpPr>
          <p:cNvPr id="5" name="Shape 2"/>
          <p:cNvSpPr/>
          <p:nvPr/>
        </p:nvSpPr>
        <p:spPr>
          <a:xfrm>
            <a:off x="731520" y="1856232"/>
            <a:ext cx="411480" cy="54864"/>
          </a:xfrm>
          <a:prstGeom prst="rect">
            <a:avLst/>
          </a:prstGeom>
          <a:solidFill>
            <a:srgbClr val="00BB86"/>
          </a:solidFill>
          <a:ln/>
        </p:spPr>
      </p:sp>
      <p:sp>
        <p:nvSpPr>
          <p:cNvPr id="6" name="Text 3"/>
          <p:cNvSpPr/>
          <p:nvPr/>
        </p:nvSpPr>
        <p:spPr>
          <a:xfrm>
            <a:off x="731520" y="1993392"/>
            <a:ext cx="10698480" cy="365760"/>
          </a:xfrm>
          <a:prstGeom prst="rect">
            <a:avLst/>
          </a:prstGeom>
          <a:noFill/>
          <a:ln/>
        </p:spPr>
        <p:txBody>
          <a:bodyPr wrap="square" rtlCol="0" anchor="ctr"/>
          <a:lstStyle/>
          <a:p>
            <a:pPr indent="0" marL="0">
              <a:buNone/>
            </a:pPr>
            <a:r>
              <a:rPr lang="en-US" sz="1500" b="1" dirty="0">
                <a:solidFill>
                  <a:srgbClr val="004061"/>
                </a:solidFill>
                <a:latin typeface="Calibri" pitchFamily="34" charset="0"/>
                <a:ea typeface="Calibri" pitchFamily="34" charset="-122"/>
                <a:cs typeface="Calibri" pitchFamily="34" charset="-120"/>
              </a:rPr>
              <a:t>The model gives real, useful signal — but it's modest</a:t>
            </a:r>
            <a:endParaRPr lang="en-US" sz="1500" dirty="0"/>
          </a:p>
        </p:txBody>
      </p:sp>
      <p:sp>
        <p:nvSpPr>
          <p:cNvPr id="7" name="Text 4"/>
          <p:cNvSpPr/>
          <p:nvPr/>
        </p:nvSpPr>
        <p:spPr>
          <a:xfrm>
            <a:off x="731520" y="2350008"/>
            <a:ext cx="10698480" cy="347472"/>
          </a:xfrm>
          <a:prstGeom prst="rect">
            <a:avLst/>
          </a:prstGeom>
          <a:noFill/>
          <a:ln/>
        </p:spPr>
        <p:txBody>
          <a:bodyPr wrap="square" rtlCol="0" anchor="ctr"/>
          <a:lstStyle/>
          <a:p>
            <a:pPr indent="0" marL="0">
              <a:buNone/>
            </a:pPr>
            <a:r>
              <a:rPr lang="en-US" sz="1250" dirty="0">
                <a:solidFill>
                  <a:srgbClr val="3A3A3A"/>
                </a:solidFill>
                <a:latin typeface="Calibri" pitchFamily="34" charset="0"/>
                <a:ea typeface="Calibri" pitchFamily="34" charset="-122"/>
                <a:cs typeface="Calibri" pitchFamily="34" charset="-120"/>
              </a:rPr>
              <a:t>Accuracy score of 0.64 on a 0.50-1.00 scale. Better than guessing, not a sure thing.</a:t>
            </a:r>
            <a:endParaRPr lang="en-US" sz="1250" dirty="0"/>
          </a:p>
        </p:txBody>
      </p:sp>
      <p:sp>
        <p:nvSpPr>
          <p:cNvPr id="8" name="Shape 5"/>
          <p:cNvSpPr/>
          <p:nvPr/>
        </p:nvSpPr>
        <p:spPr>
          <a:xfrm>
            <a:off x="457200" y="2880360"/>
            <a:ext cx="11274552" cy="1051560"/>
          </a:xfrm>
          <a:prstGeom prst="rect">
            <a:avLst>
              <a:gd name="adj" fmla="val 5217"/>
            </a:avLst>
          </a:prstGeom>
          <a:solidFill>
            <a:srgbClr val="F5F8FB"/>
          </a:solidFill>
          <a:ln/>
        </p:spPr>
      </p:sp>
      <p:sp>
        <p:nvSpPr>
          <p:cNvPr id="9" name="Shape 6"/>
          <p:cNvSpPr/>
          <p:nvPr/>
        </p:nvSpPr>
        <p:spPr>
          <a:xfrm>
            <a:off x="731520" y="3044952"/>
            <a:ext cx="411480" cy="54864"/>
          </a:xfrm>
          <a:prstGeom prst="rect">
            <a:avLst/>
          </a:prstGeom>
          <a:solidFill>
            <a:srgbClr val="F4A600"/>
          </a:solidFill>
          <a:ln/>
        </p:spPr>
      </p:sp>
      <p:sp>
        <p:nvSpPr>
          <p:cNvPr id="10" name="Text 7"/>
          <p:cNvSpPr/>
          <p:nvPr/>
        </p:nvSpPr>
        <p:spPr>
          <a:xfrm>
            <a:off x="731520" y="3182112"/>
            <a:ext cx="10698480" cy="365760"/>
          </a:xfrm>
          <a:prstGeom prst="rect">
            <a:avLst/>
          </a:prstGeom>
          <a:noFill/>
          <a:ln/>
        </p:spPr>
        <p:txBody>
          <a:bodyPr wrap="square" rtlCol="0" anchor="ctr"/>
          <a:lstStyle/>
          <a:p>
            <a:pPr indent="0" marL="0">
              <a:buNone/>
            </a:pPr>
            <a:r>
              <a:rPr lang="en-US" sz="1500" b="1" dirty="0">
                <a:solidFill>
                  <a:srgbClr val="004061"/>
                </a:solidFill>
                <a:latin typeface="Calibri" pitchFamily="34" charset="0"/>
                <a:ea typeface="Calibri" pitchFamily="34" charset="-122"/>
                <a:cs typeface="Calibri" pitchFamily="34" charset="-120"/>
              </a:rPr>
              <a:t>Bill increase, credit score, and tenure all point the right direction</a:t>
            </a:r>
            <a:endParaRPr lang="en-US" sz="1500" dirty="0"/>
          </a:p>
        </p:txBody>
      </p:sp>
      <p:sp>
        <p:nvSpPr>
          <p:cNvPr id="11" name="Text 8"/>
          <p:cNvSpPr/>
          <p:nvPr/>
        </p:nvSpPr>
        <p:spPr>
          <a:xfrm>
            <a:off x="731520" y="3538728"/>
            <a:ext cx="10698480" cy="347472"/>
          </a:xfrm>
          <a:prstGeom prst="rect">
            <a:avLst/>
          </a:prstGeom>
          <a:noFill/>
          <a:ln/>
        </p:spPr>
        <p:txBody>
          <a:bodyPr wrap="square" rtlCol="0" anchor="ctr"/>
          <a:lstStyle/>
          <a:p>
            <a:pPr indent="0" marL="0">
              <a:buNone/>
            </a:pPr>
            <a:r>
              <a:rPr lang="en-US" sz="1250" dirty="0">
                <a:solidFill>
                  <a:srgbClr val="3A3A3A"/>
                </a:solidFill>
                <a:latin typeface="Calibri" pitchFamily="34" charset="0"/>
                <a:ea typeface="Calibri" pitchFamily="34" charset="-122"/>
                <a:cs typeface="Calibri" pitchFamily="34" charset="-120"/>
              </a:rPr>
              <a:t>Bigger bill jump, lower credit score, and shorter tenure all raise the likelihood of a call — matching what we already know.</a:t>
            </a:r>
            <a:endParaRPr lang="en-US" sz="1250" dirty="0"/>
          </a:p>
        </p:txBody>
      </p:sp>
      <p:sp>
        <p:nvSpPr>
          <p:cNvPr id="12" name="Shape 9"/>
          <p:cNvSpPr/>
          <p:nvPr/>
        </p:nvSpPr>
        <p:spPr>
          <a:xfrm>
            <a:off x="457200" y="4069080"/>
            <a:ext cx="11274552" cy="1051560"/>
          </a:xfrm>
          <a:prstGeom prst="rect">
            <a:avLst>
              <a:gd name="adj" fmla="val 5217"/>
            </a:avLst>
          </a:prstGeom>
          <a:solidFill>
            <a:srgbClr val="F5F8FB"/>
          </a:solidFill>
          <a:ln/>
        </p:spPr>
      </p:sp>
      <p:sp>
        <p:nvSpPr>
          <p:cNvPr id="13" name="Shape 10"/>
          <p:cNvSpPr/>
          <p:nvPr/>
        </p:nvSpPr>
        <p:spPr>
          <a:xfrm>
            <a:off x="731520" y="4233672"/>
            <a:ext cx="411480" cy="54864"/>
          </a:xfrm>
          <a:prstGeom prst="rect">
            <a:avLst/>
          </a:prstGeom>
          <a:solidFill>
            <a:srgbClr val="005CB9"/>
          </a:solidFill>
          <a:ln/>
        </p:spPr>
      </p:sp>
      <p:sp>
        <p:nvSpPr>
          <p:cNvPr id="14" name="Text 11"/>
          <p:cNvSpPr/>
          <p:nvPr/>
        </p:nvSpPr>
        <p:spPr>
          <a:xfrm>
            <a:off x="731520" y="4370832"/>
            <a:ext cx="10698480" cy="365760"/>
          </a:xfrm>
          <a:prstGeom prst="rect">
            <a:avLst/>
          </a:prstGeom>
          <a:noFill/>
          <a:ln/>
        </p:spPr>
        <p:txBody>
          <a:bodyPr wrap="square" rtlCol="0" anchor="ctr"/>
          <a:lstStyle/>
          <a:p>
            <a:pPr indent="0" marL="0">
              <a:buNone/>
            </a:pPr>
            <a:r>
              <a:rPr lang="en-US" sz="1500" b="1" dirty="0">
                <a:solidFill>
                  <a:srgbClr val="004061"/>
                </a:solidFill>
                <a:latin typeface="Calibri" pitchFamily="34" charset="0"/>
                <a:ea typeface="Calibri" pitchFamily="34" charset="-122"/>
                <a:cs typeface="Calibri" pitchFamily="34" charset="-120"/>
              </a:rPr>
              <a:t>A 60% cutoff is a workable starting point</a:t>
            </a:r>
            <a:endParaRPr lang="en-US" sz="1500" dirty="0"/>
          </a:p>
        </p:txBody>
      </p:sp>
      <p:sp>
        <p:nvSpPr>
          <p:cNvPr id="15" name="Text 12"/>
          <p:cNvSpPr/>
          <p:nvPr/>
        </p:nvSpPr>
        <p:spPr>
          <a:xfrm>
            <a:off x="731520" y="4727448"/>
            <a:ext cx="10698480" cy="347472"/>
          </a:xfrm>
          <a:prstGeom prst="rect">
            <a:avLst/>
          </a:prstGeom>
          <a:noFill/>
          <a:ln/>
        </p:spPr>
        <p:txBody>
          <a:bodyPr wrap="square" rtlCol="0" anchor="ctr"/>
          <a:lstStyle/>
          <a:p>
            <a:pPr indent="0" marL="0">
              <a:buNone/>
            </a:pPr>
            <a:r>
              <a:rPr lang="en-US" sz="1250" dirty="0">
                <a:solidFill>
                  <a:srgbClr val="3A3A3A"/>
                </a:solidFill>
                <a:latin typeface="Calibri" pitchFamily="34" charset="0"/>
                <a:ea typeface="Calibri" pitchFamily="34" charset="-122"/>
                <a:cs typeface="Calibri" pitchFamily="34" charset="-120"/>
              </a:rPr>
              <a:t>Flags about 1 in 7 customers, catches about a quarter of real callers, at roughly 7% alert accuracy.</a:t>
            </a:r>
            <a:endParaRPr lang="en-US" sz="1250" dirty="0"/>
          </a:p>
        </p:txBody>
      </p:sp>
      <p:sp>
        <p:nvSpPr>
          <p:cNvPr id="16" name="Shape 13"/>
          <p:cNvSpPr/>
          <p:nvPr/>
        </p:nvSpPr>
        <p:spPr>
          <a:xfrm>
            <a:off x="457200" y="5257800"/>
            <a:ext cx="11274552" cy="1051560"/>
          </a:xfrm>
          <a:prstGeom prst="rect">
            <a:avLst>
              <a:gd name="adj" fmla="val 5217"/>
            </a:avLst>
          </a:prstGeom>
          <a:solidFill>
            <a:srgbClr val="F5F8FB"/>
          </a:solidFill>
          <a:ln/>
        </p:spPr>
      </p:sp>
      <p:sp>
        <p:nvSpPr>
          <p:cNvPr id="17" name="Shape 14"/>
          <p:cNvSpPr/>
          <p:nvPr/>
        </p:nvSpPr>
        <p:spPr>
          <a:xfrm>
            <a:off x="731520" y="5422392"/>
            <a:ext cx="411480" cy="54864"/>
          </a:xfrm>
          <a:prstGeom prst="rect">
            <a:avLst/>
          </a:prstGeom>
          <a:solidFill>
            <a:srgbClr val="00B9B3"/>
          </a:solidFill>
          <a:ln/>
        </p:spPr>
      </p:sp>
      <p:sp>
        <p:nvSpPr>
          <p:cNvPr id="18" name="Text 15"/>
          <p:cNvSpPr/>
          <p:nvPr/>
        </p:nvSpPr>
        <p:spPr>
          <a:xfrm>
            <a:off x="731520" y="5559552"/>
            <a:ext cx="10698480" cy="365760"/>
          </a:xfrm>
          <a:prstGeom prst="rect">
            <a:avLst/>
          </a:prstGeom>
          <a:noFill/>
          <a:ln/>
        </p:spPr>
        <p:txBody>
          <a:bodyPr wrap="square" rtlCol="0" anchor="ctr"/>
          <a:lstStyle/>
          <a:p>
            <a:pPr indent="0" marL="0">
              <a:buNone/>
            </a:pPr>
            <a:r>
              <a:rPr lang="en-US" sz="1500" b="1" dirty="0">
                <a:solidFill>
                  <a:srgbClr val="004061"/>
                </a:solidFill>
                <a:latin typeface="Calibri" pitchFamily="34" charset="0"/>
                <a:ea typeface="Calibri" pitchFamily="34" charset="-122"/>
                <a:cs typeface="Calibri" pitchFamily="34" charset="-120"/>
              </a:rPr>
              <a:t>Every customer-bill now has a Call Likelihood score</a:t>
            </a:r>
            <a:endParaRPr lang="en-US" sz="1500" dirty="0"/>
          </a:p>
        </p:txBody>
      </p:sp>
      <p:sp>
        <p:nvSpPr>
          <p:cNvPr id="19" name="Text 16"/>
          <p:cNvSpPr/>
          <p:nvPr/>
        </p:nvSpPr>
        <p:spPr>
          <a:xfrm>
            <a:off x="731520" y="5916168"/>
            <a:ext cx="10698480" cy="347472"/>
          </a:xfrm>
          <a:prstGeom prst="rect">
            <a:avLst/>
          </a:prstGeom>
          <a:noFill/>
          <a:ln/>
        </p:spPr>
        <p:txBody>
          <a:bodyPr wrap="square" rtlCol="0" anchor="ctr"/>
          <a:lstStyle/>
          <a:p>
            <a:pPr indent="0" marL="0">
              <a:buNone/>
            </a:pPr>
            <a:r>
              <a:rPr lang="en-US" sz="1250" dirty="0">
                <a:solidFill>
                  <a:srgbClr val="3A3A3A"/>
                </a:solidFill>
                <a:latin typeface="Calibri" pitchFamily="34" charset="0"/>
                <a:ea typeface="Calibri" pitchFamily="34" charset="-122"/>
                <a:cs typeface="Calibri" pitchFamily="34" charset="-120"/>
              </a:rPr>
              <a:t>13.4 million rows scored, 0-100%, ready to use once a cutoff is agreed on.</a:t>
            </a:r>
            <a:endParaRPr lang="en-US" sz="1250" dirty="0"/>
          </a:p>
        </p:txBody>
      </p:sp>
      <p:sp>
        <p:nvSpPr>
          <p:cNvPr id="20" name="Text 17"/>
          <p:cNvSpPr/>
          <p:nvPr/>
        </p:nvSpPr>
        <p:spPr>
          <a:xfrm>
            <a:off x="11475720" y="6473952"/>
            <a:ext cx="457200" cy="274320"/>
          </a:xfrm>
          <a:prstGeom prst="rect">
            <a:avLst/>
          </a:prstGeom>
          <a:noFill/>
          <a:ln/>
        </p:spPr>
        <p:txBody>
          <a:bodyPr wrap="square" rtlCol="0" anchor="ctr"/>
          <a:lstStyle/>
          <a:p>
            <a:pPr algn="r" indent="0" marL="0">
              <a:buNone/>
            </a:pPr>
            <a:r>
              <a:rPr lang="en-US" sz="1100" dirty="0">
                <a:solidFill>
                  <a:srgbClr val="AFB6BD"/>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804672"/>
            <a:ext cx="9966960" cy="594360"/>
          </a:xfrm>
          <a:prstGeom prst="rect">
            <a:avLst/>
          </a:prstGeom>
          <a:noFill/>
          <a:ln/>
        </p:spPr>
        <p:txBody>
          <a:bodyPr wrap="square" rtlCol="0" anchor="ctr"/>
          <a:lstStyle/>
          <a:p>
            <a:pPr indent="0" marL="0">
              <a:buNone/>
            </a:pPr>
            <a:r>
              <a:rPr lang="en-US" sz="2800" b="1" dirty="0">
                <a:solidFill>
                  <a:srgbClr val="004061"/>
                </a:solidFill>
                <a:latin typeface="Calibri" pitchFamily="34" charset="0"/>
                <a:ea typeface="Calibri" pitchFamily="34" charset="-122"/>
                <a:cs typeface="Calibri" pitchFamily="34" charset="-120"/>
              </a:rPr>
              <a:t>Questions for Jonathan</a:t>
            </a:r>
            <a:endParaRPr lang="en-US" sz="2800" dirty="0"/>
          </a:p>
        </p:txBody>
      </p:sp>
      <p:pic>
        <p:nvPicPr>
          <p:cNvPr id="3" name="Image 0" descr="/home/claude/task7_deck/igs_logo.png">    </p:cNvPr>
          <p:cNvPicPr>
            <a:picLocks noChangeAspect="1"/>
          </p:cNvPicPr>
          <p:nvPr/>
        </p:nvPicPr>
        <p:blipFill>
          <a:blip r:embed="rId1"/>
          <a:stretch>
            <a:fillRect/>
          </a:stretch>
        </p:blipFill>
        <p:spPr>
          <a:xfrm>
            <a:off x="10698480" y="365760"/>
            <a:ext cx="868680" cy="225857"/>
          </a:xfrm>
          <a:prstGeom prst="rect">
            <a:avLst/>
          </a:prstGeom>
        </p:spPr>
      </p:pic>
      <p:sp>
        <p:nvSpPr>
          <p:cNvPr id="4" name="Shape 1"/>
          <p:cNvSpPr/>
          <p:nvPr/>
        </p:nvSpPr>
        <p:spPr>
          <a:xfrm>
            <a:off x="457200" y="1691640"/>
            <a:ext cx="11274552" cy="1051560"/>
          </a:xfrm>
          <a:prstGeom prst="rect">
            <a:avLst>
              <a:gd name="adj" fmla="val 5217"/>
            </a:avLst>
          </a:prstGeom>
          <a:solidFill>
            <a:srgbClr val="F5F8FB"/>
          </a:solidFill>
          <a:ln/>
        </p:spPr>
      </p:sp>
      <p:sp>
        <p:nvSpPr>
          <p:cNvPr id="5" name="Shape 2"/>
          <p:cNvSpPr/>
          <p:nvPr/>
        </p:nvSpPr>
        <p:spPr>
          <a:xfrm>
            <a:off x="731520" y="1856232"/>
            <a:ext cx="411480" cy="54864"/>
          </a:xfrm>
          <a:prstGeom prst="rect">
            <a:avLst/>
          </a:prstGeom>
          <a:solidFill>
            <a:srgbClr val="00BB86"/>
          </a:solidFill>
          <a:ln/>
        </p:spPr>
      </p:sp>
      <p:sp>
        <p:nvSpPr>
          <p:cNvPr id="6" name="Text 3"/>
          <p:cNvSpPr/>
          <p:nvPr/>
        </p:nvSpPr>
        <p:spPr>
          <a:xfrm>
            <a:off x="731520" y="1993392"/>
            <a:ext cx="10698480" cy="365760"/>
          </a:xfrm>
          <a:prstGeom prst="rect">
            <a:avLst/>
          </a:prstGeom>
          <a:noFill/>
          <a:ln/>
        </p:spPr>
        <p:txBody>
          <a:bodyPr wrap="square" rtlCol="0" anchor="ctr"/>
          <a:lstStyle/>
          <a:p>
            <a:pPr indent="0" marL="0">
              <a:buNone/>
            </a:pPr>
            <a:r>
              <a:rPr lang="en-US" sz="1500" b="1" dirty="0">
                <a:solidFill>
                  <a:srgbClr val="004061"/>
                </a:solidFill>
                <a:latin typeface="Calibri" pitchFamily="34" charset="0"/>
                <a:ea typeface="Calibri" pitchFamily="34" charset="-122"/>
                <a:cs typeface="Calibri" pitchFamily="34" charset="-120"/>
              </a:rPr>
              <a:t>Is 60% an acceptable starting cutoff?</a:t>
            </a:r>
            <a:endParaRPr lang="en-US" sz="1500" dirty="0"/>
          </a:p>
        </p:txBody>
      </p:sp>
      <p:sp>
        <p:nvSpPr>
          <p:cNvPr id="7" name="Text 4"/>
          <p:cNvSpPr/>
          <p:nvPr/>
        </p:nvSpPr>
        <p:spPr>
          <a:xfrm>
            <a:off x="731520" y="2350008"/>
            <a:ext cx="10698480" cy="347472"/>
          </a:xfrm>
          <a:prstGeom prst="rect">
            <a:avLst/>
          </a:prstGeom>
          <a:noFill/>
          <a:ln/>
        </p:spPr>
        <p:txBody>
          <a:bodyPr wrap="square" rtlCol="0" anchor="ctr"/>
          <a:lstStyle/>
          <a:p>
            <a:pPr indent="0" marL="0">
              <a:buNone/>
            </a:pPr>
            <a:r>
              <a:rPr lang="en-US" sz="1250" dirty="0">
                <a:solidFill>
                  <a:srgbClr val="3A3A3A"/>
                </a:solidFill>
                <a:latin typeface="Calibri" pitchFamily="34" charset="0"/>
                <a:ea typeface="Calibri" pitchFamily="34" charset="-122"/>
                <a:cs typeface="Calibri" pitchFamily="34" charset="-120"/>
              </a:rPr>
              <a:t>Given Care's current outreach capacity — or should we start more conservative (70%+) while we build trust in the tool?</a:t>
            </a:r>
            <a:endParaRPr lang="en-US" sz="1250" dirty="0"/>
          </a:p>
        </p:txBody>
      </p:sp>
      <p:sp>
        <p:nvSpPr>
          <p:cNvPr id="8" name="Shape 5"/>
          <p:cNvSpPr/>
          <p:nvPr/>
        </p:nvSpPr>
        <p:spPr>
          <a:xfrm>
            <a:off x="457200" y="2880360"/>
            <a:ext cx="11274552" cy="1051560"/>
          </a:xfrm>
          <a:prstGeom prst="rect">
            <a:avLst>
              <a:gd name="adj" fmla="val 5217"/>
            </a:avLst>
          </a:prstGeom>
          <a:solidFill>
            <a:srgbClr val="F5F8FB"/>
          </a:solidFill>
          <a:ln/>
        </p:spPr>
      </p:sp>
      <p:sp>
        <p:nvSpPr>
          <p:cNvPr id="9" name="Shape 6"/>
          <p:cNvSpPr/>
          <p:nvPr/>
        </p:nvSpPr>
        <p:spPr>
          <a:xfrm>
            <a:off x="731520" y="3044952"/>
            <a:ext cx="411480" cy="54864"/>
          </a:xfrm>
          <a:prstGeom prst="rect">
            <a:avLst/>
          </a:prstGeom>
          <a:solidFill>
            <a:srgbClr val="F4A600"/>
          </a:solidFill>
          <a:ln/>
        </p:spPr>
      </p:sp>
      <p:sp>
        <p:nvSpPr>
          <p:cNvPr id="10" name="Text 7"/>
          <p:cNvSpPr/>
          <p:nvPr/>
        </p:nvSpPr>
        <p:spPr>
          <a:xfrm>
            <a:off x="731520" y="3182112"/>
            <a:ext cx="10698480" cy="365760"/>
          </a:xfrm>
          <a:prstGeom prst="rect">
            <a:avLst/>
          </a:prstGeom>
          <a:noFill/>
          <a:ln/>
        </p:spPr>
        <p:txBody>
          <a:bodyPr wrap="square" rtlCol="0" anchor="ctr"/>
          <a:lstStyle/>
          <a:p>
            <a:pPr indent="0" marL="0">
              <a:buNone/>
            </a:pPr>
            <a:r>
              <a:rPr lang="en-US" sz="1500" b="1" dirty="0">
                <a:solidFill>
                  <a:srgbClr val="004061"/>
                </a:solidFill>
                <a:latin typeface="Calibri" pitchFamily="34" charset="0"/>
                <a:ea typeface="Calibri" pitchFamily="34" charset="-122"/>
                <a:cs typeface="Calibri" pitchFamily="34" charset="-120"/>
              </a:rPr>
              <a:t>How should flagged customers actually be reached?</a:t>
            </a:r>
            <a:endParaRPr lang="en-US" sz="1500" dirty="0"/>
          </a:p>
        </p:txBody>
      </p:sp>
      <p:sp>
        <p:nvSpPr>
          <p:cNvPr id="11" name="Text 8"/>
          <p:cNvSpPr/>
          <p:nvPr/>
        </p:nvSpPr>
        <p:spPr>
          <a:xfrm>
            <a:off x="731520" y="3538728"/>
            <a:ext cx="10698480" cy="347472"/>
          </a:xfrm>
          <a:prstGeom prst="rect">
            <a:avLst/>
          </a:prstGeom>
          <a:noFill/>
          <a:ln/>
        </p:spPr>
        <p:txBody>
          <a:bodyPr wrap="square" rtlCol="0" anchor="ctr"/>
          <a:lstStyle/>
          <a:p>
            <a:pPr indent="0" marL="0">
              <a:buNone/>
            </a:pPr>
            <a:r>
              <a:rPr lang="en-US" sz="1250" dirty="0">
                <a:solidFill>
                  <a:srgbClr val="3A3A3A"/>
                </a:solidFill>
                <a:latin typeface="Calibri" pitchFamily="34" charset="0"/>
                <a:ea typeface="Calibri" pitchFamily="34" charset="-122"/>
                <a:cs typeface="Calibri" pitchFamily="34" charset="-120"/>
              </a:rPr>
              <a:t>Direct email/SMS to the customer, or an internal flag that routes to Care for an outbound call?</a:t>
            </a:r>
            <a:endParaRPr lang="en-US" sz="1250" dirty="0"/>
          </a:p>
        </p:txBody>
      </p:sp>
      <p:sp>
        <p:nvSpPr>
          <p:cNvPr id="12" name="Shape 9"/>
          <p:cNvSpPr/>
          <p:nvPr/>
        </p:nvSpPr>
        <p:spPr>
          <a:xfrm>
            <a:off x="457200" y="4069080"/>
            <a:ext cx="11274552" cy="1051560"/>
          </a:xfrm>
          <a:prstGeom prst="rect">
            <a:avLst>
              <a:gd name="adj" fmla="val 5217"/>
            </a:avLst>
          </a:prstGeom>
          <a:solidFill>
            <a:srgbClr val="F5F8FB"/>
          </a:solidFill>
          <a:ln/>
        </p:spPr>
      </p:sp>
      <p:sp>
        <p:nvSpPr>
          <p:cNvPr id="13" name="Shape 10"/>
          <p:cNvSpPr/>
          <p:nvPr/>
        </p:nvSpPr>
        <p:spPr>
          <a:xfrm>
            <a:off x="731520" y="4233672"/>
            <a:ext cx="411480" cy="54864"/>
          </a:xfrm>
          <a:prstGeom prst="rect">
            <a:avLst/>
          </a:prstGeom>
          <a:solidFill>
            <a:srgbClr val="005CB9"/>
          </a:solidFill>
          <a:ln/>
        </p:spPr>
      </p:sp>
      <p:sp>
        <p:nvSpPr>
          <p:cNvPr id="14" name="Text 11"/>
          <p:cNvSpPr/>
          <p:nvPr/>
        </p:nvSpPr>
        <p:spPr>
          <a:xfrm>
            <a:off x="731520" y="4370832"/>
            <a:ext cx="10698480" cy="365760"/>
          </a:xfrm>
          <a:prstGeom prst="rect">
            <a:avLst/>
          </a:prstGeom>
          <a:noFill/>
          <a:ln/>
        </p:spPr>
        <p:txBody>
          <a:bodyPr wrap="square" rtlCol="0" anchor="ctr"/>
          <a:lstStyle/>
          <a:p>
            <a:pPr indent="0" marL="0">
              <a:buNone/>
            </a:pPr>
            <a:r>
              <a:rPr lang="en-US" sz="1500" b="1" dirty="0">
                <a:solidFill>
                  <a:srgbClr val="004061"/>
                </a:solidFill>
                <a:latin typeface="Calibri" pitchFamily="34" charset="0"/>
                <a:ea typeface="Calibri" pitchFamily="34" charset="-122"/>
                <a:cs typeface="Calibri" pitchFamily="34" charset="-120"/>
              </a:rPr>
              <a:t>Do we push toward Random Forest sooner for this use case?</a:t>
            </a:r>
            <a:endParaRPr lang="en-US" sz="1500" dirty="0"/>
          </a:p>
        </p:txBody>
      </p:sp>
      <p:sp>
        <p:nvSpPr>
          <p:cNvPr id="15" name="Text 12"/>
          <p:cNvSpPr/>
          <p:nvPr/>
        </p:nvSpPr>
        <p:spPr>
          <a:xfrm>
            <a:off x="731520" y="4727448"/>
            <a:ext cx="10698480" cy="347472"/>
          </a:xfrm>
          <a:prstGeom prst="rect">
            <a:avLst/>
          </a:prstGeom>
          <a:noFill/>
          <a:ln/>
        </p:spPr>
        <p:txBody>
          <a:bodyPr wrap="square" rtlCol="0" anchor="ctr"/>
          <a:lstStyle/>
          <a:p>
            <a:pPr indent="0" marL="0">
              <a:buNone/>
            </a:pPr>
            <a:r>
              <a:rPr lang="en-US" sz="1250" dirty="0">
                <a:solidFill>
                  <a:srgbClr val="3A3A3A"/>
                </a:solidFill>
                <a:latin typeface="Calibri" pitchFamily="34" charset="0"/>
                <a:ea typeface="Calibri" pitchFamily="34" charset="-122"/>
                <a:cs typeface="Calibri" pitchFamily="34" charset="-120"/>
              </a:rPr>
              <a:t>Given the modest 0.64 accuracy score, does it make sense to move to the Random Forest approach now rather than continuing to tune this version?</a:t>
            </a:r>
            <a:endParaRPr lang="en-US" sz="1250" dirty="0"/>
          </a:p>
        </p:txBody>
      </p:sp>
      <p:sp>
        <p:nvSpPr>
          <p:cNvPr id="16" name="Shape 13"/>
          <p:cNvSpPr/>
          <p:nvPr/>
        </p:nvSpPr>
        <p:spPr>
          <a:xfrm>
            <a:off x="457200" y="5257800"/>
            <a:ext cx="11274552" cy="1051560"/>
          </a:xfrm>
          <a:prstGeom prst="rect">
            <a:avLst>
              <a:gd name="adj" fmla="val 5217"/>
            </a:avLst>
          </a:prstGeom>
          <a:solidFill>
            <a:srgbClr val="F5F8FB"/>
          </a:solidFill>
          <a:ln/>
        </p:spPr>
      </p:sp>
      <p:sp>
        <p:nvSpPr>
          <p:cNvPr id="17" name="Shape 14"/>
          <p:cNvSpPr/>
          <p:nvPr/>
        </p:nvSpPr>
        <p:spPr>
          <a:xfrm>
            <a:off x="731520" y="5422392"/>
            <a:ext cx="411480" cy="54864"/>
          </a:xfrm>
          <a:prstGeom prst="rect">
            <a:avLst/>
          </a:prstGeom>
          <a:solidFill>
            <a:srgbClr val="00B9B3"/>
          </a:solidFill>
          <a:ln/>
        </p:spPr>
      </p:sp>
      <p:sp>
        <p:nvSpPr>
          <p:cNvPr id="18" name="Text 15"/>
          <p:cNvSpPr/>
          <p:nvPr/>
        </p:nvSpPr>
        <p:spPr>
          <a:xfrm>
            <a:off x="731520" y="5559552"/>
            <a:ext cx="10698480" cy="365760"/>
          </a:xfrm>
          <a:prstGeom prst="rect">
            <a:avLst/>
          </a:prstGeom>
          <a:noFill/>
          <a:ln/>
        </p:spPr>
        <p:txBody>
          <a:bodyPr wrap="square" rtlCol="0" anchor="ctr"/>
          <a:lstStyle/>
          <a:p>
            <a:pPr indent="0" marL="0">
              <a:buNone/>
            </a:pPr>
            <a:r>
              <a:rPr lang="en-US" sz="1500" b="1" dirty="0">
                <a:solidFill>
                  <a:srgbClr val="004061"/>
                </a:solidFill>
                <a:latin typeface="Calibri" pitchFamily="34" charset="0"/>
                <a:ea typeface="Calibri" pitchFamily="34" charset="-122"/>
                <a:cs typeface="Calibri" pitchFamily="34" charset="-120"/>
              </a:rPr>
              <a:t>What cadence do you want for reviewing accuracy once live?</a:t>
            </a:r>
            <a:endParaRPr lang="en-US" sz="1500" dirty="0"/>
          </a:p>
        </p:txBody>
      </p:sp>
      <p:sp>
        <p:nvSpPr>
          <p:cNvPr id="19" name="Text 16"/>
          <p:cNvSpPr/>
          <p:nvPr/>
        </p:nvSpPr>
        <p:spPr>
          <a:xfrm>
            <a:off x="731520" y="5916168"/>
            <a:ext cx="10698480" cy="347472"/>
          </a:xfrm>
          <a:prstGeom prst="rect">
            <a:avLst/>
          </a:prstGeom>
          <a:noFill/>
          <a:ln/>
        </p:spPr>
        <p:txBody>
          <a:bodyPr wrap="square" rtlCol="0" anchor="ctr"/>
          <a:lstStyle/>
          <a:p>
            <a:pPr indent="0" marL="0">
              <a:buNone/>
            </a:pPr>
            <a:r>
              <a:rPr lang="en-US" sz="1250" dirty="0">
                <a:solidFill>
                  <a:srgbClr val="3A3A3A"/>
                </a:solidFill>
                <a:latin typeface="Calibri" pitchFamily="34" charset="0"/>
                <a:ea typeface="Calibri" pitchFamily="34" charset="-122"/>
                <a:cs typeface="Calibri" pitchFamily="34" charset="-120"/>
              </a:rPr>
              <a:t>Weekly or monthly — and should this loop in Remy now, or after we have a live pilot with real outcomes?</a:t>
            </a:r>
            <a:endParaRPr lang="en-US" sz="1250" dirty="0"/>
          </a:p>
        </p:txBody>
      </p:sp>
      <p:sp>
        <p:nvSpPr>
          <p:cNvPr id="20" name="Text 17"/>
          <p:cNvSpPr/>
          <p:nvPr/>
        </p:nvSpPr>
        <p:spPr>
          <a:xfrm>
            <a:off x="11475720" y="6473952"/>
            <a:ext cx="457200" cy="274320"/>
          </a:xfrm>
          <a:prstGeom prst="rect">
            <a:avLst/>
          </a:prstGeom>
          <a:noFill/>
          <a:ln/>
        </p:spPr>
        <p:txBody>
          <a:bodyPr wrap="square" rtlCol="0" anchor="ctr"/>
          <a:lstStyle/>
          <a:p>
            <a:pPr algn="r" indent="0" marL="0">
              <a:buNone/>
            </a:pPr>
            <a:r>
              <a:rPr lang="en-US" sz="1100" dirty="0">
                <a:solidFill>
                  <a:srgbClr val="AFB6BD"/>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4061"/>
        </a:solidFill>
      </p:bgPr>
    </p:bg>
    <p:spTree>
      <p:nvGrpSpPr>
        <p:cNvPr id="1" name=""/>
        <p:cNvGrpSpPr/>
        <p:nvPr/>
      </p:nvGrpSpPr>
      <p:grpSpPr>
        <a:xfrm>
          <a:off x="0" y="0"/>
          <a:ext cx="0" cy="0"/>
          <a:chOff x="0" y="0"/>
          <a:chExt cx="0" cy="0"/>
        </a:xfrm>
      </p:grpSpPr>
      <p:pic>
        <p:nvPicPr>
          <p:cNvPr id="2" name="Image 0" descr="/home/claude/task7_deck/igs_logo.png">    </p:cNvPr>
          <p:cNvPicPr>
            <a:picLocks noChangeAspect="1"/>
          </p:cNvPicPr>
          <p:nvPr/>
        </p:nvPicPr>
        <p:blipFill>
          <a:blip r:embed="rId1"/>
          <a:stretch>
            <a:fillRect/>
          </a:stretch>
        </p:blipFill>
        <p:spPr>
          <a:xfrm>
            <a:off x="10698480" y="365760"/>
            <a:ext cx="868680" cy="225857"/>
          </a:xfrm>
          <a:prstGeom prst="rect">
            <a:avLst/>
          </a:prstGeom>
        </p:spPr>
      </p:pic>
      <p:sp>
        <p:nvSpPr>
          <p:cNvPr id="3" name="Text 0"/>
          <p:cNvSpPr/>
          <p:nvPr/>
        </p:nvSpPr>
        <p:spPr>
          <a:xfrm>
            <a:off x="548640" y="1371600"/>
            <a:ext cx="73152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NEXT STEPS</a:t>
            </a:r>
            <a:endParaRPr lang="en-US" sz="3000" dirty="0"/>
          </a:p>
        </p:txBody>
      </p:sp>
      <p:sp>
        <p:nvSpPr>
          <p:cNvPr id="4" name="Text 1"/>
          <p:cNvSpPr/>
          <p:nvPr/>
        </p:nvSpPr>
        <p:spPr>
          <a:xfrm>
            <a:off x="548640" y="1965960"/>
            <a:ext cx="7315200" cy="365760"/>
          </a:xfrm>
          <a:prstGeom prst="rect">
            <a:avLst/>
          </a:prstGeom>
          <a:noFill/>
          <a:ln/>
        </p:spPr>
        <p:txBody>
          <a:bodyPr wrap="square" rtlCol="0" anchor="ctr"/>
          <a:lstStyle/>
          <a:p>
            <a:pPr indent="0" marL="0">
              <a:buNone/>
            </a:pPr>
            <a:r>
              <a:rPr lang="en-US" sz="1500" dirty="0">
                <a:solidFill>
                  <a:srgbClr val="AFC3D8"/>
                </a:solidFill>
                <a:latin typeface="Calibri" pitchFamily="34" charset="0"/>
                <a:ea typeface="Calibri" pitchFamily="34" charset="-122"/>
                <a:cs typeface="Calibri" pitchFamily="34" charset="-120"/>
              </a:rPr>
              <a:t>Where this goes from here</a:t>
            </a:r>
            <a:endParaRPr lang="en-US" sz="1500" dirty="0"/>
          </a:p>
        </p:txBody>
      </p:sp>
      <p:sp>
        <p:nvSpPr>
          <p:cNvPr id="5" name="Shape 2"/>
          <p:cNvSpPr/>
          <p:nvPr/>
        </p:nvSpPr>
        <p:spPr>
          <a:xfrm>
            <a:off x="548640" y="2606040"/>
            <a:ext cx="384048" cy="384048"/>
          </a:xfrm>
          <a:prstGeom prst="ellipse">
            <a:avLst/>
          </a:prstGeom>
          <a:solidFill>
            <a:srgbClr val="F4A600"/>
          </a:solidFill>
          <a:ln/>
        </p:spPr>
      </p:sp>
      <p:sp>
        <p:nvSpPr>
          <p:cNvPr id="6" name="Text 3"/>
          <p:cNvSpPr/>
          <p:nvPr/>
        </p:nvSpPr>
        <p:spPr>
          <a:xfrm>
            <a:off x="1143000" y="2560320"/>
            <a:ext cx="10241280" cy="365760"/>
          </a:xfrm>
          <a:prstGeom prst="rect">
            <a:avLst/>
          </a:prstGeom>
          <a:noFill/>
          <a:ln/>
        </p:spPr>
        <p:txBody>
          <a:bodyPr wrap="square"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Agree on a cutoff with Jonathan</a:t>
            </a:r>
            <a:endParaRPr lang="en-US" sz="1550" dirty="0"/>
          </a:p>
        </p:txBody>
      </p:sp>
      <p:sp>
        <p:nvSpPr>
          <p:cNvPr id="7" name="Text 4"/>
          <p:cNvSpPr/>
          <p:nvPr/>
        </p:nvSpPr>
        <p:spPr>
          <a:xfrm>
            <a:off x="1143000" y="2926080"/>
            <a:ext cx="10241280" cy="411480"/>
          </a:xfrm>
          <a:prstGeom prst="rect">
            <a:avLst/>
          </a:prstGeom>
          <a:noFill/>
          <a:ln/>
        </p:spPr>
        <p:txBody>
          <a:bodyPr wrap="square" rtlCol="0" anchor="t"/>
          <a:lstStyle/>
          <a:p>
            <a:pPr indent="0" marL="0">
              <a:lnSpc>
                <a:spcPct val="120000"/>
              </a:lnSpc>
              <a:buNone/>
            </a:pPr>
            <a:r>
              <a:rPr lang="en-US" sz="1250" dirty="0">
                <a:solidFill>
                  <a:srgbClr val="AFC3D8"/>
                </a:solidFill>
                <a:latin typeface="Calibri" pitchFamily="34" charset="0"/>
                <a:ea typeface="Calibri" pitchFamily="34" charset="-122"/>
                <a:cs typeface="Calibri" pitchFamily="34" charset="-120"/>
              </a:rPr>
              <a:t>Confirm 60% as the starting point, or adjust based on Care's outreach capacity.</a:t>
            </a:r>
            <a:endParaRPr lang="en-US" sz="1250" dirty="0"/>
          </a:p>
        </p:txBody>
      </p:sp>
      <p:sp>
        <p:nvSpPr>
          <p:cNvPr id="8" name="Shape 5"/>
          <p:cNvSpPr/>
          <p:nvPr/>
        </p:nvSpPr>
        <p:spPr>
          <a:xfrm>
            <a:off x="548640" y="3566160"/>
            <a:ext cx="384048" cy="384048"/>
          </a:xfrm>
          <a:prstGeom prst="ellipse">
            <a:avLst/>
          </a:prstGeom>
          <a:solidFill>
            <a:srgbClr val="00BB86"/>
          </a:solidFill>
          <a:ln/>
        </p:spPr>
      </p:sp>
      <p:sp>
        <p:nvSpPr>
          <p:cNvPr id="9" name="Text 6"/>
          <p:cNvSpPr/>
          <p:nvPr/>
        </p:nvSpPr>
        <p:spPr>
          <a:xfrm>
            <a:off x="1143000" y="3520440"/>
            <a:ext cx="10241280" cy="365760"/>
          </a:xfrm>
          <a:prstGeom prst="rect">
            <a:avLst/>
          </a:prstGeom>
          <a:noFill/>
          <a:ln/>
        </p:spPr>
        <p:txBody>
          <a:bodyPr wrap="square"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Decide the outreach channel</a:t>
            </a:r>
            <a:endParaRPr lang="en-US" sz="1550" dirty="0"/>
          </a:p>
        </p:txBody>
      </p:sp>
      <p:sp>
        <p:nvSpPr>
          <p:cNvPr id="10" name="Text 7"/>
          <p:cNvSpPr/>
          <p:nvPr/>
        </p:nvSpPr>
        <p:spPr>
          <a:xfrm>
            <a:off x="1143000" y="3886200"/>
            <a:ext cx="10241280" cy="411480"/>
          </a:xfrm>
          <a:prstGeom prst="rect">
            <a:avLst/>
          </a:prstGeom>
          <a:noFill/>
          <a:ln/>
        </p:spPr>
        <p:txBody>
          <a:bodyPr wrap="square" rtlCol="0" anchor="t"/>
          <a:lstStyle/>
          <a:p>
            <a:pPr indent="0" marL="0">
              <a:lnSpc>
                <a:spcPct val="120000"/>
              </a:lnSpc>
              <a:buNone/>
            </a:pPr>
            <a:r>
              <a:rPr lang="en-US" sz="1250" dirty="0">
                <a:solidFill>
                  <a:srgbClr val="AFC3D8"/>
                </a:solidFill>
                <a:latin typeface="Calibri" pitchFamily="34" charset="0"/>
                <a:ea typeface="Calibri" pitchFamily="34" charset="-122"/>
                <a:cs typeface="Calibri" pitchFamily="34" charset="-120"/>
              </a:rPr>
              <a:t>Email, SMS, or a Care-initiated call for flagged customers.</a:t>
            </a:r>
            <a:endParaRPr lang="en-US" sz="1250" dirty="0"/>
          </a:p>
        </p:txBody>
      </p:sp>
      <p:sp>
        <p:nvSpPr>
          <p:cNvPr id="11" name="Shape 8"/>
          <p:cNvSpPr/>
          <p:nvPr/>
        </p:nvSpPr>
        <p:spPr>
          <a:xfrm>
            <a:off x="548640" y="4526280"/>
            <a:ext cx="384048" cy="384048"/>
          </a:xfrm>
          <a:prstGeom prst="ellipse">
            <a:avLst/>
          </a:prstGeom>
          <a:solidFill>
            <a:srgbClr val="005CB9"/>
          </a:solidFill>
          <a:ln/>
        </p:spPr>
      </p:sp>
      <p:sp>
        <p:nvSpPr>
          <p:cNvPr id="12" name="Text 9"/>
          <p:cNvSpPr/>
          <p:nvPr/>
        </p:nvSpPr>
        <p:spPr>
          <a:xfrm>
            <a:off x="1143000" y="4480560"/>
            <a:ext cx="10241280" cy="365760"/>
          </a:xfrm>
          <a:prstGeom prst="rect">
            <a:avLst/>
          </a:prstGeom>
          <a:noFill/>
          <a:ln/>
        </p:spPr>
        <p:txBody>
          <a:bodyPr wrap="square"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Set up accuracy tracking</a:t>
            </a:r>
            <a:endParaRPr lang="en-US" sz="1550" dirty="0"/>
          </a:p>
        </p:txBody>
      </p:sp>
      <p:sp>
        <p:nvSpPr>
          <p:cNvPr id="13" name="Text 10"/>
          <p:cNvSpPr/>
          <p:nvPr/>
        </p:nvSpPr>
        <p:spPr>
          <a:xfrm>
            <a:off x="1143000" y="4846320"/>
            <a:ext cx="10241280" cy="411480"/>
          </a:xfrm>
          <a:prstGeom prst="rect">
            <a:avLst/>
          </a:prstGeom>
          <a:noFill/>
          <a:ln/>
        </p:spPr>
        <p:txBody>
          <a:bodyPr wrap="square" rtlCol="0" anchor="t"/>
          <a:lstStyle/>
          <a:p>
            <a:pPr indent="0" marL="0">
              <a:lnSpc>
                <a:spcPct val="120000"/>
              </a:lnSpc>
              <a:buNone/>
            </a:pPr>
            <a:r>
              <a:rPr lang="en-US" sz="1250" dirty="0">
                <a:solidFill>
                  <a:srgbClr val="AFC3D8"/>
                </a:solidFill>
                <a:latin typeface="Calibri" pitchFamily="34" charset="0"/>
                <a:ea typeface="Calibri" pitchFamily="34" charset="-122"/>
                <a:cs typeface="Calibri" pitchFamily="34" charset="-120"/>
              </a:rPr>
              <a:t>Track predicted vs. actual outcomes over time, the same way we track call forecast accuracy.</a:t>
            </a:r>
            <a:endParaRPr lang="en-US" sz="1250" dirty="0"/>
          </a:p>
        </p:txBody>
      </p:sp>
      <p:sp>
        <p:nvSpPr>
          <p:cNvPr id="14" name="Shape 11"/>
          <p:cNvSpPr/>
          <p:nvPr/>
        </p:nvSpPr>
        <p:spPr>
          <a:xfrm>
            <a:off x="548640" y="5486400"/>
            <a:ext cx="384048" cy="384048"/>
          </a:xfrm>
          <a:prstGeom prst="ellipse">
            <a:avLst/>
          </a:prstGeom>
          <a:solidFill>
            <a:srgbClr val="00B9B3"/>
          </a:solidFill>
          <a:ln/>
        </p:spPr>
      </p:sp>
      <p:sp>
        <p:nvSpPr>
          <p:cNvPr id="15" name="Text 12"/>
          <p:cNvSpPr/>
          <p:nvPr/>
        </p:nvSpPr>
        <p:spPr>
          <a:xfrm>
            <a:off x="1143000" y="5440680"/>
            <a:ext cx="10241280" cy="365760"/>
          </a:xfrm>
          <a:prstGeom prst="rect">
            <a:avLst/>
          </a:prstGeom>
          <a:noFill/>
          <a:ln/>
        </p:spPr>
        <p:txBody>
          <a:bodyPr wrap="square"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Explore stronger signals</a:t>
            </a:r>
            <a:endParaRPr lang="en-US" sz="1550" dirty="0"/>
          </a:p>
        </p:txBody>
      </p:sp>
      <p:sp>
        <p:nvSpPr>
          <p:cNvPr id="16" name="Text 13"/>
          <p:cNvSpPr/>
          <p:nvPr/>
        </p:nvSpPr>
        <p:spPr>
          <a:xfrm>
            <a:off x="1143000" y="5806440"/>
            <a:ext cx="10241280" cy="411480"/>
          </a:xfrm>
          <a:prstGeom prst="rect">
            <a:avLst/>
          </a:prstGeom>
          <a:noFill/>
          <a:ln/>
        </p:spPr>
        <p:txBody>
          <a:bodyPr wrap="square" rtlCol="0" anchor="t"/>
          <a:lstStyle/>
          <a:p>
            <a:pPr indent="0" marL="0">
              <a:lnSpc>
                <a:spcPct val="120000"/>
              </a:lnSpc>
              <a:buNone/>
            </a:pPr>
            <a:r>
              <a:rPr lang="en-US" sz="1250" dirty="0">
                <a:solidFill>
                  <a:srgbClr val="AFC3D8"/>
                </a:solidFill>
                <a:latin typeface="Calibri" pitchFamily="34" charset="0"/>
                <a:ea typeface="Calibri" pitchFamily="34" charset="-122"/>
                <a:cs typeface="Calibri" pitchFamily="34" charset="-120"/>
              </a:rPr>
              <a:t>Longer term: payment history or prior call frequency could sharpen the model beyond today's 0.64 score.</a:t>
            </a:r>
            <a:endParaRPr lang="en-US" sz="1250" dirty="0"/>
          </a:p>
        </p:txBody>
      </p:sp>
      <p:sp>
        <p:nvSpPr>
          <p:cNvPr id="17" name="Text 14"/>
          <p:cNvSpPr/>
          <p:nvPr/>
        </p:nvSpPr>
        <p:spPr>
          <a:xfrm>
            <a:off x="11475720" y="6473952"/>
            <a:ext cx="457200" cy="274320"/>
          </a:xfrm>
          <a:prstGeom prst="rect">
            <a:avLst/>
          </a:prstGeom>
          <a:noFill/>
          <a:ln/>
        </p:spPr>
        <p:txBody>
          <a:bodyPr wrap="square" rtlCol="0" anchor="ctr"/>
          <a:lstStyle/>
          <a:p>
            <a:pPr algn="r" indent="0" marL="0">
              <a:buNone/>
            </a:pPr>
            <a:r>
              <a:rPr lang="en-US" sz="1100" dirty="0">
                <a:solidFill>
                  <a:srgbClr val="5C86A8"/>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2026-08-12T19:57:18Z</dcterms:created>
  <dcterms:modified xsi:type="dcterms:W3CDTF">2026-08-12T19:57:18Z</dcterms:modified>
</cp:coreProperties>
</file>