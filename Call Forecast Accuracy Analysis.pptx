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harts/chart3.xml" ContentType="application/vnd.openxmlformats-officedocument.drawingml.chart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4061"/>
                </a:solidFill>
                <a:latin typeface="Arial"/>
              </a:rPr>
              <a:t>Average Forecast Error: Before vs After the Fix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Repeat Calls</c:v>
                </c:pt>
              </c:strCache>
            </c:strRef>
          </c:tx>
          <c:spPr>
            <a:solidFill>
              <a:srgbClr val="00BB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 Fix
(Original Rates)</c:v>
                  </c:pt>
                  <c:pt idx="1">
                    <c:v>After Fix
(Recalibrated Rates)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Model Version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Average Forecast Error (MAPE 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4061"/>
                </a:solidFill>
                <a:latin typeface="Arial"/>
              </a:rPr>
              <a:t>Full 12-Month Backtest: How Often Was the Forecast Accurate?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Calls with a Written Summary</c:v>
                </c:pt>
              </c:strCache>
            </c:strRef>
          </c:tx>
          <c:spPr>
            <a:solidFill>
              <a:srgbClr val="F4A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Within Range
(254 days)</c:v>
                  </c:pt>
                  <c:pt idx="1">
                    <c:v>Flagged for
Investigation (56 days)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81.9</c:v>
                </c:pt>
                <c:pt idx="1">
                  <c:v>18.1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Result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Percent of the 310 Checked Days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4061"/>
                </a:solidFill>
                <a:latin typeface="Arial"/>
              </a:rPr>
              <a:t>How Much of the Year Could We Actually Check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dPt>
            <c:idx val="0"/>
            <c:bubble3D val="0"/>
            <c:spPr>
              <a:solidFill>
                <a:srgbClr val="00BB86"/>
              </a:solidFill>
              <a:effectLst/>
            </c:spPr>
          </c:dPt>
          <c:dPt>
            <c:idx val="1"/>
            <c:bubble3D val="0"/>
            <c:spPr>
              <a:solidFill>
                <a:srgbClr val="F4A600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Checked Against Real Calls (310 days)</c:v>
                </c:pt>
                <c:pt idx="1">
                  <c:v>Sundays — No Calls to Check Against (55 days)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310</c:v>
                </c:pt>
                <c:pt idx="1">
                  <c:v>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 b="0" i="0" u="none" strike="noStrike">
              <a:solidFill>
                <a:srgbClr val="44546A"/>
              </a:solidFill>
              <a:latin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3047924" cy="548640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6309360"/>
            <a:ext cx="3047924" cy="548640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6309360"/>
            <a:ext cx="3047924" cy="548640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6309360"/>
            <a:ext cx="3047924" cy="548640"/>
          </a:xfrm>
          <a:prstGeom prst="rect">
            <a:avLst/>
          </a:prstGeom>
          <a:solidFill>
            <a:srgbClr val="00B9B3"/>
          </a:solidFill>
          <a:ln/>
        </p:spPr>
      </p:sp>
      <p:pic>
        <p:nvPicPr>
          <p:cNvPr id="6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417320" cy="3694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OUR CALL FORECAST ACCURATE ENOUGH TO TRUST?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12-month accuracy check, two real bugs fixed, and the corrected forecast</a:t>
            </a:r>
            <a:endParaRPr lang="en-US" sz="1600" dirty="0"/>
          </a:p>
        </p:txBody>
      </p:sp>
      <p:pic>
        <p:nvPicPr>
          <p:cNvPr id="9" name="Image 1" descr="/home/claude/repeat_caller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56232" cy="274320"/>
          </a:xfrm>
          <a:prstGeom prst="roundRect">
            <a:avLst>
              <a:gd name="adj" fmla="val 166667"/>
            </a:avLst>
          </a:prstGeom>
          <a:solidFill>
            <a:srgbClr val="005C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THE GOAL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Doing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881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asked us to take our credit-tier call forecast further: expand it to a full 12 months, and prove out how accurate it actually is. He sees two uses for it — planning staffing levels, and as an early-warning signal. If the forecast is genuinely accurate, then a day where actual calls swing far from forecast becomes a flag worth investigating — something changed, and we should find out what.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wanted to find out: is our forecast actually accurate over a full year, and if not, why not — then fix it and produce a real 12-month forecast he can use for staffing.</a:t>
            </a:r>
            <a:endParaRPr lang="en-US" sz="1500" dirty="0"/>
          </a:p>
        </p:txBody>
      </p:sp>
      <p:pic>
        <p:nvPicPr>
          <p:cNvPr id="9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48256" cy="274320"/>
          </a:xfrm>
          <a:prstGeom prst="roundRect">
            <a:avLst>
              <a:gd name="adj" fmla="val 166667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THE METHOD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Did This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the forecast against a full year of real calls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our forecasted call volume against actual real call records for every day over the trailing 12 months, not just a recent week or two.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Recalculated the day-of-week rates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9260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a one-week snapshot with the real average calls-per-1,000-customers for each day of the week, measured across the full year.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6118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Recalculated the seasonal weights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9776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assumed monthly weights with the real month-by-month call volume pattern, measured across the full year.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46634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 the forecast a full 12 months forward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50292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corrected rates to project daily call volume for the next 365 days, split by credit tier for staffing planning.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SQL — a way of asking our company's databases direct questions — to pull and check the real records from our IVR call logs and customer files. Nothing outside our own systems.</a:t>
            </a:r>
            <a:endParaRPr lang="en-US" sz="1300" dirty="0"/>
          </a:p>
        </p:txBody>
      </p:sp>
      <p:pic>
        <p:nvPicPr>
          <p:cNvPr id="23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24328" cy="274320"/>
          </a:xfrm>
          <a:prstGeom prst="roundRect">
            <a:avLst>
              <a:gd name="adj" fmla="val 166667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WORK, NOT GUESSWORK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Caught Along the Way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bugs found and fixed before trusting the forecast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448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5F8FA"/>
          </a:solidFill>
          <a:ln/>
        </p:spPr>
      </p:sp>
      <p:sp>
        <p:nvSpPr>
          <p:cNvPr id="7" name="Shape 5"/>
          <p:cNvSpPr/>
          <p:nvPr/>
        </p:nvSpPr>
        <p:spPr>
          <a:xfrm>
            <a:off x="929488" y="1984248"/>
            <a:ext cx="457200" cy="54864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8" name="Text 6"/>
          <p:cNvSpPr/>
          <p:nvPr/>
        </p:nvSpPr>
        <p:spPr>
          <a:xfrm>
            <a:off x="929488" y="21488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Day-of-Week Rates Were Stale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29488" y="27889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forecast used call rates from just one recent week — not enough data to represent a full year of behavior.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9488" y="384048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When checked against a full 12 months, the real rates were meaningfully higher — for example, the real Monday rate is 7.49 calls per 1,000 customers, versus 6.70 assumed.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9488" y="489204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Fix: replaced the one-week snapshot with real 12-month averages for every day of the week.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24448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5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4488" y="1984248"/>
            <a:ext cx="457200" cy="54864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4" name="Text 12"/>
          <p:cNvSpPr/>
          <p:nvPr/>
        </p:nvSpPr>
        <p:spPr>
          <a:xfrm>
            <a:off x="6644488" y="21488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Seasonal Weights Understated Summer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44488" y="27889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August and September are actually the two highest-volume months of the year — but the model only weighted them at 1.085 and 1.059.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44488" y="384048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real weights, measured from actual call volume, are 1.354 for August and 1.369 for September — about 25% higher than assumed.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44488" y="489204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Fix: rebuilt the seasonal index directly from real month-by-month call volume.</a:t>
            </a:r>
            <a:endParaRPr lang="en-US" sz="1100" dirty="0"/>
          </a:p>
        </p:txBody>
      </p:sp>
      <p:pic>
        <p:nvPicPr>
          <p:cNvPr id="18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568196" cy="274320"/>
          </a:xfrm>
          <a:prstGeom prst="roundRect">
            <a:avLst>
              <a:gd name="adj" fmla="val 166667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568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Fixing These Two Bugs Actually Help?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direct improvement in accuracy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691640"/>
          <a:ext cx="10515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before the fix, the forecast was off by about 52% on average, and running low almost every single day. After recalibrating the day-of-week rates and seasonal weights, the average error dropped to 9.9% — a real, measurable improvement, not a small tweak.</a:t>
            </a:r>
            <a:endParaRPr lang="en-US" sz="1250" dirty="0"/>
          </a:p>
        </p:txBody>
      </p:sp>
      <p:pic>
        <p:nvPicPr>
          <p:cNvPr id="9" name="Image 0" descr="/home/claude/repeat_caller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56232" cy="274320"/>
          </a:xfrm>
          <a:prstGeom prst="roundRect">
            <a:avLst>
              <a:gd name="adj" fmla="val 166667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 Is the Corrected Forecast, Really?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every real call over the last 12 months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691640"/>
          <a:ext cx="10515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across 310 days we could check, the forecast landed within 15% of the real number 81.9% of the time. The average error across all of them was 9.9%. That's a solid, trustworthy forecast for staffing purposes.</a:t>
            </a:r>
            <a:endParaRPr lang="en-US" sz="1250" dirty="0"/>
          </a:p>
        </p:txBody>
      </p:sp>
      <p:pic>
        <p:nvPicPr>
          <p:cNvPr id="9" name="Image 0" descr="/home/claude/repeat_caller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568196" cy="274320"/>
          </a:xfrm>
          <a:prstGeom prst="roundRect">
            <a:avLst>
              <a:gd name="adj" fmla="val 166667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568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Year Could We Actually Check?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 days in a year, but not every day has calls to check against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691640"/>
          <a:ext cx="10515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our Care team doesn't take calls on Sundays, so there's no real call volume to check the forecast against on those 55 days. The 9.9% accuracy number is based on the 310 days — Monday through Saturday — where we actually have real calls to compare against.</a:t>
            </a:r>
            <a:endParaRPr lang="en-US" sz="1250" dirty="0"/>
          </a:p>
        </p:txBody>
      </p:sp>
      <p:pic>
        <p:nvPicPr>
          <p:cNvPr id="9" name="Image 0" descr="/home/claude/repeat_caller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24328" cy="274320"/>
          </a:xfrm>
          <a:prstGeom prst="roundRect">
            <a:avLst>
              <a:gd name="adj" fmla="val 166667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UPFRONT ABOUT LIMITS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Haven't Checked Yet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works well, but it has real limits worth knowing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448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5F8FA"/>
          </a:solidFill>
          <a:ln/>
        </p:spPr>
      </p:sp>
      <p:sp>
        <p:nvSpPr>
          <p:cNvPr id="7" name="Shape 5"/>
          <p:cNvSpPr/>
          <p:nvPr/>
        </p:nvSpPr>
        <p:spPr>
          <a:xfrm>
            <a:off x="929488" y="1984248"/>
            <a:ext cx="457200" cy="54864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8" name="Text 6"/>
          <p:cNvSpPr/>
          <p:nvPr/>
        </p:nvSpPr>
        <p:spPr>
          <a:xfrm>
            <a:off x="929488" y="21488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Holidays Aren't Handled Yet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29488" y="27889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Labor Day (Sep 1) correctly showed up as a big miss — actual calls ran 65% below forecast, since it's a holiday.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9488" y="384048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two days right after also ran high — likely a post-holiday rebound, calls that would have come in on the holiday arriving late instead.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9488" y="489204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 haven't built a formal holiday flag yet, so the model will keep missing on holidays and the days right after until we 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24448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5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4488" y="1984248"/>
            <a:ext cx="457200" cy="54864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4" name="Text 12"/>
          <p:cNvSpPr/>
          <p:nvPr/>
        </p:nvSpPr>
        <p:spPr>
          <a:xfrm>
            <a:off x="6644488" y="21488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Only One Year of History to Learn From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44488" y="27889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July showed two different values a year apart (0.94 vs. 1.12) — a real swing, but we can't yet tell if that's a genuine trend or just noise from having only one data point per month.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44488" y="384048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 haven't separated real year-over-year growth from normal month-to-month noise.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44488" y="489204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This is the same extended backtesting Jonathan already flagged as a next step — more years of history would settle it.</a:t>
            </a:r>
            <a:endParaRPr lang="en-US" sz="1100" dirty="0"/>
          </a:p>
        </p:txBody>
      </p:sp>
      <p:pic>
        <p:nvPicPr>
          <p:cNvPr id="18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37944"/>
            <a:ext cx="365760" cy="54864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forecast had two real, fixable bugs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13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rates were based on one week, and seasonal weights understated August and September by about 25%.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889504"/>
            <a:ext cx="365760" cy="54864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175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them cut the average error from ~52% to 9.9%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3649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large, real improvement — not a small tweak.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941064"/>
            <a:ext cx="365760" cy="54864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69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corrected forecast is accurate 81.9% of the time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416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310 real days over the last 12 months, within 15% of actual on the large majority of them.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992624"/>
            <a:ext cx="365760" cy="54864"/>
          </a:xfrm>
          <a:prstGeom prst="rect">
            <a:avLst/>
          </a:prstGeom>
          <a:solidFill>
            <a:srgbClr val="00B9B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20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12-month forward forecast is ready for staffing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468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now runs a full 365 days out — through August 2027 — split by credit tier.</a:t>
            </a:r>
            <a:endParaRPr lang="en-US" sz="1150" dirty="0"/>
          </a:p>
        </p:txBody>
      </p:sp>
      <p:pic>
        <p:nvPicPr>
          <p:cNvPr id="19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Jonathan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37944"/>
            <a:ext cx="365760" cy="54864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want a formal holiday flag built next?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13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would stop holidays and the days right after from being misread as forecast misses — worth prioritizing now, or later?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889504"/>
            <a:ext cx="365760" cy="54864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175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want to use the day-to-day variance flag?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3649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that the model is trustworthy, should INVESTIGATE-flagged days route to you directly, or into a shared tracking view?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941064"/>
            <a:ext cx="365760" cy="54864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69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one year enough history, or should we hold off trusting the seasonal weights fully?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416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July swing (0.94 vs. 1.12) is unresolved — do you want to wait for more history before relying on the seasonal index too heavily?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992624"/>
            <a:ext cx="365760" cy="54864"/>
          </a:xfrm>
          <a:prstGeom prst="rect">
            <a:avLst/>
          </a:prstGeom>
          <a:solidFill>
            <a:srgbClr val="00B9B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20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this forecast get re-validated periodically, or only if something looks off?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468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quarterly re-check against real actuals, similar to what we just did here.</a:t>
            </a:r>
            <a:endParaRPr lang="en-US" sz="1150" dirty="0"/>
          </a:p>
        </p:txBody>
      </p:sp>
      <p:pic>
        <p:nvPicPr>
          <p:cNvPr id="19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1280160" cy="3337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from here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2404872"/>
            <a:ext cx="365760" cy="365760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23500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formal holiday-adjustment flag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270662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known holidays (and the days right after) don't get misread as forecast failures.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364992"/>
            <a:ext cx="365760" cy="365760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3310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backtest with another year of history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366674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settle whether the July swing and other single-year gaps are real trends or noise.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2702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the Random Forest proof-of-concept once Python is available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43000" y="46268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Jonathan's choice between enrollment controls and disconnect notices as the starting use case.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5285232"/>
            <a:ext cx="365760" cy="365760"/>
          </a:xfrm>
          <a:prstGeom prst="ellipse">
            <a:avLst/>
          </a:prstGeom>
          <a:solidFill>
            <a:srgbClr val="00B9B3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23036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12-month forecast to staffing planning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43000" y="558698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corrected, credit-tier-split forecast is ready to use as-is.</a:t>
            </a:r>
            <a:endParaRPr lang="en-US" sz="1150" dirty="0"/>
          </a:p>
        </p:txBody>
      </p:sp>
      <p:pic>
        <p:nvPicPr>
          <p:cNvPr id="17" name="Image 1" descr="/home/claude/repeat_caller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2026-08-05T17:34:30Z</dcterms:created>
  <dcterms:modified xsi:type="dcterms:W3CDTF">2026-08-05T17:34:30Z</dcterms:modified>
</cp:coreProperties>
</file>