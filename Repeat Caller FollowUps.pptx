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004061"/>
                </a:solidFill>
                <a:latin typeface="Arial"/>
              </a:defRPr>
            </a:pPr>
            <a:r>
              <a:rPr sz="1300" b="0" i="0" u="none" strike="noStrike">
                <a:solidFill>
                  <a:srgbClr val="004061"/>
                </a:solidFill>
                <a:latin typeface="Arial"/>
              </a:rPr>
              <a:t>Repeat-Call Rate by Day of Week</a:t>
            </a:r>
          </a:p>
        </c:rich>
      </c:tx>
      <c:layout/>
      <c:overlay val="0"/>
    </c:title>
    <c:autoTitleDeleted val="0"/>
    <c:plotArea>
      <c:layout/>
      <c:barChart>
        <c:barDir val="col"/>
        <c:grouping val="clustered"/>
        <c:varyColors val="0"/>
        <c:ser>
          <c:idx val="0"/>
          <c:order val="0"/>
          <c:tx>
            <c:strRef>
              <c:f>Sheet1!$B$1</c:f>
              <c:strCache>
                <c:ptCount val="1"/>
                <c:pt idx="0">
                  <c:v>Repeat Rate</c:v>
                </c:pt>
              </c:strCache>
            </c:strRef>
          </c:tx>
          <c:spPr>
            <a:solidFill>
              <a:srgbClr val="00BB86"/>
            </a:solidFill>
            <a:effectLst/>
          </c:spPr>
          <c:invertIfNegative val="0"/>
          <c:dLbls>
            <c:numFmt formatCode="0.0" sourceLinked="0"/>
            <c:txPr>
              <a:bodyPr/>
              <a:lstStyle/>
              <a:p>
                <a:pPr>
                  <a:defRPr b="0" i="0" strike="noStrike" sz="1000" u="none">
                    <a:solidFill>
                      <a:srgbClr val="3C4650"/>
                    </a:solidFill>
                    <a:latin typeface="Arial"/>
                  </a:defRPr>
                </a:pPr>
              </a:p>
            </c:txPr>
            <c:showLegendKey val="0"/>
            <c:showVal val="1"/>
            <c:showCatName val="0"/>
            <c:showSerName val="0"/>
            <c:showPercent val="0"/>
            <c:showBubbleSize val="0"/>
            <c:showLeaderLines val="0"/>
          </c:dLbls>
          <c:cat>
            <c:multiLvlStrRef>
              <c:f>Sheet1!$A$2:$A$8</c:f>
              <c:multiLvlStrCache>
                <c:ptCount val="7"/>
                <c:lvl>
                  <c:pt idx="0">
                    <c:v>Sun</c:v>
                  </c:pt>
                  <c:pt idx="1">
                    <c:v>Mon</c:v>
                  </c:pt>
                  <c:pt idx="2">
                    <c:v>Tue</c:v>
                  </c:pt>
                  <c:pt idx="3">
                    <c:v>Wed</c:v>
                  </c:pt>
                  <c:pt idx="4">
                    <c:v>Thu</c:v>
                  </c:pt>
                  <c:pt idx="5">
                    <c:v>Fri</c:v>
                  </c:pt>
                  <c:pt idx="6">
                    <c:v>Sat</c:v>
                  </c:pt>
                </c:lvl>
              </c:multiLvlStrCache>
            </c:multiLvlStrRef>
          </c:cat>
          <c:val>
            <c:numRef>
              <c:f>Sheet1!$B$2:$B$8</c:f>
              <c:numCache>
                <c:formatCode>General</c:formatCode>
                <c:ptCount val="7"/>
                <c:pt idx="0">
                  <c:v>18.16</c:v>
                </c:pt>
                <c:pt idx="1">
                  <c:v>24.08</c:v>
                </c:pt>
                <c:pt idx="2">
                  <c:v>24.56</c:v>
                </c:pt>
                <c:pt idx="3">
                  <c:v>22.14</c:v>
                </c:pt>
                <c:pt idx="4">
                  <c:v>21.29</c:v>
                </c:pt>
                <c:pt idx="5">
                  <c:v>22.76</c:v>
                </c:pt>
                <c:pt idx="6">
                  <c:v>21.88</c:v>
                </c:pt>
              </c:numCache>
            </c:numRef>
          </c:val>
        </c:ser>
        <c:dLbls>
          <c:numFmt formatCode="0.0" sourceLinked="0"/>
          <c:txPr>
            <a:bodyPr/>
            <a:lstStyle/>
            <a:p>
              <a:pPr>
                <a:defRPr b="0" i="0" strike="noStrike" sz="1000" u="none">
                  <a:solidFill>
                    <a:srgbClr val="3C465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B6770"/>
                    </a:solidFill>
                    <a:latin typeface="Arial"/>
                  </a:defRPr>
                </a:pPr>
                <a:r>
                  <a:rPr sz="1100" b="0" i="0" u="none" strike="noStrike">
                    <a:solidFill>
                      <a:srgbClr val="5B6770"/>
                    </a:solidFill>
                    <a:latin typeface="Arial"/>
                  </a:rPr>
                  <a:t>Day of Week</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4650"/>
                </a:solidFill>
                <a:latin typeface="Arial"/>
              </a:defRPr>
            </a:pPr>
            <a:endParaRPr lang="en-US"/>
          </a:p>
        </c:txPr>
        <c:crossAx val="2094734552"/>
        <c:crosses val="autoZero"/>
        <c:auto val="1"/>
        <c:lblAlgn val="ctr"/>
        <c:noMultiLvlLbl val="1"/>
      </c:catAx>
      <c:valAx>
        <c:axId val="2094734552"/>
        <c:scaling>
          <c:orientation val="minMax"/>
          <c:max val="30"/>
        </c:scaling>
        <c:delete val="0"/>
        <c:axPos val="l"/>
        <c:majorGridlines>
          <c:spPr>
            <a:ln w="9525" cap="flat">
              <a:solidFill>
                <a:srgbClr val="E5E5E5"/>
              </a:solidFill>
              <a:prstDash val="solid"/>
              <a:round/>
            </a:ln>
          </c:spPr>
        </c:majorGridlines>
        <c:title>
          <c:tx>
            <c:rich>
              <a:bodyPr/>
              <a:lstStyle/>
              <a:p>
                <a:pPr>
                  <a:defRPr sz="1100" b="0" i="0" u="none" strike="noStrike">
                    <a:solidFill>
                      <a:srgbClr val="5B6770"/>
                    </a:solidFill>
                    <a:latin typeface="Arial"/>
                  </a:defRPr>
                </a:pPr>
                <a:r>
                  <a:rPr sz="1100" b="0" i="0" u="none" strike="noStrike">
                    <a:solidFill>
                      <a:srgbClr val="5B6770"/>
                    </a:solidFill>
                    <a:latin typeface="Arial"/>
                  </a:rPr>
                  <a:t>Repeat-Call Rate (%)</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C465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004061"/>
                </a:solidFill>
                <a:latin typeface="Arial"/>
              </a:defRPr>
            </a:pPr>
            <a:r>
              <a:rPr sz="1250" b="0" i="0" u="none" strike="noStrike">
                <a:solidFill>
                  <a:srgbClr val="004061"/>
                </a:solidFill>
                <a:latin typeface="Arial"/>
              </a:rPr>
              <a:t>Payment System Calls on the 3 Spike Days</a:t>
            </a:r>
          </a:p>
        </c:rich>
      </c:tx>
      <c:layout/>
      <c:overlay val="0"/>
    </c:title>
    <c:autoTitleDeleted val="0"/>
    <c:plotArea>
      <c:layout/>
      <c:barChart>
        <c:barDir val="col"/>
        <c:grouping val="clustered"/>
        <c:varyColors val="0"/>
        <c:ser>
          <c:idx val="0"/>
          <c:order val="0"/>
          <c:tx>
            <c:strRef>
              <c:f>Sheet1!$B$1</c:f>
              <c:strCache>
                <c:ptCount val="1"/>
                <c:pt idx="0">
                  <c:v>Calls</c:v>
                </c:pt>
              </c:strCache>
            </c:strRef>
          </c:tx>
          <c:spPr>
            <a:solidFill>
              <a:srgbClr val="F4A600"/>
            </a:solidFill>
            <a:effectLst/>
          </c:spPr>
          <c:invertIfNegative val="0"/>
          <c:dLbls>
            <c:numFmt formatCode="#,##0" sourceLinked="0"/>
            <c:txPr>
              <a:bodyPr/>
              <a:lstStyle/>
              <a:p>
                <a:pPr>
                  <a:defRPr b="0" i="0" strike="noStrike" sz="1200" u="none">
                    <a:solidFill>
                      <a:srgbClr val="3C4650"/>
                    </a:solidFill>
                    <a:latin typeface="Arial"/>
                  </a:defRPr>
                </a:pPr>
              </a:p>
            </c:txPr>
            <c:showLegendKey val="0"/>
            <c:showVal val="1"/>
            <c:showCatName val="0"/>
            <c:showSerName val="0"/>
            <c:showPercent val="0"/>
            <c:showBubbleSize val="0"/>
            <c:showLeaderLines val="0"/>
          </c:dLbls>
          <c:cat>
            <c:multiLvlStrRef>
              <c:f>Sheet1!$A$2:$A$4</c:f>
              <c:multiLvlStrCache>
                <c:ptCount val="3"/>
                <c:lvl>
                  <c:pt idx="0">
                    <c:v>Apr 27</c:v>
                  </c:pt>
                  <c:pt idx="1">
                    <c:v>Jul 7</c:v>
                  </c:pt>
                  <c:pt idx="2">
                    <c:v>Aug 12</c:v>
                  </c:pt>
                </c:lvl>
              </c:multiLvlStrCache>
            </c:multiLvlStrRef>
          </c:cat>
          <c:val>
            <c:numRef>
              <c:f>Sheet1!$B$2:$B$4</c:f>
              <c:numCache>
                <c:formatCode>General</c:formatCode>
                <c:ptCount val="3"/>
                <c:pt idx="0">
                  <c:v>77</c:v>
                </c:pt>
                <c:pt idx="1">
                  <c:v>69</c:v>
                </c:pt>
                <c:pt idx="2">
                  <c:v>119</c:v>
                </c:pt>
              </c:numCache>
            </c:numRef>
          </c:val>
        </c:ser>
        <c:dLbls>
          <c:numFmt formatCode="#,##0" sourceLinked="0"/>
          <c:txPr>
            <a:bodyPr/>
            <a:lstStyle/>
            <a:p>
              <a:pPr>
                <a:defRPr b="0" i="0" strike="noStrike" sz="1200" u="none">
                  <a:solidFill>
                    <a:srgbClr val="3C465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title>
          <c:tx>
            <c:rich>
              <a:bodyPr/>
              <a:lstStyle/>
              <a:p>
                <a:pPr>
                  <a:defRPr sz="1100" b="0" i="0" u="none" strike="noStrike">
                    <a:solidFill>
                      <a:srgbClr val="5B6770"/>
                    </a:solidFill>
                    <a:latin typeface="Arial"/>
                  </a:defRPr>
                </a:pPr>
                <a:r>
                  <a:rPr sz="1100" b="0" i="0" u="none" strike="noStrike">
                    <a:solidFill>
                      <a:srgbClr val="5B6770"/>
                    </a:solidFill>
                    <a:latin typeface="Arial"/>
                  </a:rPr>
                  <a:t>Date</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3C4650"/>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9525" cap="flat">
              <a:solidFill>
                <a:srgbClr val="E5E5E5"/>
              </a:solidFill>
              <a:prstDash val="solid"/>
              <a:round/>
            </a:ln>
          </c:spPr>
        </c:majorGridlines>
        <c:title>
          <c:tx>
            <c:rich>
              <a:bodyPr/>
              <a:lstStyle/>
              <a:p>
                <a:pPr>
                  <a:defRPr sz="1100" b="0" i="0" u="none" strike="noStrike">
                    <a:solidFill>
                      <a:srgbClr val="5B6770"/>
                    </a:solidFill>
                    <a:latin typeface="Arial"/>
                  </a:defRPr>
                </a:pPr>
                <a:r>
                  <a:rPr sz="1100" b="0" i="0" u="none" strike="noStrike">
                    <a:solidFill>
                      <a:srgbClr val="5B6770"/>
                    </a:solidFill>
                    <a:latin typeface="Arial"/>
                  </a:rPr>
                  <a:t>Number of Calls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3C465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061"/>
        </a:solidFill>
      </p:bgPr>
    </p:bg>
    <p:spTree>
      <p:nvGrpSpPr>
        <p:cNvPr id="1" name=""/>
        <p:cNvGrpSpPr/>
        <p:nvPr/>
      </p:nvGrpSpPr>
      <p:grpSpPr>
        <a:xfrm>
          <a:off x="0" y="0"/>
          <a:ext cx="0" cy="0"/>
          <a:chOff x="0" y="0"/>
          <a:chExt cx="0" cy="0"/>
        </a:xfrm>
      </p:grpSpPr>
      <p:sp>
        <p:nvSpPr>
          <p:cNvPr id="2" name="Text 0"/>
          <p:cNvSpPr/>
          <p:nvPr/>
        </p:nvSpPr>
        <p:spPr>
          <a:xfrm>
            <a:off x="731520" y="2377440"/>
            <a:ext cx="10698480" cy="100584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Repeat Caller Follow-Ups</a:t>
            </a:r>
            <a:endParaRPr lang="en-US" sz="4000" dirty="0"/>
          </a:p>
        </p:txBody>
      </p:sp>
      <p:sp>
        <p:nvSpPr>
          <p:cNvPr id="3" name="Text 1"/>
          <p:cNvSpPr/>
          <p:nvPr/>
        </p:nvSpPr>
        <p:spPr>
          <a:xfrm>
            <a:off x="731520" y="3383280"/>
            <a:ext cx="10698480" cy="548640"/>
          </a:xfrm>
          <a:prstGeom prst="rect">
            <a:avLst/>
          </a:prstGeom>
          <a:noFill/>
          <a:ln/>
        </p:spPr>
        <p:txBody>
          <a:bodyPr wrap="square" rtlCol="0" anchor="ctr"/>
          <a:lstStyle/>
          <a:p>
            <a:pPr indent="0" marL="0">
              <a:buNone/>
            </a:pPr>
            <a:r>
              <a:rPr lang="en-US" sz="1800" dirty="0">
                <a:solidFill>
                  <a:srgbClr val="00B9B3"/>
                </a:solidFill>
                <a:latin typeface="Calibri" pitchFamily="34" charset="0"/>
                <a:ea typeface="Calibri" pitchFamily="34" charset="-122"/>
                <a:cs typeface="Calibri" pitchFamily="34" charset="-120"/>
              </a:rPr>
              <a:t>Two open questions from the August 10th repeat caller review, answered</a:t>
            </a:r>
            <a:endParaRPr lang="en-US" sz="1800" dirty="0"/>
          </a:p>
        </p:txBody>
      </p:sp>
      <p:sp>
        <p:nvSpPr>
          <p:cNvPr id="4" name="Text 2"/>
          <p:cNvSpPr/>
          <p:nvPr/>
        </p:nvSpPr>
        <p:spPr>
          <a:xfrm>
            <a:off x="731520" y="5943600"/>
            <a:ext cx="5486400" cy="365760"/>
          </a:xfrm>
          <a:prstGeom prst="rect">
            <a:avLst/>
          </a:prstGeom>
          <a:noFill/>
          <a:ln/>
        </p:spPr>
        <p:txBody>
          <a:bodyPr wrap="square" rtlCol="0" anchor="ctr"/>
          <a:lstStyle/>
          <a:p>
            <a:pPr indent="0" marL="0">
              <a:buNone/>
            </a:pPr>
            <a:r>
              <a:rPr lang="en-US" sz="1300" dirty="0">
                <a:solidFill>
                  <a:srgbClr val="BFD9E8"/>
                </a:solidFill>
                <a:latin typeface="Calibri" pitchFamily="34" charset="0"/>
                <a:ea typeface="Calibri" pitchFamily="34" charset="-122"/>
                <a:cs typeface="Calibri" pitchFamily="34" charset="-120"/>
              </a:rPr>
              <a:t>Prepared by Momna Ali</a:t>
            </a:r>
            <a:endParaRPr lang="en-US" sz="1300" dirty="0"/>
          </a:p>
        </p:txBody>
      </p:sp>
      <p:sp>
        <p:nvSpPr>
          <p:cNvPr id="5" name="Shape 3"/>
          <p:cNvSpPr/>
          <p:nvPr/>
        </p:nvSpPr>
        <p:spPr>
          <a:xfrm>
            <a:off x="0" y="6748272"/>
            <a:ext cx="3047238" cy="109728"/>
          </a:xfrm>
          <a:prstGeom prst="rect">
            <a:avLst/>
          </a:prstGeom>
          <a:solidFill>
            <a:srgbClr val="005CB9"/>
          </a:solidFill>
          <a:ln/>
        </p:spPr>
      </p:sp>
      <p:sp>
        <p:nvSpPr>
          <p:cNvPr id="6" name="Shape 4"/>
          <p:cNvSpPr/>
          <p:nvPr/>
        </p:nvSpPr>
        <p:spPr>
          <a:xfrm>
            <a:off x="3047238" y="6748272"/>
            <a:ext cx="3047238" cy="109728"/>
          </a:xfrm>
          <a:prstGeom prst="rect">
            <a:avLst/>
          </a:prstGeom>
          <a:solidFill>
            <a:srgbClr val="00BB86"/>
          </a:solidFill>
          <a:ln/>
        </p:spPr>
      </p:sp>
      <p:sp>
        <p:nvSpPr>
          <p:cNvPr id="7" name="Shape 5"/>
          <p:cNvSpPr/>
          <p:nvPr/>
        </p:nvSpPr>
        <p:spPr>
          <a:xfrm>
            <a:off x="6094476" y="6748272"/>
            <a:ext cx="3047238" cy="109728"/>
          </a:xfrm>
          <a:prstGeom prst="rect">
            <a:avLst/>
          </a:prstGeom>
          <a:solidFill>
            <a:srgbClr val="F4A600"/>
          </a:solidFill>
          <a:ln/>
        </p:spPr>
      </p:sp>
      <p:sp>
        <p:nvSpPr>
          <p:cNvPr id="8" name="Shape 6"/>
          <p:cNvSpPr/>
          <p:nvPr/>
        </p:nvSpPr>
        <p:spPr>
          <a:xfrm>
            <a:off x="9141714" y="6748272"/>
            <a:ext cx="3047238" cy="109728"/>
          </a:xfrm>
          <a:prstGeom prst="rect">
            <a:avLst/>
          </a:prstGeom>
          <a:solidFill>
            <a:srgbClr val="00B9B3"/>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0" cy="329184"/>
          </a:xfrm>
          <a:prstGeom prst="roundRect">
            <a:avLst>
              <a:gd name="adj" fmla="val 50000"/>
            </a:avLst>
          </a:prstGeom>
          <a:solidFill>
            <a:srgbClr val="005CB9"/>
          </a:solidFill>
          <a:ln/>
        </p:spPr>
      </p:sp>
      <p:sp>
        <p:nvSpPr>
          <p:cNvPr id="3" name="Text 1"/>
          <p:cNvSpPr/>
          <p:nvPr/>
        </p:nvSpPr>
        <p:spPr>
          <a:xfrm>
            <a:off x="457200" y="365760"/>
            <a:ext cx="4572000"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WHY WE'RE LOOKING AT THIS</a:t>
            </a:r>
            <a:endParaRPr lang="en-US" sz="1100" dirty="0"/>
          </a:p>
        </p:txBody>
      </p:sp>
      <p:sp>
        <p:nvSpPr>
          <p:cNvPr id="4" name="Text 2"/>
          <p:cNvSpPr/>
          <p:nvPr/>
        </p:nvSpPr>
        <p:spPr>
          <a:xfrm>
            <a:off x="457200" y="822960"/>
            <a:ext cx="11247120" cy="548640"/>
          </a:xfrm>
          <a:prstGeom prst="rect">
            <a:avLst/>
          </a:prstGeom>
          <a:noFill/>
          <a:ln/>
        </p:spPr>
        <p:txBody>
          <a:bodyPr wrap="square"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Two simple questions we still needed to answer</a:t>
            </a:r>
            <a:endParaRPr lang="en-US" sz="2600" dirty="0"/>
          </a:p>
        </p:txBody>
      </p:sp>
      <p:sp>
        <p:nvSpPr>
          <p:cNvPr id="5" name="Shape 3"/>
          <p:cNvSpPr/>
          <p:nvPr/>
        </p:nvSpPr>
        <p:spPr>
          <a:xfrm>
            <a:off x="548640" y="2103120"/>
            <a:ext cx="457200" cy="457200"/>
          </a:xfrm>
          <a:prstGeom prst="ellipse">
            <a:avLst/>
          </a:prstGeom>
          <a:solidFill>
            <a:srgbClr val="005CB9"/>
          </a:solidFill>
          <a:ln/>
        </p:spPr>
      </p:sp>
      <p:sp>
        <p:nvSpPr>
          <p:cNvPr id="6" name="Text 4"/>
          <p:cNvSpPr/>
          <p:nvPr/>
        </p:nvSpPr>
        <p:spPr>
          <a:xfrm>
            <a:off x="548640" y="210312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2057400"/>
            <a:ext cx="978408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Does one day of the week cause more repeat calls?</a:t>
            </a:r>
            <a:endParaRPr lang="en-US" sz="1600" dirty="0"/>
          </a:p>
        </p:txBody>
      </p:sp>
      <p:sp>
        <p:nvSpPr>
          <p:cNvPr id="8" name="Text 6"/>
          <p:cNvSpPr/>
          <p:nvPr/>
        </p:nvSpPr>
        <p:spPr>
          <a:xfrm>
            <a:off x="1234440" y="2468880"/>
            <a:ext cx="10058400" cy="640080"/>
          </a:xfrm>
          <a:prstGeom prst="rect">
            <a:avLst/>
          </a:prstGeom>
          <a:noFill/>
          <a:ln/>
        </p:spPr>
        <p:txBody>
          <a:bodyPr wrap="square" rtlCol="0" anchor="t"/>
          <a:lstStyle/>
          <a:p>
            <a:pPr indent="0" marL="0">
              <a:buNone/>
            </a:pPr>
            <a:r>
              <a:rPr lang="en-US" sz="1300" dirty="0">
                <a:solidFill>
                  <a:srgbClr val="5B6770"/>
                </a:solidFill>
                <a:latin typeface="Calibri" pitchFamily="34" charset="0"/>
                <a:ea typeface="Calibri" pitchFamily="34" charset="-122"/>
                <a:cs typeface="Calibri" pitchFamily="34" charset="-120"/>
              </a:rPr>
              <a:t>Last time, it was asked whether Mondays specifically make people call back more than once. We hadn't checked that yet - so we checked it.</a:t>
            </a:r>
            <a:endParaRPr lang="en-US" sz="1300" dirty="0"/>
          </a:p>
        </p:txBody>
      </p:sp>
      <p:sp>
        <p:nvSpPr>
          <p:cNvPr id="9" name="Shape 7"/>
          <p:cNvSpPr/>
          <p:nvPr/>
        </p:nvSpPr>
        <p:spPr>
          <a:xfrm>
            <a:off x="548640" y="3840480"/>
            <a:ext cx="457200" cy="457200"/>
          </a:xfrm>
          <a:prstGeom prst="ellipse">
            <a:avLst/>
          </a:prstGeom>
          <a:solidFill>
            <a:srgbClr val="005CB9"/>
          </a:solidFill>
          <a:ln/>
        </p:spPr>
      </p:sp>
      <p:sp>
        <p:nvSpPr>
          <p:cNvPr id="10" name="Text 8"/>
          <p:cNvSpPr/>
          <p:nvPr/>
        </p:nvSpPr>
        <p:spPr>
          <a:xfrm>
            <a:off x="548640" y="384048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234440" y="3794760"/>
            <a:ext cx="978408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What does "system glitch" actually mean?</a:t>
            </a:r>
            <a:endParaRPr lang="en-US" sz="1600" dirty="0"/>
          </a:p>
        </p:txBody>
      </p:sp>
      <p:sp>
        <p:nvSpPr>
          <p:cNvPr id="12" name="Text 10"/>
          <p:cNvSpPr/>
          <p:nvPr/>
        </p:nvSpPr>
        <p:spPr>
          <a:xfrm>
            <a:off x="1234440" y="4206240"/>
            <a:ext cx="10058400" cy="640080"/>
          </a:xfrm>
          <a:prstGeom prst="rect">
            <a:avLst/>
          </a:prstGeom>
          <a:noFill/>
          <a:ln/>
        </p:spPr>
        <p:txBody>
          <a:bodyPr wrap="square" rtlCol="0" anchor="t"/>
          <a:lstStyle/>
          <a:p>
            <a:pPr indent="0" marL="0">
              <a:buNone/>
            </a:pPr>
            <a:r>
              <a:rPr lang="en-US" sz="1300" dirty="0">
                <a:solidFill>
                  <a:srgbClr val="5B6770"/>
                </a:solidFill>
                <a:latin typeface="Calibri" pitchFamily="34" charset="0"/>
                <a:ea typeface="Calibri" pitchFamily="34" charset="-122"/>
                <a:cs typeface="Calibri" pitchFamily="34" charset="-120"/>
              </a:rPr>
              <a:t>A small slice of calls - about 1 out of every 100 - get labeled as a system glitch complaint. Nobody had looked closely at what customers are actually saying in those calls. So we looked.</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926080" cy="329184"/>
          </a:xfrm>
          <a:prstGeom prst="roundRect">
            <a:avLst>
              <a:gd name="adj" fmla="val 50000"/>
            </a:avLst>
          </a:prstGeom>
          <a:solidFill>
            <a:srgbClr val="00B9B3"/>
          </a:solidFill>
          <a:ln/>
        </p:spPr>
      </p:sp>
      <p:sp>
        <p:nvSpPr>
          <p:cNvPr id="3" name="Text 1"/>
          <p:cNvSpPr/>
          <p:nvPr/>
        </p:nvSpPr>
        <p:spPr>
          <a:xfrm>
            <a:off x="457200" y="365760"/>
            <a:ext cx="2926080"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HOW WE DID THIS</a:t>
            </a:r>
            <a:endParaRPr lang="en-US" sz="1100" dirty="0"/>
          </a:p>
        </p:txBody>
      </p:sp>
      <p:sp>
        <p:nvSpPr>
          <p:cNvPr id="4" name="Text 2"/>
          <p:cNvSpPr/>
          <p:nvPr/>
        </p:nvSpPr>
        <p:spPr>
          <a:xfrm>
            <a:off x="457200" y="822960"/>
            <a:ext cx="11247120" cy="548640"/>
          </a:xfrm>
          <a:prstGeom prst="rect">
            <a:avLst/>
          </a:prstGeom>
          <a:noFill/>
          <a:ln/>
        </p:spPr>
        <p:txBody>
          <a:bodyPr wrap="square"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Two simple checks, using calls that actually connected</a:t>
            </a:r>
            <a:endParaRPr lang="en-US" sz="2600" dirty="0"/>
          </a:p>
        </p:txBody>
      </p:sp>
      <p:sp>
        <p:nvSpPr>
          <p:cNvPr id="5" name="Shape 3"/>
          <p:cNvSpPr/>
          <p:nvPr/>
        </p:nvSpPr>
        <p:spPr>
          <a:xfrm>
            <a:off x="548640" y="1828800"/>
            <a:ext cx="457200" cy="457200"/>
          </a:xfrm>
          <a:prstGeom prst="ellipse">
            <a:avLst/>
          </a:prstGeom>
          <a:solidFill>
            <a:srgbClr val="00B9B3"/>
          </a:solidFill>
          <a:ln/>
        </p:spPr>
      </p:sp>
      <p:sp>
        <p:nvSpPr>
          <p:cNvPr id="6" name="Text 4"/>
          <p:cNvSpPr/>
          <p:nvPr/>
        </p:nvSpPr>
        <p:spPr>
          <a:xfrm>
            <a:off x="548640" y="182880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1234440" y="1783080"/>
            <a:ext cx="978408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Started with real, connected calls only</a:t>
            </a:r>
            <a:endParaRPr lang="en-US" sz="1600" dirty="0"/>
          </a:p>
        </p:txBody>
      </p:sp>
      <p:sp>
        <p:nvSpPr>
          <p:cNvPr id="8" name="Text 6"/>
          <p:cNvSpPr/>
          <p:nvPr/>
        </p:nvSpPr>
        <p:spPr>
          <a:xfrm>
            <a:off x="1234440" y="2194560"/>
            <a:ext cx="10058400" cy="640080"/>
          </a:xfrm>
          <a:prstGeom prst="rect">
            <a:avLst/>
          </a:prstGeom>
          <a:noFill/>
          <a:ln/>
        </p:spPr>
        <p:txBody>
          <a:bodyPr wrap="square" rtlCol="0" anchor="t"/>
          <a:lstStyle/>
          <a:p>
            <a:pPr indent="0" marL="0">
              <a:buNone/>
            </a:pPr>
            <a:r>
              <a:rPr lang="en-US" sz="1300" dirty="0">
                <a:solidFill>
                  <a:srgbClr val="5B6770"/>
                </a:solidFill>
                <a:latin typeface="Calibri" pitchFamily="34" charset="0"/>
                <a:ea typeface="Calibri" pitchFamily="34" charset="-122"/>
                <a:cs typeface="Calibri" pitchFamily="34" charset="-120"/>
              </a:rPr>
              <a:t>We only counted calls where a customer actually got through and talked to someone - not calls that got cut off or never connected. That keeps the numbers honest.</a:t>
            </a:r>
            <a:endParaRPr lang="en-US" sz="1300" dirty="0"/>
          </a:p>
        </p:txBody>
      </p:sp>
      <p:sp>
        <p:nvSpPr>
          <p:cNvPr id="9" name="Shape 7"/>
          <p:cNvSpPr/>
          <p:nvPr/>
        </p:nvSpPr>
        <p:spPr>
          <a:xfrm>
            <a:off x="548640" y="3291840"/>
            <a:ext cx="457200" cy="457200"/>
          </a:xfrm>
          <a:prstGeom prst="ellipse">
            <a:avLst/>
          </a:prstGeom>
          <a:solidFill>
            <a:srgbClr val="00B9B3"/>
          </a:solidFill>
          <a:ln/>
        </p:spPr>
      </p:sp>
      <p:sp>
        <p:nvSpPr>
          <p:cNvPr id="10" name="Text 8"/>
          <p:cNvSpPr/>
          <p:nvPr/>
        </p:nvSpPr>
        <p:spPr>
          <a:xfrm>
            <a:off x="548640" y="329184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1234440" y="3246120"/>
            <a:ext cx="978408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For the day-of-week question: counted repeat calls per day</a:t>
            </a:r>
            <a:endParaRPr lang="en-US" sz="1600" dirty="0"/>
          </a:p>
        </p:txBody>
      </p:sp>
      <p:sp>
        <p:nvSpPr>
          <p:cNvPr id="12" name="Text 10"/>
          <p:cNvSpPr/>
          <p:nvPr/>
        </p:nvSpPr>
        <p:spPr>
          <a:xfrm>
            <a:off x="1234440" y="3657600"/>
            <a:ext cx="10058400" cy="640080"/>
          </a:xfrm>
          <a:prstGeom prst="rect">
            <a:avLst/>
          </a:prstGeom>
          <a:noFill/>
          <a:ln/>
        </p:spPr>
        <p:txBody>
          <a:bodyPr wrap="square" rtlCol="0" anchor="t"/>
          <a:lstStyle/>
          <a:p>
            <a:pPr indent="0" marL="0">
              <a:buNone/>
            </a:pPr>
            <a:r>
              <a:rPr lang="en-US" sz="1300" dirty="0">
                <a:solidFill>
                  <a:srgbClr val="5B6770"/>
                </a:solidFill>
                <a:latin typeface="Calibri" pitchFamily="34" charset="0"/>
                <a:ea typeface="Calibri" pitchFamily="34" charset="-122"/>
                <a:cs typeface="Calibri" pitchFamily="34" charset="-120"/>
              </a:rPr>
              <a:t>For every day someone called, we checked: did this same customer call more than once that day? Then we grouped that by day of the week - Monday, Tuesday, and so on - to see if any single day stood out.</a:t>
            </a:r>
            <a:endParaRPr lang="en-US" sz="1300" dirty="0"/>
          </a:p>
        </p:txBody>
      </p:sp>
      <p:sp>
        <p:nvSpPr>
          <p:cNvPr id="13" name="Shape 11"/>
          <p:cNvSpPr/>
          <p:nvPr/>
        </p:nvSpPr>
        <p:spPr>
          <a:xfrm>
            <a:off x="548640" y="4754880"/>
            <a:ext cx="457200" cy="457200"/>
          </a:xfrm>
          <a:prstGeom prst="ellipse">
            <a:avLst/>
          </a:prstGeom>
          <a:solidFill>
            <a:srgbClr val="00B9B3"/>
          </a:solidFill>
          <a:ln/>
        </p:spPr>
      </p:sp>
      <p:sp>
        <p:nvSpPr>
          <p:cNvPr id="14" name="Text 12"/>
          <p:cNvSpPr/>
          <p:nvPr/>
        </p:nvSpPr>
        <p:spPr>
          <a:xfrm>
            <a:off x="548640" y="4754880"/>
            <a:ext cx="457200" cy="45720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1234440" y="4709160"/>
            <a:ext cx="9784080" cy="365760"/>
          </a:xfrm>
          <a:prstGeom prst="rect">
            <a:avLst/>
          </a:prstGeom>
          <a:noFill/>
          <a:ln/>
        </p:spPr>
        <p:txBody>
          <a:bodyPr wrap="square" rtlCol="0" anchor="ctr"/>
          <a:lstStyle/>
          <a:p>
            <a:pPr indent="0" marL="0">
              <a:buNone/>
            </a:pPr>
            <a:r>
              <a:rPr lang="en-US" sz="1600" b="1" dirty="0">
                <a:solidFill>
                  <a:srgbClr val="004061"/>
                </a:solidFill>
                <a:latin typeface="Calibri" pitchFamily="34" charset="0"/>
                <a:ea typeface="Calibri" pitchFamily="34" charset="-122"/>
                <a:cs typeface="Calibri" pitchFamily="34" charset="-120"/>
              </a:rPr>
              <a:t>For the system glitch question: read the actual labels</a:t>
            </a:r>
            <a:endParaRPr lang="en-US" sz="1600" dirty="0"/>
          </a:p>
        </p:txBody>
      </p:sp>
      <p:sp>
        <p:nvSpPr>
          <p:cNvPr id="16" name="Text 14"/>
          <p:cNvSpPr/>
          <p:nvPr/>
        </p:nvSpPr>
        <p:spPr>
          <a:xfrm>
            <a:off x="1234440" y="5120640"/>
            <a:ext cx="10058400" cy="640080"/>
          </a:xfrm>
          <a:prstGeom prst="rect">
            <a:avLst/>
          </a:prstGeom>
          <a:noFill/>
          <a:ln/>
        </p:spPr>
        <p:txBody>
          <a:bodyPr wrap="square" rtlCol="0" anchor="t"/>
          <a:lstStyle/>
          <a:p>
            <a:pPr indent="0" marL="0">
              <a:buNone/>
            </a:pPr>
            <a:r>
              <a:rPr lang="en-US" sz="1300" dirty="0">
                <a:solidFill>
                  <a:srgbClr val="5B6770"/>
                </a:solidFill>
                <a:latin typeface="Calibri" pitchFamily="34" charset="0"/>
                <a:ea typeface="Calibri" pitchFamily="34" charset="-122"/>
                <a:cs typeface="Calibri" pitchFamily="34" charset="-120"/>
              </a:rPr>
              <a:t>Every call gets tagged with a short reason by our system. We pulled every tag that mentioned "glitch" or "system," counted how often each exact wording showed up, and looked at which dates those calls happened on.</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242816" cy="329184"/>
          </a:xfrm>
          <a:prstGeom prst="roundRect">
            <a:avLst>
              <a:gd name="adj" fmla="val 50000"/>
            </a:avLst>
          </a:prstGeom>
          <a:solidFill>
            <a:srgbClr val="00BB86"/>
          </a:solidFill>
          <a:ln/>
        </p:spPr>
      </p:sp>
      <p:sp>
        <p:nvSpPr>
          <p:cNvPr id="3" name="Text 1"/>
          <p:cNvSpPr/>
          <p:nvPr/>
        </p:nvSpPr>
        <p:spPr>
          <a:xfrm>
            <a:off x="457200" y="365760"/>
            <a:ext cx="4242816"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QUESTION 1: DAY OF WEEK</a:t>
            </a:r>
            <a:endParaRPr lang="en-US" sz="1100" dirty="0"/>
          </a:p>
        </p:txBody>
      </p:sp>
      <p:sp>
        <p:nvSpPr>
          <p:cNvPr id="4" name="Text 2"/>
          <p:cNvSpPr/>
          <p:nvPr/>
        </p:nvSpPr>
        <p:spPr>
          <a:xfrm>
            <a:off x="457200" y="822960"/>
            <a:ext cx="11247120" cy="548640"/>
          </a:xfrm>
          <a:prstGeom prst="rect">
            <a:avLst/>
          </a:prstGeom>
          <a:noFill/>
          <a:ln/>
        </p:spPr>
        <p:txBody>
          <a:bodyPr wrap="square"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Monday isn't the standout - Sunday is (in the other direction)</a:t>
            </a:r>
            <a:endParaRPr lang="en-US" sz="2600" dirty="0"/>
          </a:p>
        </p:txBody>
      </p:sp>
      <p:graphicFrame>
        <p:nvGraphicFramePr>
          <p:cNvPr id="5" name="Chart 0" descr=""/>
          <p:cNvGraphicFramePr/>
          <p:nvPr/>
        </p:nvGraphicFramePr>
        <p:xfrm>
          <a:off x="548640" y="1737360"/>
          <a:ext cx="603504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858000" y="1737360"/>
            <a:ext cx="4846320" cy="4206240"/>
          </a:xfrm>
          <a:prstGeom prst="roundRect">
            <a:avLst>
              <a:gd name="adj" fmla="val 1739"/>
            </a:avLst>
          </a:prstGeom>
          <a:solidFill>
            <a:srgbClr val="F5F8FB"/>
          </a:solidFill>
          <a:ln/>
        </p:spPr>
      </p:sp>
      <p:sp>
        <p:nvSpPr>
          <p:cNvPr id="7" name="Text 4"/>
          <p:cNvSpPr/>
          <p:nvPr/>
        </p:nvSpPr>
        <p:spPr>
          <a:xfrm>
            <a:off x="7132320" y="1920240"/>
            <a:ext cx="429768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What this means</a:t>
            </a:r>
            <a:endParaRPr lang="en-US" sz="1500" dirty="0"/>
          </a:p>
        </p:txBody>
      </p:sp>
      <p:sp>
        <p:nvSpPr>
          <p:cNvPr id="8" name="Text 5"/>
          <p:cNvSpPr/>
          <p:nvPr/>
        </p:nvSpPr>
        <p:spPr>
          <a:xfrm>
            <a:off x="7132320" y="2423160"/>
            <a:ext cx="4297680" cy="3383280"/>
          </a:xfrm>
          <a:prstGeom prst="rect">
            <a:avLst/>
          </a:prstGeom>
          <a:noFill/>
          <a:ln/>
        </p:spPr>
        <p:txBody>
          <a:bodyPr wrap="square" rtlCol="0" anchor="t"/>
          <a:lstStyle/>
          <a:p>
            <a:pPr marL="342900" indent="-342900">
              <a:spcAft>
                <a:spcPts val="1200"/>
              </a:spcAft>
              <a:buSzPct val="100000"/>
              <a:buChar char="•"/>
            </a:pPr>
            <a:r>
              <a:rPr lang="en-US" sz="1250" dirty="0">
                <a:solidFill>
                  <a:srgbClr val="3C4650"/>
                </a:solidFill>
                <a:latin typeface="Calibri" pitchFamily="34" charset="0"/>
                <a:ea typeface="Calibri" pitchFamily="34" charset="-122"/>
                <a:cs typeface="Calibri" pitchFamily="34" charset="-120"/>
              </a:rPr>
              <a:t>The bottom of the chart shows the day of the week. The side shows what percent of callers that day called back more than once.</a:t>
            </a:r>
            <a:endParaRPr lang="en-US" sz="1250" dirty="0"/>
          </a:p>
          <a:p>
            <a:pPr marL="342900" indent="-342900">
              <a:spcAft>
                <a:spcPts val="1200"/>
              </a:spcAft>
              <a:buSzPct val="100000"/>
              <a:buChar char="•"/>
            </a:pPr>
            <a:r>
              <a:rPr lang="en-US" sz="1250" dirty="0">
                <a:solidFill>
                  <a:srgbClr val="3C4650"/>
                </a:solidFill>
                <a:latin typeface="Calibri" pitchFamily="34" charset="0"/>
                <a:ea typeface="Calibri" pitchFamily="34" charset="-122"/>
                <a:cs typeface="Calibri" pitchFamily="34" charset="-120"/>
              </a:rPr>
              <a:t>Monday through Saturday are all fairly close together, in the low-to-mid 20s</a:t>
            </a:r>
            <a:endParaRPr lang="en-US" sz="1250" dirty="0"/>
          </a:p>
          <a:p>
            <a:pPr marL="342900" indent="-342900">
              <a:spcAft>
                <a:spcPts val="1200"/>
              </a:spcAft>
              <a:buSzPct val="100000"/>
              <a:buChar char="•"/>
            </a:pPr>
            <a:r>
              <a:rPr lang="en-US" sz="1250" dirty="0">
                <a:solidFill>
                  <a:srgbClr val="3C4650"/>
                </a:solidFill>
                <a:latin typeface="Calibri" pitchFamily="34" charset="0"/>
                <a:ea typeface="Calibri" pitchFamily="34" charset="-122"/>
                <a:cs typeface="Calibri" pitchFamily="34" charset="-120"/>
              </a:rPr>
              <a:t>Tuesday is technically the highest (24.6%), barely above Monday (24.1%) - not a meaningful gap</a:t>
            </a:r>
            <a:endParaRPr lang="en-US" sz="1250" dirty="0"/>
          </a:p>
          <a:p>
            <a:pPr marL="342900" indent="-342900">
              <a:spcAft>
                <a:spcPts val="1200"/>
              </a:spcAft>
              <a:buSzPct val="100000"/>
              <a:buChar char="•"/>
            </a:pPr>
            <a:r>
              <a:rPr lang="en-US" sz="1250" dirty="0">
                <a:solidFill>
                  <a:srgbClr val="3C4650"/>
                </a:solidFill>
                <a:latin typeface="Calibri" pitchFamily="34" charset="0"/>
                <a:ea typeface="Calibri" pitchFamily="34" charset="-122"/>
                <a:cs typeface="Calibri" pitchFamily="34" charset="-120"/>
              </a:rPr>
              <a:t>Sunday stands out as clearly lower (18.2%) - makes sense with lower weekend call volume overall</a:t>
            </a:r>
            <a:endParaRPr lang="en-US" sz="1250" dirty="0"/>
          </a:p>
          <a:p>
            <a:pPr marL="342900" indent="-342900">
              <a:spcAft>
                <a:spcPts val="1200"/>
              </a:spcAft>
              <a:buSzPct val="100000"/>
              <a:buChar char="•"/>
            </a:pPr>
            <a:r>
              <a:rPr lang="en-US" sz="1250" dirty="0">
                <a:solidFill>
                  <a:srgbClr val="3C4650"/>
                </a:solidFill>
                <a:latin typeface="Calibri" pitchFamily="34" charset="0"/>
                <a:ea typeface="Calibri" pitchFamily="34" charset="-122"/>
                <a:cs typeface="Calibri" pitchFamily="34" charset="-120"/>
              </a:rPr>
              <a:t>Bottom line: there's no strong single-day driver of repeat calling during the work week</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4572000" cy="329184"/>
          </a:xfrm>
          <a:prstGeom prst="roundRect">
            <a:avLst>
              <a:gd name="adj" fmla="val 50000"/>
            </a:avLst>
          </a:prstGeom>
          <a:solidFill>
            <a:srgbClr val="F4A600"/>
          </a:solidFill>
          <a:ln/>
        </p:spPr>
      </p:sp>
      <p:sp>
        <p:nvSpPr>
          <p:cNvPr id="3" name="Text 1"/>
          <p:cNvSpPr/>
          <p:nvPr/>
        </p:nvSpPr>
        <p:spPr>
          <a:xfrm>
            <a:off x="457200" y="365760"/>
            <a:ext cx="4572000"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QUESTION 2: SYSTEM GLITCH</a:t>
            </a:r>
            <a:endParaRPr lang="en-US" sz="1100" dirty="0"/>
          </a:p>
        </p:txBody>
      </p:sp>
      <p:sp>
        <p:nvSpPr>
          <p:cNvPr id="4" name="Text 2"/>
          <p:cNvSpPr/>
          <p:nvPr/>
        </p:nvSpPr>
        <p:spPr>
          <a:xfrm>
            <a:off x="457200" y="822960"/>
            <a:ext cx="11247120" cy="548640"/>
          </a:xfrm>
          <a:prstGeom prst="rect">
            <a:avLst/>
          </a:prstGeom>
          <a:noFill/>
          <a:ln/>
        </p:spPr>
        <p:txBody>
          <a:bodyPr wrap="square"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It's not really a "glitch" problem - it's 3 bad days for payments</a:t>
            </a:r>
            <a:endParaRPr lang="en-US" sz="2600" dirty="0"/>
          </a:p>
        </p:txBody>
      </p:sp>
      <p:graphicFrame>
        <p:nvGraphicFramePr>
          <p:cNvPr id="5" name="Chart 0" descr=""/>
          <p:cNvGraphicFramePr/>
          <p:nvPr/>
        </p:nvGraphicFramePr>
        <p:xfrm>
          <a:off x="548640" y="1737360"/>
          <a:ext cx="5212080" cy="42062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080760" y="1737360"/>
            <a:ext cx="5577840" cy="4206240"/>
          </a:xfrm>
          <a:prstGeom prst="roundRect">
            <a:avLst>
              <a:gd name="adj" fmla="val 1739"/>
            </a:avLst>
          </a:prstGeom>
          <a:solidFill>
            <a:srgbClr val="F5F8FB"/>
          </a:solidFill>
          <a:ln/>
        </p:spPr>
      </p:sp>
      <p:sp>
        <p:nvSpPr>
          <p:cNvPr id="7" name="Text 4"/>
          <p:cNvSpPr/>
          <p:nvPr/>
        </p:nvSpPr>
        <p:spPr>
          <a:xfrm>
            <a:off x="6355080" y="1920240"/>
            <a:ext cx="5029200" cy="365760"/>
          </a:xfrm>
          <a:prstGeom prst="rect">
            <a:avLst/>
          </a:prstGeom>
          <a:noFill/>
          <a:ln/>
        </p:spPr>
        <p:txBody>
          <a:bodyPr wrap="square" rtlCol="0" anchor="ctr"/>
          <a:lstStyle/>
          <a:p>
            <a:pPr indent="0" marL="0">
              <a:buNone/>
            </a:pPr>
            <a:r>
              <a:rPr lang="en-US" sz="1500" b="1" dirty="0">
                <a:solidFill>
                  <a:srgbClr val="004061"/>
                </a:solidFill>
                <a:latin typeface="Calibri" pitchFamily="34" charset="0"/>
                <a:ea typeface="Calibri" pitchFamily="34" charset="-122"/>
                <a:cs typeface="Calibri" pitchFamily="34" charset="-120"/>
              </a:rPr>
              <a:t>What this chart shows</a:t>
            </a:r>
            <a:endParaRPr lang="en-US" sz="1500" dirty="0"/>
          </a:p>
        </p:txBody>
      </p:sp>
      <p:sp>
        <p:nvSpPr>
          <p:cNvPr id="8" name="Text 5"/>
          <p:cNvSpPr/>
          <p:nvPr/>
        </p:nvSpPr>
        <p:spPr>
          <a:xfrm>
            <a:off x="6355080" y="2377440"/>
            <a:ext cx="5029200" cy="3383280"/>
          </a:xfrm>
          <a:prstGeom prst="rect">
            <a:avLst/>
          </a:prstGeom>
          <a:noFill/>
          <a:ln/>
        </p:spPr>
        <p:txBody>
          <a:bodyPr wrap="square" rtlCol="0" anchor="t"/>
          <a:lstStyle/>
          <a:p>
            <a:pPr marL="342900" indent="-342900">
              <a:spcAft>
                <a:spcPts val="1000"/>
              </a:spcAft>
              <a:buSzPct val="100000"/>
              <a:buChar char="•"/>
            </a:pPr>
            <a:r>
              <a:rPr lang="en-US" sz="1200" dirty="0">
                <a:solidFill>
                  <a:srgbClr val="3C4650"/>
                </a:solidFill>
                <a:latin typeface="Calibri" pitchFamily="34" charset="0"/>
                <a:ea typeface="Calibri" pitchFamily="34" charset="-122"/>
                <a:cs typeface="Calibri" pitchFamily="34" charset="-120"/>
              </a:rPr>
              <a:t>The bottom of the chart shows the date. The side shows how many calls came in that day.</a:t>
            </a:r>
            <a:endParaRPr lang="en-US" sz="1200" dirty="0"/>
          </a:p>
          <a:p>
            <a:pPr marL="342900" indent="-342900">
              <a:spcAft>
                <a:spcPts val="1000"/>
              </a:spcAft>
              <a:buSzPct val="100000"/>
              <a:buChar char="•"/>
            </a:pPr>
            <a:r>
              <a:rPr lang="en-US" sz="1200" dirty="0">
                <a:solidFill>
                  <a:srgbClr val="3C4650"/>
                </a:solidFill>
                <a:latin typeface="Calibri" pitchFamily="34" charset="0"/>
                <a:ea typeface="Calibri" pitchFamily="34" charset="-122"/>
                <a:cs typeface="Calibri" pitchFamily="34" charset="-120"/>
              </a:rPr>
              <a:t>A normal day for payment-system calls is small - usually under 30. These 3 days are far above that.</a:t>
            </a:r>
            <a:endParaRPr lang="en-US" sz="1200" dirty="0"/>
          </a:p>
          <a:p>
            <a:pPr marL="342900" indent="-342900">
              <a:spcAft>
                <a:spcPts val="1000"/>
              </a:spcAft>
              <a:buSzPct val="100000"/>
              <a:buChar char="•"/>
            </a:pPr>
            <a:r>
              <a:rPr lang="en-US" sz="1200" dirty="0">
                <a:solidFill>
                  <a:srgbClr val="3C4650"/>
                </a:solidFill>
                <a:latin typeface="Calibri" pitchFamily="34" charset="0"/>
                <a:ea typeface="Calibri" pitchFamily="34" charset="-122"/>
                <a:cs typeface="Calibri" pitchFamily="34" charset="-120"/>
              </a:rPr>
              <a:t>"System glitch" complaints are almost entirely about the payment system specifically - not IVR, not billing, not enrollment</a:t>
            </a:r>
            <a:endParaRPr lang="en-US" sz="1200" dirty="0"/>
          </a:p>
          <a:p>
            <a:pPr marL="342900" indent="-342900">
              <a:spcAft>
                <a:spcPts val="1000"/>
              </a:spcAft>
              <a:buSzPct val="100000"/>
              <a:buChar char="•"/>
            </a:pPr>
            <a:r>
              <a:rPr lang="en-US" sz="1200" dirty="0">
                <a:solidFill>
                  <a:srgbClr val="3C4650"/>
                </a:solidFill>
                <a:latin typeface="Calibri" pitchFamily="34" charset="0"/>
                <a:ea typeface="Calibri" pitchFamily="34" charset="-122"/>
                <a:cs typeface="Calibri" pitchFamily="34" charset="-120"/>
              </a:rPr>
              <a:t>August 12th is the worst by far - about 5 to 6 times a normal day</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2267712" cy="329184"/>
          </a:xfrm>
          <a:prstGeom prst="roundRect">
            <a:avLst>
              <a:gd name="adj" fmla="val 50000"/>
            </a:avLst>
          </a:prstGeom>
          <a:solidFill>
            <a:srgbClr val="005CB9"/>
          </a:solidFill>
          <a:ln/>
        </p:spPr>
      </p:sp>
      <p:sp>
        <p:nvSpPr>
          <p:cNvPr id="3" name="Text 1"/>
          <p:cNvSpPr/>
          <p:nvPr/>
        </p:nvSpPr>
        <p:spPr>
          <a:xfrm>
            <a:off x="457200" y="365760"/>
            <a:ext cx="2267712"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KEY NUMBERS</a:t>
            </a:r>
            <a:endParaRPr lang="en-US" sz="1100" dirty="0"/>
          </a:p>
        </p:txBody>
      </p:sp>
      <p:sp>
        <p:nvSpPr>
          <p:cNvPr id="4" name="Text 2"/>
          <p:cNvSpPr/>
          <p:nvPr/>
        </p:nvSpPr>
        <p:spPr>
          <a:xfrm>
            <a:off x="457200" y="822960"/>
            <a:ext cx="11247120" cy="548640"/>
          </a:xfrm>
          <a:prstGeom prst="rect">
            <a:avLst/>
          </a:prstGeom>
          <a:noFill/>
          <a:ln/>
        </p:spPr>
        <p:txBody>
          <a:bodyPr wrap="square"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This week's findings at a glance</a:t>
            </a:r>
            <a:endParaRPr lang="en-US" sz="2600" dirty="0"/>
          </a:p>
        </p:txBody>
      </p:sp>
      <p:sp>
        <p:nvSpPr>
          <p:cNvPr id="5" name="Shape 3"/>
          <p:cNvSpPr/>
          <p:nvPr/>
        </p:nvSpPr>
        <p:spPr>
          <a:xfrm>
            <a:off x="548640" y="1828800"/>
            <a:ext cx="5486400" cy="1828800"/>
          </a:xfrm>
          <a:prstGeom prst="roundRect">
            <a:avLst>
              <a:gd name="adj" fmla="val 3000"/>
            </a:avLst>
          </a:prstGeom>
          <a:solidFill>
            <a:srgbClr val="F5F8FB"/>
          </a:solidFill>
          <a:ln/>
        </p:spPr>
      </p:sp>
      <p:sp>
        <p:nvSpPr>
          <p:cNvPr id="6" name="Text 4"/>
          <p:cNvSpPr/>
          <p:nvPr/>
        </p:nvSpPr>
        <p:spPr>
          <a:xfrm>
            <a:off x="822960" y="2011680"/>
            <a:ext cx="4937760" cy="457200"/>
          </a:xfrm>
          <a:prstGeom prst="rect">
            <a:avLst/>
          </a:prstGeom>
          <a:noFill/>
          <a:ln/>
        </p:spPr>
        <p:txBody>
          <a:bodyPr wrap="square" rtlCol="0" anchor="ctr"/>
          <a:lstStyle/>
          <a:p>
            <a:pPr indent="0" marL="0">
              <a:buNone/>
            </a:pPr>
            <a:r>
              <a:rPr lang="en-US" sz="1800" b="1" dirty="0">
                <a:solidFill>
                  <a:srgbClr val="004061"/>
                </a:solidFill>
                <a:latin typeface="Calibri" pitchFamily="34" charset="0"/>
                <a:ea typeface="Calibri" pitchFamily="34" charset="-122"/>
                <a:cs typeface="Calibri" pitchFamily="34" charset="-120"/>
              </a:rPr>
              <a:t>24.6% vs. 24.1%</a:t>
            </a:r>
            <a:endParaRPr lang="en-US" sz="1800" dirty="0"/>
          </a:p>
        </p:txBody>
      </p:sp>
      <p:sp>
        <p:nvSpPr>
          <p:cNvPr id="7" name="Text 5"/>
          <p:cNvSpPr/>
          <p:nvPr/>
        </p:nvSpPr>
        <p:spPr>
          <a:xfrm>
            <a:off x="822960" y="2514600"/>
            <a:ext cx="4937760" cy="1005840"/>
          </a:xfrm>
          <a:prstGeom prst="rect">
            <a:avLst/>
          </a:prstGeom>
          <a:noFill/>
          <a:ln/>
        </p:spPr>
        <p:txBody>
          <a:bodyPr wrap="square" rtlCol="0" anchor="t"/>
          <a:lstStyle/>
          <a:p>
            <a:pPr indent="0" marL="0">
              <a:buNone/>
            </a:pPr>
            <a:r>
              <a:rPr lang="en-US" sz="1250" dirty="0">
                <a:solidFill>
                  <a:srgbClr val="5B6770"/>
                </a:solidFill>
                <a:latin typeface="Calibri" pitchFamily="34" charset="0"/>
                <a:ea typeface="Calibri" pitchFamily="34" charset="-122"/>
                <a:cs typeface="Calibri" pitchFamily="34" charset="-120"/>
              </a:rPr>
              <a:t>Tuesday's repeat-call rate barely edges out Monday's - not a meaningful weekday driver.</a:t>
            </a:r>
            <a:endParaRPr lang="en-US" sz="1250" dirty="0"/>
          </a:p>
        </p:txBody>
      </p:sp>
      <p:sp>
        <p:nvSpPr>
          <p:cNvPr id="8" name="Shape 6"/>
          <p:cNvSpPr/>
          <p:nvPr/>
        </p:nvSpPr>
        <p:spPr>
          <a:xfrm>
            <a:off x="6492240" y="1828800"/>
            <a:ext cx="5486400" cy="1828800"/>
          </a:xfrm>
          <a:prstGeom prst="roundRect">
            <a:avLst>
              <a:gd name="adj" fmla="val 3000"/>
            </a:avLst>
          </a:prstGeom>
          <a:solidFill>
            <a:srgbClr val="F5F8FB"/>
          </a:solidFill>
          <a:ln/>
        </p:spPr>
      </p:sp>
      <p:sp>
        <p:nvSpPr>
          <p:cNvPr id="9" name="Text 7"/>
          <p:cNvSpPr/>
          <p:nvPr/>
        </p:nvSpPr>
        <p:spPr>
          <a:xfrm>
            <a:off x="6766560" y="2011680"/>
            <a:ext cx="4937760" cy="457200"/>
          </a:xfrm>
          <a:prstGeom prst="rect">
            <a:avLst/>
          </a:prstGeom>
          <a:noFill/>
          <a:ln/>
        </p:spPr>
        <p:txBody>
          <a:bodyPr wrap="square" rtlCol="0" anchor="ctr"/>
          <a:lstStyle/>
          <a:p>
            <a:pPr indent="0" marL="0">
              <a:buNone/>
            </a:pPr>
            <a:r>
              <a:rPr lang="en-US" sz="1800" b="1" dirty="0">
                <a:solidFill>
                  <a:srgbClr val="004061"/>
                </a:solidFill>
                <a:latin typeface="Calibri" pitchFamily="34" charset="0"/>
                <a:ea typeface="Calibri" pitchFamily="34" charset="-122"/>
                <a:cs typeface="Calibri" pitchFamily="34" charset="-120"/>
              </a:rPr>
              <a:t>1,940 calls</a:t>
            </a:r>
            <a:endParaRPr lang="en-US" sz="1800" dirty="0"/>
          </a:p>
        </p:txBody>
      </p:sp>
      <p:sp>
        <p:nvSpPr>
          <p:cNvPr id="10" name="Text 8"/>
          <p:cNvSpPr/>
          <p:nvPr/>
        </p:nvSpPr>
        <p:spPr>
          <a:xfrm>
            <a:off x="6766560" y="2514600"/>
            <a:ext cx="4937760" cy="1005840"/>
          </a:xfrm>
          <a:prstGeom prst="rect">
            <a:avLst/>
          </a:prstGeom>
          <a:noFill/>
          <a:ln/>
        </p:spPr>
        <p:txBody>
          <a:bodyPr wrap="square" rtlCol="0" anchor="t"/>
          <a:lstStyle/>
          <a:p>
            <a:pPr indent="0" marL="0">
              <a:buNone/>
            </a:pPr>
            <a:r>
              <a:rPr lang="en-US" sz="1250" dirty="0">
                <a:solidFill>
                  <a:srgbClr val="5B6770"/>
                </a:solidFill>
                <a:latin typeface="Calibri" pitchFamily="34" charset="0"/>
                <a:ea typeface="Calibri" pitchFamily="34" charset="-122"/>
                <a:cs typeface="Calibri" pitchFamily="34" charset="-120"/>
              </a:rPr>
              <a:t>Total "Payment system issue" calls tagged over the ~4 month window (Apr 9 - Aug 15).</a:t>
            </a:r>
            <a:endParaRPr lang="en-US" sz="1250" dirty="0"/>
          </a:p>
        </p:txBody>
      </p:sp>
      <p:sp>
        <p:nvSpPr>
          <p:cNvPr id="11" name="Shape 9"/>
          <p:cNvSpPr/>
          <p:nvPr/>
        </p:nvSpPr>
        <p:spPr>
          <a:xfrm>
            <a:off x="548640" y="3931920"/>
            <a:ext cx="5486400" cy="1828800"/>
          </a:xfrm>
          <a:prstGeom prst="roundRect">
            <a:avLst>
              <a:gd name="adj" fmla="val 3000"/>
            </a:avLst>
          </a:prstGeom>
          <a:solidFill>
            <a:srgbClr val="F5F8FB"/>
          </a:solidFill>
          <a:ln/>
        </p:spPr>
      </p:sp>
      <p:sp>
        <p:nvSpPr>
          <p:cNvPr id="12" name="Text 10"/>
          <p:cNvSpPr/>
          <p:nvPr/>
        </p:nvSpPr>
        <p:spPr>
          <a:xfrm>
            <a:off x="822960" y="4114800"/>
            <a:ext cx="4937760" cy="457200"/>
          </a:xfrm>
          <a:prstGeom prst="rect">
            <a:avLst/>
          </a:prstGeom>
          <a:noFill/>
          <a:ln/>
        </p:spPr>
        <p:txBody>
          <a:bodyPr wrap="square" rtlCol="0" anchor="ctr"/>
          <a:lstStyle/>
          <a:p>
            <a:pPr indent="0" marL="0">
              <a:buNone/>
            </a:pPr>
            <a:r>
              <a:rPr lang="en-US" sz="1800" b="1" dirty="0">
                <a:solidFill>
                  <a:srgbClr val="004061"/>
                </a:solidFill>
                <a:latin typeface="Calibri" pitchFamily="34" charset="0"/>
                <a:ea typeface="Calibri" pitchFamily="34" charset="-122"/>
                <a:cs typeface="Calibri" pitchFamily="34" charset="-120"/>
              </a:rPr>
              <a:t>265 calls on 3 days (13.7%)</a:t>
            </a:r>
            <a:endParaRPr lang="en-US" sz="1800" dirty="0"/>
          </a:p>
        </p:txBody>
      </p:sp>
      <p:sp>
        <p:nvSpPr>
          <p:cNvPr id="13" name="Text 11"/>
          <p:cNvSpPr/>
          <p:nvPr/>
        </p:nvSpPr>
        <p:spPr>
          <a:xfrm>
            <a:off x="822960" y="4617720"/>
            <a:ext cx="4937760" cy="1005840"/>
          </a:xfrm>
          <a:prstGeom prst="rect">
            <a:avLst/>
          </a:prstGeom>
          <a:noFill/>
          <a:ln/>
        </p:spPr>
        <p:txBody>
          <a:bodyPr wrap="square" rtlCol="0" anchor="t"/>
          <a:lstStyle/>
          <a:p>
            <a:pPr indent="0" marL="0">
              <a:buNone/>
            </a:pPr>
            <a:r>
              <a:rPr lang="en-US" sz="1250" dirty="0">
                <a:solidFill>
                  <a:srgbClr val="5B6770"/>
                </a:solidFill>
                <a:latin typeface="Calibri" pitchFamily="34" charset="0"/>
                <a:ea typeface="Calibri" pitchFamily="34" charset="-122"/>
                <a:cs typeface="Calibri" pitchFamily="34" charset="-120"/>
              </a:rPr>
              <a:t>Nearly 1 in 7 of all payment-system calls happened on just 3 specific days.</a:t>
            </a:r>
            <a:endParaRPr lang="en-US" sz="1250" dirty="0"/>
          </a:p>
        </p:txBody>
      </p:sp>
      <p:sp>
        <p:nvSpPr>
          <p:cNvPr id="14" name="Shape 12"/>
          <p:cNvSpPr/>
          <p:nvPr/>
        </p:nvSpPr>
        <p:spPr>
          <a:xfrm>
            <a:off x="6492240" y="3931920"/>
            <a:ext cx="5486400" cy="1828800"/>
          </a:xfrm>
          <a:prstGeom prst="roundRect">
            <a:avLst>
              <a:gd name="adj" fmla="val 3000"/>
            </a:avLst>
          </a:prstGeom>
          <a:solidFill>
            <a:srgbClr val="F5F8FB"/>
          </a:solidFill>
          <a:ln/>
        </p:spPr>
      </p:sp>
      <p:sp>
        <p:nvSpPr>
          <p:cNvPr id="15" name="Text 13"/>
          <p:cNvSpPr/>
          <p:nvPr/>
        </p:nvSpPr>
        <p:spPr>
          <a:xfrm>
            <a:off x="6766560" y="4114800"/>
            <a:ext cx="4937760" cy="457200"/>
          </a:xfrm>
          <a:prstGeom prst="rect">
            <a:avLst/>
          </a:prstGeom>
          <a:noFill/>
          <a:ln/>
        </p:spPr>
        <p:txBody>
          <a:bodyPr wrap="square" rtlCol="0" anchor="ctr"/>
          <a:lstStyle/>
          <a:p>
            <a:pPr indent="0" marL="0">
              <a:buNone/>
            </a:pPr>
            <a:r>
              <a:rPr lang="en-US" sz="1800" b="1" dirty="0">
                <a:solidFill>
                  <a:srgbClr val="004061"/>
                </a:solidFill>
                <a:latin typeface="Calibri" pitchFamily="34" charset="0"/>
                <a:ea typeface="Calibri" pitchFamily="34" charset="-122"/>
                <a:cs typeface="Calibri" pitchFamily="34" charset="-120"/>
              </a:rPr>
              <a:t>119 calls on Aug 12 alone</a:t>
            </a:r>
            <a:endParaRPr lang="en-US" sz="1800" dirty="0"/>
          </a:p>
        </p:txBody>
      </p:sp>
      <p:sp>
        <p:nvSpPr>
          <p:cNvPr id="16" name="Text 14"/>
          <p:cNvSpPr/>
          <p:nvPr/>
        </p:nvSpPr>
        <p:spPr>
          <a:xfrm>
            <a:off x="6766560" y="4617720"/>
            <a:ext cx="4937760" cy="1005840"/>
          </a:xfrm>
          <a:prstGeom prst="rect">
            <a:avLst/>
          </a:prstGeom>
          <a:noFill/>
          <a:ln/>
        </p:spPr>
        <p:txBody>
          <a:bodyPr wrap="square" rtlCol="0" anchor="t"/>
          <a:lstStyle/>
          <a:p>
            <a:pPr indent="0" marL="0">
              <a:buNone/>
            </a:pPr>
            <a:r>
              <a:rPr lang="en-US" sz="1250" dirty="0">
                <a:solidFill>
                  <a:srgbClr val="5B6770"/>
                </a:solidFill>
                <a:latin typeface="Calibri" pitchFamily="34" charset="0"/>
                <a:ea typeface="Calibri" pitchFamily="34" charset="-122"/>
                <a:cs typeface="Calibri" pitchFamily="34" charset="-120"/>
              </a:rPr>
              <a:t>The single worst day - roughly 5-6x a typical day's volume.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65760"/>
            <a:ext cx="3255264" cy="329184"/>
          </a:xfrm>
          <a:prstGeom prst="roundRect">
            <a:avLst>
              <a:gd name="adj" fmla="val 50000"/>
            </a:avLst>
          </a:prstGeom>
          <a:solidFill>
            <a:srgbClr val="00B9B3"/>
          </a:solidFill>
          <a:ln/>
        </p:spPr>
      </p:sp>
      <p:sp>
        <p:nvSpPr>
          <p:cNvPr id="3" name="Text 1"/>
          <p:cNvSpPr/>
          <p:nvPr/>
        </p:nvSpPr>
        <p:spPr>
          <a:xfrm>
            <a:off x="457200" y="365760"/>
            <a:ext cx="325526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WHAT'S STILL OPEN</a:t>
            </a:r>
            <a:endParaRPr lang="en-US" sz="1100" dirty="0"/>
          </a:p>
        </p:txBody>
      </p:sp>
      <p:sp>
        <p:nvSpPr>
          <p:cNvPr id="4" name="Text 2"/>
          <p:cNvSpPr/>
          <p:nvPr/>
        </p:nvSpPr>
        <p:spPr>
          <a:xfrm>
            <a:off x="457200" y="822960"/>
            <a:ext cx="11247120" cy="548640"/>
          </a:xfrm>
          <a:prstGeom prst="rect">
            <a:avLst/>
          </a:prstGeom>
          <a:noFill/>
          <a:ln/>
        </p:spPr>
        <p:txBody>
          <a:bodyPr wrap="square" rtlCol="0" anchor="ctr"/>
          <a:lstStyle/>
          <a:p>
            <a:pPr indent="0" marL="0">
              <a:buNone/>
            </a:pPr>
            <a:r>
              <a:rPr lang="en-US" sz="2600" b="1" dirty="0">
                <a:solidFill>
                  <a:srgbClr val="004061"/>
                </a:solidFill>
                <a:latin typeface="Calibri" pitchFamily="34" charset="0"/>
                <a:ea typeface="Calibri" pitchFamily="34" charset="-122"/>
                <a:cs typeface="Calibri" pitchFamily="34" charset="-120"/>
              </a:rPr>
              <a:t>Both follow-up questions are answered - here's what's left</a:t>
            </a:r>
            <a:endParaRPr lang="en-US" sz="2600" dirty="0"/>
          </a:p>
        </p:txBody>
      </p:sp>
      <p:sp>
        <p:nvSpPr>
          <p:cNvPr id="5" name="Shape 3"/>
          <p:cNvSpPr/>
          <p:nvPr/>
        </p:nvSpPr>
        <p:spPr>
          <a:xfrm>
            <a:off x="548640" y="1828800"/>
            <a:ext cx="11064240" cy="1234440"/>
          </a:xfrm>
          <a:prstGeom prst="roundRect">
            <a:avLst>
              <a:gd name="adj" fmla="val 4444"/>
            </a:avLst>
          </a:prstGeom>
          <a:solidFill>
            <a:srgbClr val="F5F8FB"/>
          </a:solidFill>
          <a:ln/>
        </p:spPr>
      </p:sp>
      <p:sp>
        <p:nvSpPr>
          <p:cNvPr id="6" name="Text 4"/>
          <p:cNvSpPr/>
          <p:nvPr/>
        </p:nvSpPr>
        <p:spPr>
          <a:xfrm>
            <a:off x="822960" y="1938528"/>
            <a:ext cx="10515600" cy="365760"/>
          </a:xfrm>
          <a:prstGeom prst="rect">
            <a:avLst/>
          </a:prstGeom>
          <a:noFill/>
          <a:ln/>
        </p:spPr>
        <p:txBody>
          <a:bodyPr wrap="square"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Why did August 12th spike so hard?</a:t>
            </a:r>
            <a:endParaRPr lang="en-US" sz="1400" dirty="0"/>
          </a:p>
        </p:txBody>
      </p:sp>
      <p:sp>
        <p:nvSpPr>
          <p:cNvPr id="7" name="Text 5"/>
          <p:cNvSpPr/>
          <p:nvPr/>
        </p:nvSpPr>
        <p:spPr>
          <a:xfrm>
            <a:off x="822960" y="2331720"/>
            <a:ext cx="10515600" cy="640080"/>
          </a:xfrm>
          <a:prstGeom prst="rect">
            <a:avLst/>
          </a:prstGeom>
          <a:noFill/>
          <a:ln/>
        </p:spPr>
        <p:txBody>
          <a:bodyPr wrap="square" rtlCol="0" anchor="t"/>
          <a:lstStyle/>
          <a:p>
            <a:pPr indent="0" marL="0">
              <a:buNone/>
            </a:pPr>
            <a:r>
              <a:rPr lang="en-US" sz="1200" dirty="0">
                <a:solidFill>
                  <a:srgbClr val="5B6770"/>
                </a:solidFill>
                <a:latin typeface="Calibri" pitchFamily="34" charset="0"/>
                <a:ea typeface="Calibri" pitchFamily="34" charset="-122"/>
                <a:cs typeface="Calibri" pitchFamily="34" charset="-120"/>
              </a:rPr>
              <a:t>We found the date and the size of the spike, but not the root cause. That would need checking with IT for an outage log, or pulling actual transcripts from that day.</a:t>
            </a:r>
            <a:endParaRPr lang="en-US" sz="1200" dirty="0"/>
          </a:p>
        </p:txBody>
      </p:sp>
      <p:sp>
        <p:nvSpPr>
          <p:cNvPr id="8" name="Shape 6"/>
          <p:cNvSpPr/>
          <p:nvPr/>
        </p:nvSpPr>
        <p:spPr>
          <a:xfrm>
            <a:off x="548640" y="3246120"/>
            <a:ext cx="11064240" cy="1234440"/>
          </a:xfrm>
          <a:prstGeom prst="roundRect">
            <a:avLst>
              <a:gd name="adj" fmla="val 4444"/>
            </a:avLst>
          </a:prstGeom>
          <a:solidFill>
            <a:srgbClr val="F5F8FB"/>
          </a:solidFill>
          <a:ln/>
        </p:spPr>
      </p:sp>
      <p:sp>
        <p:nvSpPr>
          <p:cNvPr id="9" name="Text 7"/>
          <p:cNvSpPr/>
          <p:nvPr/>
        </p:nvSpPr>
        <p:spPr>
          <a:xfrm>
            <a:off x="822960" y="3355848"/>
            <a:ext cx="10515600" cy="365760"/>
          </a:xfrm>
          <a:prstGeom prst="rect">
            <a:avLst/>
          </a:prstGeom>
          <a:noFill/>
          <a:ln/>
        </p:spPr>
        <p:txBody>
          <a:bodyPr wrap="square"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Is the payment-system issue tied to one payment method or channel?</a:t>
            </a:r>
            <a:endParaRPr lang="en-US" sz="1400" dirty="0"/>
          </a:p>
        </p:txBody>
      </p:sp>
      <p:sp>
        <p:nvSpPr>
          <p:cNvPr id="10" name="Text 8"/>
          <p:cNvSpPr/>
          <p:nvPr/>
        </p:nvSpPr>
        <p:spPr>
          <a:xfrm>
            <a:off x="822960" y="3749040"/>
            <a:ext cx="10515600" cy="640080"/>
          </a:xfrm>
          <a:prstGeom prst="rect">
            <a:avLst/>
          </a:prstGeom>
          <a:noFill/>
          <a:ln/>
        </p:spPr>
        <p:txBody>
          <a:bodyPr wrap="square" rtlCol="0" anchor="t"/>
          <a:lstStyle/>
          <a:p>
            <a:pPr indent="0" marL="0">
              <a:buNone/>
            </a:pPr>
            <a:r>
              <a:rPr lang="en-US" sz="1200" dirty="0">
                <a:solidFill>
                  <a:srgbClr val="5B6770"/>
                </a:solidFill>
                <a:latin typeface="Calibri" pitchFamily="34" charset="0"/>
                <a:ea typeface="Calibri" pitchFamily="34" charset="-122"/>
                <a:cs typeface="Calibri" pitchFamily="34" charset="-120"/>
              </a:rPr>
              <a:t>Not yet checked - could be worth breaking down by card vs. bank draft, or by brand, if this becomes a bigger priority.</a:t>
            </a:r>
            <a:endParaRPr lang="en-US" sz="1200" dirty="0"/>
          </a:p>
        </p:txBody>
      </p:sp>
      <p:sp>
        <p:nvSpPr>
          <p:cNvPr id="11" name="Shape 9"/>
          <p:cNvSpPr/>
          <p:nvPr/>
        </p:nvSpPr>
        <p:spPr>
          <a:xfrm>
            <a:off x="548640" y="4663440"/>
            <a:ext cx="11064240" cy="1234440"/>
          </a:xfrm>
          <a:prstGeom prst="roundRect">
            <a:avLst>
              <a:gd name="adj" fmla="val 4444"/>
            </a:avLst>
          </a:prstGeom>
          <a:solidFill>
            <a:srgbClr val="F5F8FB"/>
          </a:solidFill>
          <a:ln/>
        </p:spPr>
      </p:sp>
      <p:sp>
        <p:nvSpPr>
          <p:cNvPr id="12" name="Text 10"/>
          <p:cNvSpPr/>
          <p:nvPr/>
        </p:nvSpPr>
        <p:spPr>
          <a:xfrm>
            <a:off x="822960" y="4773168"/>
            <a:ext cx="10515600" cy="365760"/>
          </a:xfrm>
          <a:prstGeom prst="rect">
            <a:avLst/>
          </a:prstGeom>
          <a:noFill/>
          <a:ln/>
        </p:spPr>
        <p:txBody>
          <a:bodyPr wrap="square" rtlCol="0" anchor="ctr"/>
          <a:lstStyle/>
          <a:p>
            <a:pPr indent="0" marL="0">
              <a:buNone/>
            </a:pPr>
            <a:r>
              <a:rPr lang="en-US" sz="1400" b="1" dirty="0">
                <a:solidFill>
                  <a:srgbClr val="004061"/>
                </a:solidFill>
                <a:latin typeface="Calibri" pitchFamily="34" charset="0"/>
                <a:ea typeface="Calibri" pitchFamily="34" charset="-122"/>
                <a:cs typeface="Calibri" pitchFamily="34" charset="-120"/>
              </a:rPr>
              <a:t>The rest of the original repeat-caller analysis is fully closed</a:t>
            </a:r>
            <a:endParaRPr lang="en-US" sz="1400" dirty="0"/>
          </a:p>
        </p:txBody>
      </p:sp>
      <p:sp>
        <p:nvSpPr>
          <p:cNvPr id="13" name="Text 11"/>
          <p:cNvSpPr/>
          <p:nvPr/>
        </p:nvSpPr>
        <p:spPr>
          <a:xfrm>
            <a:off x="822960" y="5166360"/>
            <a:ext cx="10515600" cy="640080"/>
          </a:xfrm>
          <a:prstGeom prst="rect">
            <a:avLst/>
          </a:prstGeom>
          <a:noFill/>
          <a:ln/>
        </p:spPr>
        <p:txBody>
          <a:bodyPr wrap="square" rtlCol="0" anchor="t"/>
          <a:lstStyle/>
          <a:p>
            <a:pPr indent="0" marL="0">
              <a:buNone/>
            </a:pPr>
            <a:r>
              <a:rPr lang="en-US" sz="1200" dirty="0">
                <a:solidFill>
                  <a:srgbClr val="5B6770"/>
                </a:solidFill>
                <a:latin typeface="Calibri" pitchFamily="34" charset="0"/>
                <a:ea typeface="Calibri" pitchFamily="34" charset="-122"/>
                <a:cs typeface="Calibri" pitchFamily="34" charset="-120"/>
              </a:rPr>
              <a:t>Everything else from the August 10th presentation - the 28.27% definition, the 80.8% IVR-loop finding, the top drivers - has no other open items.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4061"/>
        </a:solidFill>
      </p:bgPr>
    </p:bg>
    <p:spTree>
      <p:nvGrpSpPr>
        <p:cNvPr id="1" name=""/>
        <p:cNvGrpSpPr/>
        <p:nvPr/>
      </p:nvGrpSpPr>
      <p:grpSpPr>
        <a:xfrm>
          <a:off x="0" y="0"/>
          <a:ext cx="0" cy="0"/>
          <a:chOff x="0" y="0"/>
          <a:chExt cx="0" cy="0"/>
        </a:xfrm>
      </p:grpSpPr>
      <p:sp>
        <p:nvSpPr>
          <p:cNvPr id="2" name="Text 0"/>
          <p:cNvSpPr/>
          <p:nvPr/>
        </p:nvSpPr>
        <p:spPr>
          <a:xfrm>
            <a:off x="731520" y="640080"/>
            <a:ext cx="9144000" cy="548640"/>
          </a:xfrm>
          <a:prstGeom prst="rect">
            <a:avLst/>
          </a:prstGeom>
          <a:noFill/>
          <a:ln/>
        </p:spPr>
        <p:txBody>
          <a:bodyPr wrap="square"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NEXT STEPS</a:t>
            </a:r>
            <a:endParaRPr lang="en-US" sz="2600" dirty="0"/>
          </a:p>
        </p:txBody>
      </p:sp>
      <p:sp>
        <p:nvSpPr>
          <p:cNvPr id="3" name="Shape 1"/>
          <p:cNvSpPr/>
          <p:nvPr/>
        </p:nvSpPr>
        <p:spPr>
          <a:xfrm>
            <a:off x="822960" y="2011680"/>
            <a:ext cx="411480" cy="411480"/>
          </a:xfrm>
          <a:prstGeom prst="ellipse">
            <a:avLst/>
          </a:prstGeom>
          <a:solidFill>
            <a:srgbClr val="00BB86"/>
          </a:solidFill>
          <a:ln/>
        </p:spPr>
      </p:sp>
      <p:sp>
        <p:nvSpPr>
          <p:cNvPr id="4" name="Text 2"/>
          <p:cNvSpPr/>
          <p:nvPr/>
        </p:nvSpPr>
        <p:spPr>
          <a:xfrm>
            <a:off x="1508760" y="1965960"/>
            <a:ext cx="9601200" cy="640080"/>
          </a:xfrm>
          <a:prstGeom prst="rect">
            <a:avLst/>
          </a:prstGeom>
          <a:noFill/>
          <a:ln/>
        </p:spPr>
        <p:txBody>
          <a:bodyPr wrap="square" rtlCol="0" anchor="ctr"/>
          <a:lstStyle/>
          <a:p>
            <a:pPr indent="0" marL="0">
              <a:buNone/>
            </a:pPr>
            <a:r>
              <a:rPr lang="en-US" sz="1600" dirty="0">
                <a:solidFill>
                  <a:srgbClr val="E8F1F8"/>
                </a:solidFill>
                <a:latin typeface="Calibri" pitchFamily="34" charset="0"/>
                <a:ea typeface="Calibri" pitchFamily="34" charset="-122"/>
                <a:cs typeface="Calibri" pitchFamily="34" charset="-120"/>
              </a:rPr>
              <a:t>Check with IT/Royston whether there's a known outage or incident on August 12th specifically</a:t>
            </a:r>
            <a:endParaRPr lang="en-US" sz="1600" dirty="0"/>
          </a:p>
        </p:txBody>
      </p:sp>
      <p:sp>
        <p:nvSpPr>
          <p:cNvPr id="5" name="Shape 3"/>
          <p:cNvSpPr/>
          <p:nvPr/>
        </p:nvSpPr>
        <p:spPr>
          <a:xfrm>
            <a:off x="822960" y="3017520"/>
            <a:ext cx="411480" cy="411480"/>
          </a:xfrm>
          <a:prstGeom prst="ellipse">
            <a:avLst/>
          </a:prstGeom>
          <a:solidFill>
            <a:srgbClr val="005CB9"/>
          </a:solidFill>
          <a:ln/>
        </p:spPr>
      </p:sp>
      <p:sp>
        <p:nvSpPr>
          <p:cNvPr id="6" name="Text 4"/>
          <p:cNvSpPr/>
          <p:nvPr/>
        </p:nvSpPr>
        <p:spPr>
          <a:xfrm>
            <a:off x="1508760" y="2971800"/>
            <a:ext cx="9601200" cy="640080"/>
          </a:xfrm>
          <a:prstGeom prst="rect">
            <a:avLst/>
          </a:prstGeom>
          <a:noFill/>
          <a:ln/>
        </p:spPr>
        <p:txBody>
          <a:bodyPr wrap="square" rtlCol="0" anchor="ctr"/>
          <a:lstStyle/>
          <a:p>
            <a:pPr indent="0" marL="0">
              <a:buNone/>
            </a:pPr>
            <a:r>
              <a:rPr lang="en-US" sz="1600" dirty="0">
                <a:solidFill>
                  <a:srgbClr val="E8F1F8"/>
                </a:solidFill>
                <a:latin typeface="Calibri" pitchFamily="34" charset="0"/>
                <a:ea typeface="Calibri" pitchFamily="34" charset="-122"/>
                <a:cs typeface="Calibri" pitchFamily="34" charset="-120"/>
              </a:rPr>
              <a:t>Close out the day-of-week question - no further action needed, the pattern isn't strong enough to act on</a:t>
            </a:r>
            <a:endParaRPr lang="en-US" sz="1600" dirty="0"/>
          </a:p>
        </p:txBody>
      </p:sp>
      <p:sp>
        <p:nvSpPr>
          <p:cNvPr id="7" name="Shape 5"/>
          <p:cNvSpPr/>
          <p:nvPr/>
        </p:nvSpPr>
        <p:spPr>
          <a:xfrm>
            <a:off x="822960" y="4023360"/>
            <a:ext cx="411480" cy="411480"/>
          </a:xfrm>
          <a:prstGeom prst="ellipse">
            <a:avLst/>
          </a:prstGeom>
          <a:solidFill>
            <a:srgbClr val="F4A600"/>
          </a:solidFill>
          <a:ln/>
        </p:spPr>
      </p:sp>
      <p:sp>
        <p:nvSpPr>
          <p:cNvPr id="8" name="Text 6"/>
          <p:cNvSpPr/>
          <p:nvPr/>
        </p:nvSpPr>
        <p:spPr>
          <a:xfrm>
            <a:off x="1508760" y="3977640"/>
            <a:ext cx="9601200" cy="640080"/>
          </a:xfrm>
          <a:prstGeom prst="rect">
            <a:avLst/>
          </a:prstGeom>
          <a:noFill/>
          <a:ln/>
        </p:spPr>
        <p:txBody>
          <a:bodyPr wrap="square" rtlCol="0" anchor="ctr"/>
          <a:lstStyle/>
          <a:p>
            <a:pPr indent="0" marL="0">
              <a:buNone/>
            </a:pPr>
            <a:r>
              <a:rPr lang="en-US" sz="1600" dirty="0">
                <a:solidFill>
                  <a:srgbClr val="E8F1F8"/>
                </a:solidFill>
                <a:latin typeface="Calibri" pitchFamily="34" charset="0"/>
                <a:ea typeface="Calibri" pitchFamily="34" charset="-122"/>
                <a:cs typeface="Calibri" pitchFamily="34" charset="-120"/>
              </a:rPr>
              <a:t>If useful, extend this same spike-detection approach to other complaint categories</a:t>
            </a:r>
            <a:endParaRPr lang="en-US" sz="1600" dirty="0"/>
          </a:p>
        </p:txBody>
      </p:sp>
      <p:sp>
        <p:nvSpPr>
          <p:cNvPr id="9" name="Shape 7"/>
          <p:cNvSpPr/>
          <p:nvPr/>
        </p:nvSpPr>
        <p:spPr>
          <a:xfrm>
            <a:off x="0" y="6748272"/>
            <a:ext cx="3047238" cy="109728"/>
          </a:xfrm>
          <a:prstGeom prst="rect">
            <a:avLst/>
          </a:prstGeom>
          <a:solidFill>
            <a:srgbClr val="005CB9"/>
          </a:solidFill>
          <a:ln/>
        </p:spPr>
      </p:sp>
      <p:sp>
        <p:nvSpPr>
          <p:cNvPr id="10" name="Shape 8"/>
          <p:cNvSpPr/>
          <p:nvPr/>
        </p:nvSpPr>
        <p:spPr>
          <a:xfrm>
            <a:off x="3047238" y="6748272"/>
            <a:ext cx="3047238" cy="109728"/>
          </a:xfrm>
          <a:prstGeom prst="rect">
            <a:avLst/>
          </a:prstGeom>
          <a:solidFill>
            <a:srgbClr val="00BB86"/>
          </a:solidFill>
          <a:ln/>
        </p:spPr>
      </p:sp>
      <p:sp>
        <p:nvSpPr>
          <p:cNvPr id="11" name="Shape 9"/>
          <p:cNvSpPr/>
          <p:nvPr/>
        </p:nvSpPr>
        <p:spPr>
          <a:xfrm>
            <a:off x="6094476" y="6748272"/>
            <a:ext cx="3047238" cy="109728"/>
          </a:xfrm>
          <a:prstGeom prst="rect">
            <a:avLst/>
          </a:prstGeom>
          <a:solidFill>
            <a:srgbClr val="F4A600"/>
          </a:solidFill>
          <a:ln/>
        </p:spPr>
      </p:sp>
      <p:sp>
        <p:nvSpPr>
          <p:cNvPr id="12" name="Shape 10"/>
          <p:cNvSpPr/>
          <p:nvPr/>
        </p:nvSpPr>
        <p:spPr>
          <a:xfrm>
            <a:off x="9141714" y="6748272"/>
            <a:ext cx="3047238" cy="109728"/>
          </a:xfrm>
          <a:prstGeom prst="rect">
            <a:avLst/>
          </a:prstGeom>
          <a:solidFill>
            <a:srgbClr val="00B9B3"/>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2026-08-15T17:54:48Z</dcterms:created>
  <dcterms:modified xsi:type="dcterms:W3CDTF">2026-08-15T17:54:48Z</dcterms:modified>
</cp:coreProperties>
</file>