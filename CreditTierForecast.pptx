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4061"/>
                </a:solidFill>
                <a:latin typeface="Arial"/>
              </a:defRPr>
            </a:pPr>
            <a:r>
              <a:rPr sz="1300" b="0" i="0" u="none" strike="noStrike">
                <a:solidFill>
                  <a:srgbClr val="004061"/>
                </a:solidFill>
                <a:latin typeface="Arial"/>
              </a:rPr>
              <a:t>How Often Each Group Calls Us</a:t>
            </a:r>
          </a:p>
        </c:rich>
      </c:tx>
      <c:layout/>
      <c:overlay val="0"/>
    </c:title>
    <c:autoTitleDeleted val="0"/>
    <c:plotArea>
      <c:layout/>
      <c:barChart>
        <c:barDir val="col"/>
        <c:grouping val="clustered"/>
        <c:varyColors val="0"/>
        <c:ser>
          <c:idx val="0"/>
          <c:order val="0"/>
          <c:tx>
            <c:strRef>
              <c:f>Sheet1!$B$1</c:f>
              <c:strCache>
                <c:ptCount val="1"/>
                <c:pt idx="0">
                  <c:v>Calls per 1,000 Customers per Day</c:v>
                </c:pt>
              </c:strCache>
            </c:strRef>
          </c:tx>
          <c:spPr>
            <a:solidFill>
              <a:srgbClr val="00BB86"/>
            </a:solidFill>
            <a:effectLst/>
          </c:spPr>
          <c:invertIfNegative val="0"/>
          <c:dLbls>
            <c:numFmt formatCode="#,##0" sourceLinked="0"/>
            <c:txPr>
              <a:bodyPr/>
              <a:lstStyle/>
              <a:p>
                <a:pPr>
                  <a:defRPr b="0" i="0" strike="noStrike" sz="1300" u="none">
                    <a:solidFill>
                      <a:srgbClr val="004061"/>
                    </a:solidFill>
                    <a:latin typeface="Arial"/>
                  </a:defRPr>
                </a:pPr>
              </a:p>
            </c:txPr>
            <c:showLegendKey val="0"/>
            <c:showVal val="1"/>
            <c:showCatName val="0"/>
            <c:showSerName val="0"/>
            <c:showPercent val="0"/>
            <c:showBubbleSize val="0"/>
            <c:showLeaderLines val="0"/>
          </c:dLbls>
          <c:cat>
            <c:multiLvlStrRef>
              <c:f>Sheet1!$A$2:$A$4</c:f>
              <c:multiLvlStrCache>
                <c:ptCount val="3"/>
                <c:lvl>
                  <c:pt idx="0">
                    <c:v>High Credit
(700+)</c:v>
                  </c:pt>
                  <c:pt idx="1">
                    <c:v>Medium Credit
(501-700)</c:v>
                  </c:pt>
                  <c:pt idx="2">
                    <c:v>Low Credit
(500 or below)</c:v>
                  </c:pt>
                </c:lvl>
              </c:multiLvlStrCache>
            </c:multiLvlStrRef>
          </c:cat>
          <c:val>
            <c:numRef>
              <c:f>Sheet1!$B$2:$B$4</c:f>
              <c:numCache>
                <c:formatCode>General</c:formatCode>
                <c:ptCount val="3"/>
                <c:pt idx="0">
                  <c:v>1.914</c:v>
                </c:pt>
                <c:pt idx="1">
                  <c:v>2.748</c:v>
                </c:pt>
                <c:pt idx="2">
                  <c:v>4.075</c:v>
                </c:pt>
              </c:numCache>
            </c:numRef>
          </c:val>
        </c:ser>
        <c:dLbls>
          <c:numFmt formatCode="#,##0" sourceLinked="0"/>
          <c:txPr>
            <a:bodyPr/>
            <a:lstStyle/>
            <a:p>
              <a:pPr>
                <a:defRPr b="0" i="0" strike="noStrike" sz="1300" u="none">
                  <a:solidFill>
                    <a:srgbClr val="004061"/>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title>
          <c:tx>
            <c:rich>
              <a:bodyPr/>
              <a:lstStyle/>
              <a:p>
                <a:pPr>
                  <a:defRPr sz="1100" b="0" i="0" u="none" strike="noStrike">
                    <a:solidFill>
                      <a:srgbClr val="44546A"/>
                    </a:solidFill>
                    <a:latin typeface="Arial"/>
                  </a:defRPr>
                </a:pPr>
                <a:r>
                  <a:rPr sz="1100" b="0" i="0" u="none" strike="noStrike">
                    <a:solidFill>
                      <a:srgbClr val="44546A"/>
                    </a:solidFill>
                    <a:latin typeface="Arial"/>
                  </a:rPr>
                  <a:t>Customer Credit Group</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4546A"/>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8EAED"/>
              </a:solidFill>
              <a:prstDash val="solid"/>
              <a:round/>
            </a:ln>
          </c:spPr>
        </c:majorGridlines>
        <c:title>
          <c:tx>
            <c:rich>
              <a:bodyPr/>
              <a:lstStyle/>
              <a:p>
                <a:pPr>
                  <a:defRPr sz="1100" b="0" i="0" u="none" strike="noStrike">
                    <a:solidFill>
                      <a:srgbClr val="44546A"/>
                    </a:solidFill>
                    <a:latin typeface="Arial"/>
                  </a:defRPr>
                </a:pPr>
                <a:r>
                  <a:rPr sz="1100" b="0" i="0" u="none" strike="noStrike">
                    <a:solidFill>
                      <a:srgbClr val="44546A"/>
                    </a:solidFill>
                    <a:latin typeface="Arial"/>
                  </a:rPr>
                  <a:t>Calls per 1,000 Customers, per Day</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4546A"/>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4061"/>
                </a:solidFill>
                <a:latin typeface="Arial"/>
              </a:defRPr>
            </a:pPr>
            <a:r>
              <a:rPr sz="1300" b="0" i="0" u="none" strike="noStrike">
                <a:solidFill>
                  <a:srgbClr val="004061"/>
                </a:solidFill>
                <a:latin typeface="Arial"/>
              </a:rPr>
              <a:t>Total Forecasted Calls by Month, Split by Customer Type</a:t>
            </a:r>
          </a:p>
        </c:rich>
      </c:tx>
      <c:layout/>
      <c:overlay val="0"/>
    </c:title>
    <c:autoTitleDeleted val="0"/>
    <c:plotArea>
      <c:layout/>
      <c:barChart>
        <c:barDir val="col"/>
        <c:grouping val="clustered"/>
        <c:varyColors val="0"/>
        <c:ser>
          <c:idx val="0"/>
          <c:order val="0"/>
          <c:tx>
            <c:strRef>
              <c:f>Sheet1!$B$1</c:f>
              <c:strCache>
                <c:ptCount val="1"/>
                <c:pt idx="0">
                  <c:v>High Credit (700+)</c:v>
                </c:pt>
              </c:strCache>
            </c:strRef>
          </c:tx>
          <c:spPr>
            <a:solidFill>
              <a:srgbClr val="005CB9"/>
            </a:solidFill>
            <a:effectLst/>
          </c:spPr>
          <c:invertIfNegative val="0"/>
          <c:dLbls>
            <c:numFmt formatCode="#,##0" sourceLinked="0"/>
            <c:txPr>
              <a:bodyPr/>
              <a:lstStyle/>
              <a:p>
                <a:pPr>
                  <a:defRPr b="0" i="0" strike="noStrike" sz="800" u="none">
                    <a:solidFill>
                      <a:srgbClr val="44546A"/>
                    </a:solidFill>
                    <a:latin typeface="Arial"/>
                  </a:defRPr>
                </a:pPr>
              </a:p>
            </c:txPr>
            <c:showLegendKey val="0"/>
            <c:showVal val="1"/>
            <c:showCatName val="0"/>
            <c:showSerName val="0"/>
            <c:showPercent val="0"/>
            <c:showBubbleSize val="0"/>
            <c:showLeaderLines val="0"/>
          </c:dLbls>
          <c:cat>
            <c:multiLvlStrRef>
              <c:f>Sheet1!$A$2:$A$7</c:f>
              <c:multiLvlStrCache>
                <c:ptCount val="6"/>
                <c:lvl>
                  <c:pt idx="0">
                    <c:v>Aug</c:v>
                  </c:pt>
                  <c:pt idx="1">
                    <c:v>Sep</c:v>
                  </c:pt>
                  <c:pt idx="2">
                    <c:v>Oct</c:v>
                  </c:pt>
                  <c:pt idx="3">
                    <c:v>Nov</c:v>
                  </c:pt>
                  <c:pt idx="4">
                    <c:v>Dec</c:v>
                  </c:pt>
                  <c:pt idx="5">
                    <c:v>Jan</c:v>
                  </c:pt>
                </c:lvl>
              </c:multiLvlStrCache>
            </c:multiLvlStrRef>
          </c:cat>
          <c:val>
            <c:numRef>
              <c:f>Sheet1!$B$2:$B$7</c:f>
              <c:numCache>
                <c:formatCode>General</c:formatCode>
                <c:ptCount val="6"/>
                <c:pt idx="0">
                  <c:v>46930</c:v>
                </c:pt>
                <c:pt idx="1">
                  <c:v>46368</c:v>
                </c:pt>
                <c:pt idx="2">
                  <c:v>41182</c:v>
                </c:pt>
                <c:pt idx="3">
                  <c:v>36065</c:v>
                </c:pt>
                <c:pt idx="4">
                  <c:v>36355</c:v>
                </c:pt>
                <c:pt idx="5">
                  <c:v>46991</c:v>
                </c:pt>
              </c:numCache>
            </c:numRef>
          </c:val>
        </c:ser>
        <c:ser>
          <c:idx val="1"/>
          <c:order val="1"/>
          <c:tx>
            <c:strRef>
              <c:f>Sheet1!$C$1</c:f>
              <c:strCache>
                <c:ptCount val="1"/>
                <c:pt idx="0">
                  <c:v>Medium Credit (501-700)</c:v>
                </c:pt>
              </c:strCache>
            </c:strRef>
          </c:tx>
          <c:spPr>
            <a:solidFill>
              <a:srgbClr val="00B9B3"/>
            </a:solidFill>
            <a:effectLst/>
          </c:spPr>
          <c:invertIfNegative val="0"/>
          <c:dLbls>
            <c:numFmt formatCode="#,##0" sourceLinked="0"/>
            <c:txPr>
              <a:bodyPr/>
              <a:lstStyle/>
              <a:p>
                <a:pPr>
                  <a:defRPr b="0" i="0" strike="noStrike" sz="800" u="none">
                    <a:solidFill>
                      <a:srgbClr val="44546A"/>
                    </a:solidFill>
                    <a:latin typeface="Arial"/>
                  </a:defRPr>
                </a:pPr>
              </a:p>
            </c:txPr>
            <c:showLegendKey val="0"/>
            <c:showVal val="1"/>
            <c:showCatName val="0"/>
            <c:showSerName val="0"/>
            <c:showPercent val="0"/>
            <c:showBubbleSize val="0"/>
            <c:showLeaderLines val="0"/>
          </c:dLbls>
          <c:cat>
            <c:multiLvlStrRef>
              <c:f>Sheet1!$A$2:$A$7</c:f>
              <c:multiLvlStrCache>
                <c:ptCount val="6"/>
                <c:lvl>
                  <c:pt idx="0">
                    <c:v>Aug</c:v>
                  </c:pt>
                  <c:pt idx="1">
                    <c:v>Sep</c:v>
                  </c:pt>
                  <c:pt idx="2">
                    <c:v>Oct</c:v>
                  </c:pt>
                  <c:pt idx="3">
                    <c:v>Nov</c:v>
                  </c:pt>
                  <c:pt idx="4">
                    <c:v>Dec</c:v>
                  </c:pt>
                  <c:pt idx="5">
                    <c:v>Jan</c:v>
                  </c:pt>
                </c:lvl>
              </c:multiLvlStrCache>
            </c:multiLvlStrRef>
          </c:cat>
          <c:val>
            <c:numRef>
              <c:f>Sheet1!$C$2:$C$7</c:f>
              <c:numCache>
                <c:formatCode>General</c:formatCode>
                <c:ptCount val="6"/>
                <c:pt idx="0">
                  <c:v>18435</c:v>
                </c:pt>
                <c:pt idx="1">
                  <c:v>18214</c:v>
                </c:pt>
                <c:pt idx="2">
                  <c:v>16177</c:v>
                </c:pt>
                <c:pt idx="3">
                  <c:v>14167</c:v>
                </c:pt>
                <c:pt idx="4">
                  <c:v>14281</c:v>
                </c:pt>
                <c:pt idx="5">
                  <c:v>18460</c:v>
                </c:pt>
              </c:numCache>
            </c:numRef>
          </c:val>
        </c:ser>
        <c:ser>
          <c:idx val="2"/>
          <c:order val="2"/>
          <c:tx>
            <c:strRef>
              <c:f>Sheet1!$D$1</c:f>
              <c:strCache>
                <c:ptCount val="1"/>
                <c:pt idx="0">
                  <c:v>Low Credit (500 or below)</c:v>
                </c:pt>
              </c:strCache>
            </c:strRef>
          </c:tx>
          <c:spPr>
            <a:solidFill>
              <a:srgbClr val="F4A600"/>
            </a:solidFill>
            <a:effectLst/>
          </c:spPr>
          <c:invertIfNegative val="0"/>
          <c:dLbls>
            <c:numFmt formatCode="#,##0" sourceLinked="0"/>
            <c:txPr>
              <a:bodyPr/>
              <a:lstStyle/>
              <a:p>
                <a:pPr>
                  <a:defRPr b="0" i="0" strike="noStrike" sz="800" u="none">
                    <a:solidFill>
                      <a:srgbClr val="44546A"/>
                    </a:solidFill>
                    <a:latin typeface="Arial"/>
                  </a:defRPr>
                </a:pPr>
              </a:p>
            </c:txPr>
            <c:showLegendKey val="0"/>
            <c:showVal val="1"/>
            <c:showCatName val="0"/>
            <c:showSerName val="0"/>
            <c:showPercent val="0"/>
            <c:showBubbleSize val="0"/>
            <c:showLeaderLines val="0"/>
          </c:dLbls>
          <c:cat>
            <c:multiLvlStrRef>
              <c:f>Sheet1!$A$2:$A$7</c:f>
              <c:multiLvlStrCache>
                <c:ptCount val="6"/>
                <c:lvl>
                  <c:pt idx="0">
                    <c:v>Aug</c:v>
                  </c:pt>
                  <c:pt idx="1">
                    <c:v>Sep</c:v>
                  </c:pt>
                  <c:pt idx="2">
                    <c:v>Oct</c:v>
                  </c:pt>
                  <c:pt idx="3">
                    <c:v>Nov</c:v>
                  </c:pt>
                  <c:pt idx="4">
                    <c:v>Dec</c:v>
                  </c:pt>
                  <c:pt idx="5">
                    <c:v>Jan</c:v>
                  </c:pt>
                </c:lvl>
              </c:multiLvlStrCache>
            </c:multiLvlStrRef>
          </c:cat>
          <c:val>
            <c:numRef>
              <c:f>Sheet1!$D$2:$D$7</c:f>
              <c:numCache>
                <c:formatCode>General</c:formatCode>
                <c:ptCount val="6"/>
                <c:pt idx="0">
                  <c:v>10652</c:v>
                </c:pt>
                <c:pt idx="1">
                  <c:v>10528</c:v>
                </c:pt>
                <c:pt idx="2">
                  <c:v>9352</c:v>
                </c:pt>
                <c:pt idx="3">
                  <c:v>8189</c:v>
                </c:pt>
                <c:pt idx="4">
                  <c:v>8254</c:v>
                </c:pt>
                <c:pt idx="5">
                  <c:v>10670</c:v>
                </c:pt>
              </c:numCache>
            </c:numRef>
          </c:val>
        </c:ser>
        <c:ser>
          <c:idx val="3"/>
          <c:order val="3"/>
          <c:tx>
            <c:strRef>
              <c:f>Sheet1!$E$1</c:f>
              <c:strCache>
                <c:ptCount val="1"/>
                <c:pt idx="0">
                  <c:v>Unknown Credit Score</c:v>
                </c:pt>
              </c:strCache>
            </c:strRef>
          </c:tx>
          <c:spPr>
            <a:solidFill>
              <a:srgbClr val="44546A"/>
            </a:solidFill>
            <a:effectLst/>
          </c:spPr>
          <c:invertIfNegative val="0"/>
          <c:dLbls>
            <c:numFmt formatCode="#,##0" sourceLinked="0"/>
            <c:txPr>
              <a:bodyPr/>
              <a:lstStyle/>
              <a:p>
                <a:pPr>
                  <a:defRPr b="0" i="0" strike="noStrike" sz="800" u="none">
                    <a:solidFill>
                      <a:srgbClr val="44546A"/>
                    </a:solidFill>
                    <a:latin typeface="Arial"/>
                  </a:defRPr>
                </a:pPr>
              </a:p>
            </c:txPr>
            <c:showLegendKey val="0"/>
            <c:showVal val="1"/>
            <c:showCatName val="0"/>
            <c:showSerName val="0"/>
            <c:showPercent val="0"/>
            <c:showBubbleSize val="0"/>
            <c:showLeaderLines val="0"/>
          </c:dLbls>
          <c:cat>
            <c:multiLvlStrRef>
              <c:f>Sheet1!$A$2:$A$7</c:f>
              <c:multiLvlStrCache>
                <c:ptCount val="6"/>
                <c:lvl>
                  <c:pt idx="0">
                    <c:v>Aug</c:v>
                  </c:pt>
                  <c:pt idx="1">
                    <c:v>Sep</c:v>
                  </c:pt>
                  <c:pt idx="2">
                    <c:v>Oct</c:v>
                  </c:pt>
                  <c:pt idx="3">
                    <c:v>Nov</c:v>
                  </c:pt>
                  <c:pt idx="4">
                    <c:v>Dec</c:v>
                  </c:pt>
                  <c:pt idx="5">
                    <c:v>Jan</c:v>
                  </c:pt>
                </c:lvl>
              </c:multiLvlStrCache>
            </c:multiLvlStrRef>
          </c:cat>
          <c:val>
            <c:numRef>
              <c:f>Sheet1!$E$2:$E$7</c:f>
              <c:numCache>
                <c:formatCode>General</c:formatCode>
                <c:ptCount val="6"/>
                <c:pt idx="0">
                  <c:v>6395</c:v>
                </c:pt>
                <c:pt idx="1">
                  <c:v>6318</c:v>
                </c:pt>
                <c:pt idx="2">
                  <c:v>5611</c:v>
                </c:pt>
                <c:pt idx="3">
                  <c:v>4914</c:v>
                </c:pt>
                <c:pt idx="4">
                  <c:v>4954</c:v>
                </c:pt>
                <c:pt idx="5">
                  <c:v>6404</c:v>
                </c:pt>
              </c:numCache>
            </c:numRef>
          </c:val>
        </c:ser>
        <c:dLbls>
          <c:numFmt formatCode="#,##0" sourceLinked="0"/>
          <c:txPr>
            <a:bodyPr/>
            <a:lstStyle/>
            <a:p>
              <a:pPr>
                <a:defRPr b="0" i="0" strike="noStrike" sz="800" u="none">
                  <a:solidFill>
                    <a:srgbClr val="44546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title>
          <c:tx>
            <c:rich>
              <a:bodyPr/>
              <a:lstStyle/>
              <a:p>
                <a:pPr>
                  <a:defRPr sz="1100" b="0" i="0" u="none" strike="noStrike">
                    <a:solidFill>
                      <a:srgbClr val="44546A"/>
                    </a:solidFill>
                    <a:latin typeface="Arial"/>
                  </a:defRPr>
                </a:pPr>
                <a:r>
                  <a:rPr sz="1100" b="0" i="0" u="none" strike="noStrike">
                    <a:solidFill>
                      <a:srgbClr val="44546A"/>
                    </a:solidFill>
                    <a:latin typeface="Arial"/>
                  </a:rPr>
                  <a:t>Month</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4546A"/>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8EAED"/>
              </a:solidFill>
              <a:prstDash val="solid"/>
              <a:round/>
            </a:ln>
          </c:spPr>
        </c:majorGridlines>
        <c:title>
          <c:tx>
            <c:rich>
              <a:bodyPr/>
              <a:lstStyle/>
              <a:p>
                <a:pPr>
                  <a:defRPr sz="1100" b="0" i="0" u="none" strike="noStrike">
                    <a:solidFill>
                      <a:srgbClr val="44546A"/>
                    </a:solidFill>
                    <a:latin typeface="Arial"/>
                  </a:defRPr>
                </a:pPr>
                <a:r>
                  <a:rPr sz="1100" b="0" i="0" u="none" strike="noStrike">
                    <a:solidFill>
                      <a:srgbClr val="44546A"/>
                    </a:solidFill>
                    <a:latin typeface="Arial"/>
                  </a:rPr>
                  <a:t>Total Forecasted Calls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4546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4061"/>
                </a:solidFill>
                <a:latin typeface="Arial"/>
              </a:defRPr>
            </a:pPr>
            <a:r>
              <a:rPr sz="1300" b="0" i="0" u="none" strike="noStrike">
                <a:solidFill>
                  <a:srgbClr val="004061"/>
                </a:solidFill>
                <a:latin typeface="Arial"/>
              </a:rPr>
              <a:t>Forecasted vs. Actual Call Volume</a:t>
            </a:r>
          </a:p>
        </c:rich>
      </c:tx>
      <c:layout/>
      <c:overlay val="0"/>
    </c:title>
    <c:autoTitleDeleted val="0"/>
    <c:plotArea>
      <c:layout/>
      <c:barChart>
        <c:barDir val="col"/>
        <c:grouping val="clustered"/>
        <c:varyColors val="0"/>
        <c:ser>
          <c:idx val="0"/>
          <c:order val="0"/>
          <c:tx>
            <c:strRef>
              <c:f>Sheet1!$B$1</c:f>
              <c:strCache>
                <c:ptCount val="1"/>
                <c:pt idx="0">
                  <c:v>Forecasted Calls</c:v>
                </c:pt>
              </c:strCache>
            </c:strRef>
          </c:tx>
          <c:spPr>
            <a:solidFill>
              <a:srgbClr val="005CB9"/>
            </a:solidFill>
            <a:effectLst/>
          </c:spPr>
          <c:invertIfNegative val="0"/>
          <c:dLbls>
            <c:numFmt formatCode="#,##0" sourceLinked="0"/>
            <c:txPr>
              <a:bodyPr/>
              <a:lstStyle/>
              <a:p>
                <a:pPr>
                  <a:defRPr b="0" i="0" strike="noStrike" sz="1100" u="none">
                    <a:solidFill>
                      <a:srgbClr val="004061"/>
                    </a:solidFill>
                    <a:latin typeface="Arial"/>
                  </a:defRPr>
                </a:pPr>
              </a:p>
            </c:txPr>
            <c:showLegendKey val="0"/>
            <c:showVal val="1"/>
            <c:showCatName val="0"/>
            <c:showSerName val="0"/>
            <c:showPercent val="0"/>
            <c:showBubbleSize val="0"/>
            <c:showLeaderLines val="0"/>
          </c:dLbls>
          <c:cat>
            <c:multiLvlStrRef>
              <c:f>Sheet1!$A$2:$A$3</c:f>
              <c:multiLvlStrCache>
                <c:ptCount val="2"/>
                <c:lvl>
                  <c:pt idx="0">
                    <c:v>Aug 1
(Saturday)</c:v>
                  </c:pt>
                  <c:pt idx="1">
                    <c:v>Aug 3
(Monday)</c:v>
                  </c:pt>
                </c:lvl>
              </c:multiLvlStrCache>
            </c:multiLvlStrRef>
          </c:cat>
          <c:val>
            <c:numRef>
              <c:f>Sheet1!$B$2:$B$3</c:f>
              <c:numCache>
                <c:formatCode>General</c:formatCode>
                <c:ptCount val="2"/>
                <c:pt idx="0">
                  <c:v>1309</c:v>
                </c:pt>
                <c:pt idx="1">
                  <c:v>4676</c:v>
                </c:pt>
              </c:numCache>
            </c:numRef>
          </c:val>
        </c:ser>
        <c:ser>
          <c:idx val="1"/>
          <c:order val="1"/>
          <c:tx>
            <c:strRef>
              <c:f>Sheet1!$C$1</c:f>
              <c:strCache>
                <c:ptCount val="1"/>
                <c:pt idx="0">
                  <c:v>Actual Calls</c:v>
                </c:pt>
              </c:strCache>
            </c:strRef>
          </c:tx>
          <c:spPr>
            <a:solidFill>
              <a:srgbClr val="F4A600"/>
            </a:solidFill>
            <a:effectLst/>
          </c:spPr>
          <c:invertIfNegative val="0"/>
          <c:dLbls>
            <c:numFmt formatCode="#,##0" sourceLinked="0"/>
            <c:txPr>
              <a:bodyPr/>
              <a:lstStyle/>
              <a:p>
                <a:pPr>
                  <a:defRPr b="0" i="0" strike="noStrike" sz="1100" u="none">
                    <a:solidFill>
                      <a:srgbClr val="004061"/>
                    </a:solidFill>
                    <a:latin typeface="Arial"/>
                  </a:defRPr>
                </a:pPr>
              </a:p>
            </c:txPr>
            <c:showLegendKey val="0"/>
            <c:showVal val="1"/>
            <c:showCatName val="0"/>
            <c:showSerName val="0"/>
            <c:showPercent val="0"/>
            <c:showBubbleSize val="0"/>
            <c:showLeaderLines val="0"/>
          </c:dLbls>
          <c:cat>
            <c:multiLvlStrRef>
              <c:f>Sheet1!$A$2:$A$3</c:f>
              <c:multiLvlStrCache>
                <c:ptCount val="2"/>
                <c:lvl>
                  <c:pt idx="0">
                    <c:v>Aug 1
(Saturday)</c:v>
                  </c:pt>
                  <c:pt idx="1">
                    <c:v>Aug 3
(Monday)</c:v>
                  </c:pt>
                </c:lvl>
              </c:multiLvlStrCache>
            </c:multiLvlStrRef>
          </c:cat>
          <c:val>
            <c:numRef>
              <c:f>Sheet1!$C$2:$C$3</c:f>
              <c:numCache>
                <c:formatCode>General</c:formatCode>
                <c:ptCount val="2"/>
                <c:pt idx="0">
                  <c:v>1959</c:v>
                </c:pt>
                <c:pt idx="1">
                  <c:v>5644</c:v>
                </c:pt>
              </c:numCache>
            </c:numRef>
          </c:val>
        </c:ser>
        <c:dLbls>
          <c:numFmt formatCode="#,##0" sourceLinked="0"/>
          <c:txPr>
            <a:bodyPr/>
            <a:lstStyle/>
            <a:p>
              <a:pPr>
                <a:defRPr b="0" i="0" strike="noStrike" sz="1100" u="none">
                  <a:solidFill>
                    <a:srgbClr val="004061"/>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title>
          <c:tx>
            <c:rich>
              <a:bodyPr/>
              <a:lstStyle/>
              <a:p>
                <a:pPr>
                  <a:defRPr sz="1100" b="0" i="0" u="none" strike="noStrike">
                    <a:solidFill>
                      <a:srgbClr val="44546A"/>
                    </a:solidFill>
                    <a:latin typeface="Arial"/>
                  </a:defRPr>
                </a:pPr>
                <a:r>
                  <a:rPr sz="1100" b="0" i="0" u="none" strike="noStrike">
                    <a:solidFill>
                      <a:srgbClr val="44546A"/>
                    </a:solidFill>
                    <a:latin typeface="Arial"/>
                  </a:rPr>
                  <a:t>Date</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4546A"/>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8EAED"/>
              </a:solidFill>
              <a:prstDash val="solid"/>
              <a:round/>
            </a:ln>
          </c:spPr>
        </c:majorGridlines>
        <c:title>
          <c:tx>
            <c:rich>
              <a:bodyPr/>
              <a:lstStyle/>
              <a:p>
                <a:pPr>
                  <a:defRPr sz="1100" b="0" i="0" u="none" strike="noStrike">
                    <a:solidFill>
                      <a:srgbClr val="44546A"/>
                    </a:solidFill>
                    <a:latin typeface="Arial"/>
                  </a:defRPr>
                </a:pPr>
                <a:r>
                  <a:rPr sz="1100" b="0" i="0" u="none" strike="noStrike">
                    <a:solidFill>
                      <a:srgbClr val="44546A"/>
                    </a:solidFill>
                    <a:latin typeface="Arial"/>
                  </a:rPr>
                  <a:t>Number of Calls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4546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1.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5-1.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6-1.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image" Target="../media/image-8-1.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1.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4061"/>
        </a:solidFill>
      </p:bgPr>
    </p:bg>
    <p:spTree>
      <p:nvGrpSpPr>
        <p:cNvPr id="1" name=""/>
        <p:cNvGrpSpPr/>
        <p:nvPr/>
      </p:nvGrpSpPr>
      <p:grpSpPr>
        <a:xfrm>
          <a:off x="0" y="0"/>
          <a:ext cx="0" cy="0"/>
          <a:chOff x="0" y="0"/>
          <a:chExt cx="0" cy="0"/>
        </a:xfrm>
      </p:grpSpPr>
      <p:sp>
        <p:nvSpPr>
          <p:cNvPr id="2" name="Shape 0"/>
          <p:cNvSpPr/>
          <p:nvPr/>
        </p:nvSpPr>
        <p:spPr>
          <a:xfrm>
            <a:off x="0" y="6309360"/>
            <a:ext cx="3047924" cy="548640"/>
          </a:xfrm>
          <a:prstGeom prst="rect">
            <a:avLst/>
          </a:prstGeom>
          <a:solidFill>
            <a:srgbClr val="005CB9"/>
          </a:solidFill>
          <a:ln/>
        </p:spPr>
      </p:sp>
      <p:sp>
        <p:nvSpPr>
          <p:cNvPr id="3" name="Shape 1"/>
          <p:cNvSpPr/>
          <p:nvPr/>
        </p:nvSpPr>
        <p:spPr>
          <a:xfrm>
            <a:off x="3047924" y="6309360"/>
            <a:ext cx="3047924" cy="548640"/>
          </a:xfrm>
          <a:prstGeom prst="rect">
            <a:avLst/>
          </a:prstGeom>
          <a:solidFill>
            <a:srgbClr val="00BB86"/>
          </a:solidFill>
          <a:ln/>
        </p:spPr>
      </p:sp>
      <p:sp>
        <p:nvSpPr>
          <p:cNvPr id="4" name="Shape 2"/>
          <p:cNvSpPr/>
          <p:nvPr/>
        </p:nvSpPr>
        <p:spPr>
          <a:xfrm>
            <a:off x="6095848" y="6309360"/>
            <a:ext cx="3047924" cy="548640"/>
          </a:xfrm>
          <a:prstGeom prst="rect">
            <a:avLst/>
          </a:prstGeom>
          <a:solidFill>
            <a:srgbClr val="F4A600"/>
          </a:solidFill>
          <a:ln/>
        </p:spPr>
      </p:sp>
      <p:sp>
        <p:nvSpPr>
          <p:cNvPr id="5" name="Shape 3"/>
          <p:cNvSpPr/>
          <p:nvPr/>
        </p:nvSpPr>
        <p:spPr>
          <a:xfrm>
            <a:off x="9143771" y="6309360"/>
            <a:ext cx="3047924" cy="548640"/>
          </a:xfrm>
          <a:prstGeom prst="rect">
            <a:avLst/>
          </a:prstGeom>
          <a:solidFill>
            <a:srgbClr val="00B9B3"/>
          </a:solidFill>
          <a:ln/>
        </p:spPr>
      </p:sp>
      <p:pic>
        <p:nvPicPr>
          <p:cNvPr id="6" name="Image 0" descr="/home/claude/forecast_tier_deck/igs_logo.png">    </p:cNvPr>
          <p:cNvPicPr>
            <a:picLocks noChangeAspect="1"/>
          </p:cNvPicPr>
          <p:nvPr/>
        </p:nvPicPr>
        <p:blipFill>
          <a:blip r:embed="rId1"/>
          <a:stretch>
            <a:fillRect/>
          </a:stretch>
        </p:blipFill>
        <p:spPr>
          <a:xfrm>
            <a:off x="640080" y="502920"/>
            <a:ext cx="1417320" cy="369418"/>
          </a:xfrm>
          <a:prstGeom prst="rect">
            <a:avLst/>
          </a:prstGeom>
        </p:spPr>
      </p:pic>
      <p:sp>
        <p:nvSpPr>
          <p:cNvPr id="7" name="Text 4"/>
          <p:cNvSpPr/>
          <p:nvPr/>
        </p:nvSpPr>
        <p:spPr>
          <a:xfrm>
            <a:off x="822960" y="2286000"/>
            <a:ext cx="10515600" cy="1005840"/>
          </a:xfrm>
          <a:prstGeom prst="rect">
            <a:avLst/>
          </a:prstGeom>
          <a:noFill/>
          <a:ln/>
        </p:spPr>
        <p:txBody>
          <a:bodyPr wrap="square"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MAKING THE FORECAST SMARTER</a:t>
            </a:r>
            <a:endParaRPr lang="en-US" sz="3400" dirty="0"/>
          </a:p>
        </p:txBody>
      </p:sp>
      <p:sp>
        <p:nvSpPr>
          <p:cNvPr id="8" name="Text 5"/>
          <p:cNvSpPr/>
          <p:nvPr/>
        </p:nvSpPr>
        <p:spPr>
          <a:xfrm>
            <a:off x="822960" y="3337560"/>
            <a:ext cx="10058400" cy="640080"/>
          </a:xfrm>
          <a:prstGeom prst="rect">
            <a:avLst/>
          </a:prstGeom>
          <a:noFill/>
          <a:ln/>
        </p:spPr>
        <p:txBody>
          <a:bodyPr wrap="square" rtlCol="0" anchor="ctr"/>
          <a:lstStyle/>
          <a:p>
            <a:pPr indent="0" marL="0">
              <a:lnSpc>
                <a:spcPct val="125000"/>
              </a:lnSpc>
              <a:buNone/>
            </a:pPr>
            <a:r>
              <a:rPr lang="en-US" sz="1600" dirty="0">
                <a:solidFill>
                  <a:srgbClr val="BFD9F0"/>
                </a:solidFill>
                <a:latin typeface="Calibri" pitchFamily="34" charset="0"/>
                <a:ea typeface="Calibri" pitchFamily="34" charset="-122"/>
                <a:cs typeface="Calibri" pitchFamily="34" charset="-120"/>
              </a:rPr>
              <a:t>Breaking down call predictions by customer type, and checking our work against reality</a:t>
            </a:r>
            <a:endParaRPr lang="en-US" sz="1600" dirty="0"/>
          </a:p>
        </p:txBody>
      </p:sp>
      <p:pic>
        <p:nvPicPr>
          <p:cNvPr id="9" name="Image 1" descr="/home/claude/forecast_tier_deck/igs_logo.png">    </p:cNvPr>
          <p:cNvPicPr>
            <a:picLocks noChangeAspect="1"/>
          </p:cNvPicPr>
          <p:nvPr/>
        </p:nvPicPr>
        <p:blipFill>
          <a:blip r:embed="rId2"/>
          <a:stretch>
            <a:fillRect/>
          </a:stretch>
        </p:blipFill>
        <p:spPr>
          <a:xfrm>
            <a:off x="457200" y="6473952"/>
            <a:ext cx="777240" cy="202997"/>
          </a:xfrm>
          <a:prstGeom prst="rect">
            <a:avLst/>
          </a:prstGeom>
        </p:spPr>
      </p:pic>
      <p:sp>
        <p:nvSpPr>
          <p:cNvPr id="10" name="Text 6"/>
          <p:cNvSpPr/>
          <p:nvPr/>
        </p:nvSpPr>
        <p:spPr>
          <a:xfrm>
            <a:off x="11094415" y="6473952"/>
            <a:ext cx="640080" cy="274320"/>
          </a:xfrm>
          <a:prstGeom prst="rect">
            <a:avLst/>
          </a:prstGeom>
          <a:noFill/>
          <a:ln/>
        </p:spPr>
        <p:txBody>
          <a:bodyPr wrap="square" rtlCol="0" anchor="ctr"/>
          <a:lstStyle/>
          <a:p>
            <a:pPr algn="r" indent="0" marL="0">
              <a:buNone/>
            </a:pPr>
            <a:r>
              <a:rPr lang="en-US" sz="1000" dirty="0">
                <a:solidFill>
                  <a:srgbClr val="9AA5B1"/>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856232" cy="274320"/>
          </a:xfrm>
          <a:prstGeom prst="roundRect">
            <a:avLst>
              <a:gd name="adj" fmla="val 166667"/>
            </a:avLst>
          </a:prstGeom>
          <a:solidFill>
            <a:srgbClr val="005CB9"/>
          </a:solidFill>
          <a:ln/>
        </p:spPr>
      </p:sp>
      <p:sp>
        <p:nvSpPr>
          <p:cNvPr id="3" name="Text 1"/>
          <p:cNvSpPr/>
          <p:nvPr/>
        </p:nvSpPr>
        <p:spPr>
          <a:xfrm>
            <a:off x="548640" y="365760"/>
            <a:ext cx="1856232" cy="274320"/>
          </a:xfrm>
          <a:prstGeom prst="rect">
            <a:avLst/>
          </a:prstGeom>
          <a:noFill/>
          <a:ln/>
        </p:spPr>
        <p:txBody>
          <a:bodyPr wrap="square" rtlCol="0" anchor="ctr"/>
          <a:lstStyle/>
          <a:p>
            <a:pPr algn="ctr" indent="0" marL="0">
              <a:buNone/>
            </a:pPr>
            <a:r>
              <a:rPr lang="en-US" sz="900" b="1" spc="40" kern="0" dirty="0">
                <a:solidFill>
                  <a:srgbClr val="FFFFFF"/>
                </a:solidFill>
                <a:latin typeface="Calibri" pitchFamily="34" charset="0"/>
                <a:ea typeface="Calibri" pitchFamily="34" charset="-122"/>
                <a:cs typeface="Calibri" pitchFamily="34" charset="-120"/>
              </a:rPr>
              <a:t>STEP 1: THE GOAL</a:t>
            </a:r>
            <a:endParaRPr lang="en-US" sz="900" dirty="0"/>
          </a:p>
        </p:txBody>
      </p:sp>
      <p:sp>
        <p:nvSpPr>
          <p:cNvPr id="4" name="Text 2"/>
          <p:cNvSpPr/>
          <p:nvPr/>
        </p:nvSpPr>
        <p:spPr>
          <a:xfrm>
            <a:off x="548640" y="365760"/>
            <a:ext cx="11064240" cy="594360"/>
          </a:xfrm>
          <a:prstGeom prst="rect">
            <a:avLst/>
          </a:prstGeom>
          <a:noFill/>
          <a:ln/>
        </p:spPr>
        <p:txBody>
          <a:bodyPr wrap="square" rtlCol="0" anchor="ctr"/>
          <a:lstStyle/>
          <a:p>
            <a:pPr indent="0" marL="0">
              <a:buNone/>
            </a:pPr>
            <a:r>
              <a:rPr lang="en-US" sz="2400" b="1" dirty="0">
                <a:solidFill>
                  <a:srgbClr val="004061"/>
                </a:solidFill>
                <a:latin typeface="Calibri" pitchFamily="34" charset="0"/>
                <a:ea typeface="Calibri" pitchFamily="34" charset="-122"/>
                <a:cs typeface="Calibri" pitchFamily="34" charset="-120"/>
              </a:rPr>
              <a:t>Why We're Doing This</a:t>
            </a:r>
            <a:endParaRPr lang="en-US" sz="2400" dirty="0"/>
          </a:p>
        </p:txBody>
      </p:sp>
      <p:sp>
        <p:nvSpPr>
          <p:cNvPr id="5" name="Text 3"/>
          <p:cNvSpPr/>
          <p:nvPr/>
        </p:nvSpPr>
        <p:spPr>
          <a:xfrm>
            <a:off x="548640" y="1463040"/>
            <a:ext cx="10881360" cy="1920240"/>
          </a:xfrm>
          <a:prstGeom prst="rect">
            <a:avLst/>
          </a:prstGeom>
          <a:noFill/>
          <a:ln/>
        </p:spPr>
        <p:txBody>
          <a:bodyPr wrap="square" rtlCol="0" anchor="ctr"/>
          <a:lstStyle/>
          <a:p>
            <a:pPr indent="0" marL="0">
              <a:lnSpc>
                <a:spcPct val="140000"/>
              </a:lnSpc>
              <a:buNone/>
            </a:pPr>
            <a:r>
              <a:rPr lang="en-US" sz="1600" dirty="0">
                <a:solidFill>
                  <a:srgbClr val="3C3C3C"/>
                </a:solidFill>
                <a:latin typeface="Calibri" pitchFamily="34" charset="0"/>
                <a:ea typeface="Calibri" pitchFamily="34" charset="-122"/>
                <a:cs typeface="Calibri" pitchFamily="34" charset="-120"/>
              </a:rPr>
              <a:t>We already had a forecast that predicts how many calls to expect on a given day. But it treats every customer the same. We already learned in earlier work that customers with lower credit scores call in much more often than customers with higher credit scores. So the natural next question was: can we make the forecast smarter by accounting for THIS too — not just what day it is, but what kind of customers we actually have?</a:t>
            </a:r>
            <a:endParaRPr lang="en-US" sz="1600" dirty="0"/>
          </a:p>
        </p:txBody>
      </p:sp>
      <p:sp>
        <p:nvSpPr>
          <p:cNvPr id="6" name="Shape 4"/>
          <p:cNvSpPr/>
          <p:nvPr/>
        </p:nvSpPr>
        <p:spPr>
          <a:xfrm>
            <a:off x="548640" y="3749040"/>
            <a:ext cx="11064240" cy="1463040"/>
          </a:xfrm>
          <a:prstGeom prst="roundRect">
            <a:avLst>
              <a:gd name="adj" fmla="val 5000"/>
            </a:avLst>
          </a:prstGeom>
          <a:solidFill>
            <a:srgbClr val="F5F8FA"/>
          </a:solidFill>
          <a:ln/>
        </p:spPr>
      </p:sp>
      <p:sp>
        <p:nvSpPr>
          <p:cNvPr id="7" name="Text 5"/>
          <p:cNvSpPr/>
          <p:nvPr/>
        </p:nvSpPr>
        <p:spPr>
          <a:xfrm>
            <a:off x="822960" y="3931920"/>
            <a:ext cx="3657600" cy="365760"/>
          </a:xfrm>
          <a:prstGeom prst="rect">
            <a:avLst/>
          </a:prstGeom>
          <a:noFill/>
          <a:ln/>
        </p:spPr>
        <p:txBody>
          <a:bodyPr wrap="square" rtlCol="0" anchor="ctr"/>
          <a:lstStyle/>
          <a:p>
            <a:pPr indent="0" marL="0">
              <a:buNone/>
            </a:pPr>
            <a:r>
              <a:rPr lang="en-US" sz="1400" b="1" dirty="0">
                <a:solidFill>
                  <a:srgbClr val="00BB86"/>
                </a:solidFill>
                <a:latin typeface="Calibri" pitchFamily="34" charset="0"/>
                <a:ea typeface="Calibri" pitchFamily="34" charset="-122"/>
                <a:cs typeface="Calibri" pitchFamily="34" charset="-120"/>
              </a:rPr>
              <a:t>In plain terms:</a:t>
            </a:r>
            <a:endParaRPr lang="en-US" sz="1400" dirty="0"/>
          </a:p>
        </p:txBody>
      </p:sp>
      <p:sp>
        <p:nvSpPr>
          <p:cNvPr id="8" name="Text 6"/>
          <p:cNvSpPr/>
          <p:nvPr/>
        </p:nvSpPr>
        <p:spPr>
          <a:xfrm>
            <a:off x="822960" y="4343400"/>
            <a:ext cx="10515600" cy="822960"/>
          </a:xfrm>
          <a:prstGeom prst="rect">
            <a:avLst/>
          </a:prstGeom>
          <a:noFill/>
          <a:ln/>
        </p:spPr>
        <p:txBody>
          <a:bodyPr wrap="square" rtlCol="0" anchor="ctr"/>
          <a:lstStyle/>
          <a:p>
            <a:pPr indent="0" marL="0">
              <a:lnSpc>
                <a:spcPct val="130000"/>
              </a:lnSpc>
              <a:buNone/>
            </a:pPr>
            <a:r>
              <a:rPr lang="en-US" sz="1500" dirty="0">
                <a:solidFill>
                  <a:srgbClr val="3C3C3C"/>
                </a:solidFill>
                <a:latin typeface="Calibri" pitchFamily="34" charset="0"/>
                <a:ea typeface="Calibri" pitchFamily="34" charset="-122"/>
                <a:cs typeface="Calibri" pitchFamily="34" charset="-120"/>
              </a:rPr>
              <a:t>We wanted a forecast that knows not just WHEN calls happen, but WHO is likely calling — and we wanted to build a way to check, going forward, whether our forecast is actually right.</a:t>
            </a:r>
            <a:endParaRPr lang="en-US" sz="1500" dirty="0"/>
          </a:p>
        </p:txBody>
      </p:sp>
      <p:pic>
        <p:nvPicPr>
          <p:cNvPr id="9" name="Image 0" descr="/home/claude/forecast_tier_deck/igs_logo.png">    </p:cNvPr>
          <p:cNvPicPr>
            <a:picLocks noChangeAspect="1"/>
          </p:cNvPicPr>
          <p:nvPr/>
        </p:nvPicPr>
        <p:blipFill>
          <a:blip r:embed="rId1"/>
          <a:stretch>
            <a:fillRect/>
          </a:stretch>
        </p:blipFill>
        <p:spPr>
          <a:xfrm>
            <a:off x="457200" y="6473952"/>
            <a:ext cx="777240" cy="202997"/>
          </a:xfrm>
          <a:prstGeom prst="rect">
            <a:avLst/>
          </a:prstGeom>
        </p:spPr>
      </p:pic>
      <p:sp>
        <p:nvSpPr>
          <p:cNvPr id="10" name="Text 7"/>
          <p:cNvSpPr/>
          <p:nvPr/>
        </p:nvSpPr>
        <p:spPr>
          <a:xfrm>
            <a:off x="11094415" y="6473952"/>
            <a:ext cx="640080" cy="274320"/>
          </a:xfrm>
          <a:prstGeom prst="rect">
            <a:avLst/>
          </a:prstGeom>
          <a:noFill/>
          <a:ln/>
        </p:spPr>
        <p:txBody>
          <a:bodyPr wrap="square" rtlCol="0" anchor="ctr"/>
          <a:lstStyle/>
          <a:p>
            <a:pPr algn="r" indent="0" marL="0">
              <a:buNone/>
            </a:pPr>
            <a:r>
              <a:rPr lang="en-US" sz="1000" dirty="0">
                <a:solidFill>
                  <a:srgbClr val="9AA5B1"/>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2048256" cy="274320"/>
          </a:xfrm>
          <a:prstGeom prst="roundRect">
            <a:avLst>
              <a:gd name="adj" fmla="val 166667"/>
            </a:avLst>
          </a:prstGeom>
          <a:solidFill>
            <a:srgbClr val="00BB86"/>
          </a:solidFill>
          <a:ln/>
        </p:spPr>
      </p:sp>
      <p:sp>
        <p:nvSpPr>
          <p:cNvPr id="3" name="Text 1"/>
          <p:cNvSpPr/>
          <p:nvPr/>
        </p:nvSpPr>
        <p:spPr>
          <a:xfrm>
            <a:off x="548640" y="365760"/>
            <a:ext cx="2048256" cy="274320"/>
          </a:xfrm>
          <a:prstGeom prst="rect">
            <a:avLst/>
          </a:prstGeom>
          <a:noFill/>
          <a:ln/>
        </p:spPr>
        <p:txBody>
          <a:bodyPr wrap="square" rtlCol="0" anchor="ctr"/>
          <a:lstStyle/>
          <a:p>
            <a:pPr algn="ctr" indent="0" marL="0">
              <a:buNone/>
            </a:pPr>
            <a:r>
              <a:rPr lang="en-US" sz="900" b="1" spc="40" kern="0" dirty="0">
                <a:solidFill>
                  <a:srgbClr val="FFFFFF"/>
                </a:solidFill>
                <a:latin typeface="Calibri" pitchFamily="34" charset="0"/>
                <a:ea typeface="Calibri" pitchFamily="34" charset="-122"/>
                <a:cs typeface="Calibri" pitchFamily="34" charset="-120"/>
              </a:rPr>
              <a:t>STEP 2: THE METHOD</a:t>
            </a:r>
            <a:endParaRPr lang="en-US" sz="900" dirty="0"/>
          </a:p>
        </p:txBody>
      </p:sp>
      <p:sp>
        <p:nvSpPr>
          <p:cNvPr id="4" name="Text 2"/>
          <p:cNvSpPr/>
          <p:nvPr/>
        </p:nvSpPr>
        <p:spPr>
          <a:xfrm>
            <a:off x="548640" y="365760"/>
            <a:ext cx="11064240" cy="594360"/>
          </a:xfrm>
          <a:prstGeom prst="rect">
            <a:avLst/>
          </a:prstGeom>
          <a:noFill/>
          <a:ln/>
        </p:spPr>
        <p:txBody>
          <a:bodyPr wrap="square" rtlCol="0" anchor="ctr"/>
          <a:lstStyle/>
          <a:p>
            <a:pPr indent="0" marL="0">
              <a:buNone/>
            </a:pPr>
            <a:r>
              <a:rPr lang="en-US" sz="2400" b="1" dirty="0">
                <a:solidFill>
                  <a:srgbClr val="004061"/>
                </a:solidFill>
                <a:latin typeface="Calibri" pitchFamily="34" charset="0"/>
                <a:ea typeface="Calibri" pitchFamily="34" charset="-122"/>
                <a:cs typeface="Calibri" pitchFamily="34" charset="-120"/>
              </a:rPr>
              <a:t>How We Did This</a:t>
            </a:r>
            <a:endParaRPr lang="en-US" sz="2400" dirty="0"/>
          </a:p>
        </p:txBody>
      </p:sp>
      <p:sp>
        <p:nvSpPr>
          <p:cNvPr id="5" name="Shape 3"/>
          <p:cNvSpPr/>
          <p:nvPr/>
        </p:nvSpPr>
        <p:spPr>
          <a:xfrm>
            <a:off x="548640" y="1554480"/>
            <a:ext cx="502920" cy="502920"/>
          </a:xfrm>
          <a:prstGeom prst="ellipse">
            <a:avLst/>
          </a:prstGeom>
          <a:solidFill>
            <a:srgbClr val="005CB9"/>
          </a:solidFill>
          <a:ln/>
        </p:spPr>
      </p:sp>
      <p:sp>
        <p:nvSpPr>
          <p:cNvPr id="6" name="Text 4"/>
          <p:cNvSpPr/>
          <p:nvPr/>
        </p:nvSpPr>
        <p:spPr>
          <a:xfrm>
            <a:off x="548640" y="1554480"/>
            <a:ext cx="50292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p:nvPr/>
        </p:nvSpPr>
        <p:spPr>
          <a:xfrm>
            <a:off x="1234440" y="1508760"/>
            <a:ext cx="9966960" cy="365760"/>
          </a:xfrm>
          <a:prstGeom prst="rect">
            <a:avLst/>
          </a:prstGeom>
          <a:noFill/>
          <a:ln/>
        </p:spPr>
        <p:txBody>
          <a:bodyPr wrap="square" rtlCol="0" anchor="ctr"/>
          <a:lstStyle/>
          <a:p>
            <a:pPr indent="0" marL="0">
              <a:buNone/>
            </a:pPr>
            <a:r>
              <a:rPr lang="en-US" sz="1500" b="1" dirty="0">
                <a:solidFill>
                  <a:srgbClr val="004061"/>
                </a:solidFill>
                <a:latin typeface="Calibri" pitchFamily="34" charset="0"/>
                <a:ea typeface="Calibri" pitchFamily="34" charset="-122"/>
                <a:cs typeface="Calibri" pitchFamily="34" charset="-120"/>
              </a:rPr>
              <a:t>Sorted customers into three groups by credit score</a:t>
            </a:r>
            <a:endParaRPr lang="en-US" sz="1500" dirty="0"/>
          </a:p>
        </p:txBody>
      </p:sp>
      <p:sp>
        <p:nvSpPr>
          <p:cNvPr id="8" name="Text 6"/>
          <p:cNvSpPr/>
          <p:nvPr/>
        </p:nvSpPr>
        <p:spPr>
          <a:xfrm>
            <a:off x="1234440" y="1874520"/>
            <a:ext cx="9966960" cy="548640"/>
          </a:xfrm>
          <a:prstGeom prst="rect">
            <a:avLst/>
          </a:prstGeom>
          <a:noFill/>
          <a:ln/>
        </p:spPr>
        <p:txBody>
          <a:bodyPr wrap="square" rtlCol="0" anchor="ctr"/>
          <a:lstStyle/>
          <a:p>
            <a:pPr indent="0" marL="0">
              <a:lnSpc>
                <a:spcPct val="125000"/>
              </a:lnSpc>
              <a:buNone/>
            </a:pPr>
            <a:r>
              <a:rPr lang="en-US" sz="1250" dirty="0">
                <a:solidFill>
                  <a:srgbClr val="3C3C3C"/>
                </a:solidFill>
                <a:latin typeface="Calibri" pitchFamily="34" charset="0"/>
                <a:ea typeface="Calibri" pitchFamily="34" charset="-122"/>
                <a:cs typeface="Calibri" pitchFamily="34" charset="-120"/>
              </a:rPr>
              <a:t>Low (500 or below), Medium (501-700), and High (700+) — the same groups from our earlier customer-quality work.</a:t>
            </a:r>
            <a:endParaRPr lang="en-US" sz="1250" dirty="0"/>
          </a:p>
        </p:txBody>
      </p:sp>
      <p:sp>
        <p:nvSpPr>
          <p:cNvPr id="9" name="Shape 7"/>
          <p:cNvSpPr/>
          <p:nvPr/>
        </p:nvSpPr>
        <p:spPr>
          <a:xfrm>
            <a:off x="548640" y="2606040"/>
            <a:ext cx="502920" cy="502920"/>
          </a:xfrm>
          <a:prstGeom prst="ellipse">
            <a:avLst/>
          </a:prstGeom>
          <a:solidFill>
            <a:srgbClr val="005CB9"/>
          </a:solidFill>
          <a:ln/>
        </p:spPr>
      </p:sp>
      <p:sp>
        <p:nvSpPr>
          <p:cNvPr id="10" name="Text 8"/>
          <p:cNvSpPr/>
          <p:nvPr/>
        </p:nvSpPr>
        <p:spPr>
          <a:xfrm>
            <a:off x="548640" y="2606040"/>
            <a:ext cx="50292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1" name="Text 9"/>
          <p:cNvSpPr/>
          <p:nvPr/>
        </p:nvSpPr>
        <p:spPr>
          <a:xfrm>
            <a:off x="1234440" y="2560320"/>
            <a:ext cx="9966960" cy="365760"/>
          </a:xfrm>
          <a:prstGeom prst="rect">
            <a:avLst/>
          </a:prstGeom>
          <a:noFill/>
          <a:ln/>
        </p:spPr>
        <p:txBody>
          <a:bodyPr wrap="square" rtlCol="0" anchor="ctr"/>
          <a:lstStyle/>
          <a:p>
            <a:pPr indent="0" marL="0">
              <a:buNone/>
            </a:pPr>
            <a:r>
              <a:rPr lang="en-US" sz="1500" b="1" dirty="0">
                <a:solidFill>
                  <a:srgbClr val="004061"/>
                </a:solidFill>
                <a:latin typeface="Calibri" pitchFamily="34" charset="0"/>
                <a:ea typeface="Calibri" pitchFamily="34" charset="-122"/>
                <a:cs typeface="Calibri" pitchFamily="34" charset="-120"/>
              </a:rPr>
              <a:t>Measured how often each group really calls</a:t>
            </a:r>
            <a:endParaRPr lang="en-US" sz="1500" dirty="0"/>
          </a:p>
        </p:txBody>
      </p:sp>
      <p:sp>
        <p:nvSpPr>
          <p:cNvPr id="12" name="Text 10"/>
          <p:cNvSpPr/>
          <p:nvPr/>
        </p:nvSpPr>
        <p:spPr>
          <a:xfrm>
            <a:off x="1234440" y="2926080"/>
            <a:ext cx="9966960" cy="548640"/>
          </a:xfrm>
          <a:prstGeom prst="rect">
            <a:avLst/>
          </a:prstGeom>
          <a:noFill/>
          <a:ln/>
        </p:spPr>
        <p:txBody>
          <a:bodyPr wrap="square" rtlCol="0" anchor="ctr"/>
          <a:lstStyle/>
          <a:p>
            <a:pPr indent="0" marL="0">
              <a:lnSpc>
                <a:spcPct val="125000"/>
              </a:lnSpc>
              <a:buNone/>
            </a:pPr>
            <a:r>
              <a:rPr lang="en-US" sz="1250" dirty="0">
                <a:solidFill>
                  <a:srgbClr val="3C3C3C"/>
                </a:solidFill>
                <a:latin typeface="Calibri" pitchFamily="34" charset="0"/>
                <a:ea typeface="Calibri" pitchFamily="34" charset="-122"/>
                <a:cs typeface="Calibri" pitchFamily="34" charset="-120"/>
              </a:rPr>
              <a:t>Using 180 days of real call records, we calculated the actual average call rate for each group.</a:t>
            </a:r>
            <a:endParaRPr lang="en-US" sz="1250" dirty="0"/>
          </a:p>
        </p:txBody>
      </p:sp>
      <p:sp>
        <p:nvSpPr>
          <p:cNvPr id="13" name="Shape 11"/>
          <p:cNvSpPr/>
          <p:nvPr/>
        </p:nvSpPr>
        <p:spPr>
          <a:xfrm>
            <a:off x="548640" y="3657600"/>
            <a:ext cx="502920" cy="502920"/>
          </a:xfrm>
          <a:prstGeom prst="ellipse">
            <a:avLst/>
          </a:prstGeom>
          <a:solidFill>
            <a:srgbClr val="005CB9"/>
          </a:solidFill>
          <a:ln/>
        </p:spPr>
      </p:sp>
      <p:sp>
        <p:nvSpPr>
          <p:cNvPr id="14" name="Text 12"/>
          <p:cNvSpPr/>
          <p:nvPr/>
        </p:nvSpPr>
        <p:spPr>
          <a:xfrm>
            <a:off x="548640" y="3657600"/>
            <a:ext cx="50292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5" name="Text 13"/>
          <p:cNvSpPr/>
          <p:nvPr/>
        </p:nvSpPr>
        <p:spPr>
          <a:xfrm>
            <a:off x="1234440" y="3611880"/>
            <a:ext cx="9966960" cy="365760"/>
          </a:xfrm>
          <a:prstGeom prst="rect">
            <a:avLst/>
          </a:prstGeom>
          <a:noFill/>
          <a:ln/>
        </p:spPr>
        <p:txBody>
          <a:bodyPr wrap="square" rtlCol="0" anchor="ctr"/>
          <a:lstStyle/>
          <a:p>
            <a:pPr indent="0" marL="0">
              <a:buNone/>
            </a:pPr>
            <a:r>
              <a:rPr lang="en-US" sz="1500" b="1" dirty="0">
                <a:solidFill>
                  <a:srgbClr val="004061"/>
                </a:solidFill>
                <a:latin typeface="Calibri" pitchFamily="34" charset="0"/>
                <a:ea typeface="Calibri" pitchFamily="34" charset="-122"/>
                <a:cs typeface="Calibri" pitchFamily="34" charset="-120"/>
              </a:rPr>
              <a:t>Combined that with the existing forecast</a:t>
            </a:r>
            <a:endParaRPr lang="en-US" sz="1500" dirty="0"/>
          </a:p>
        </p:txBody>
      </p:sp>
      <p:sp>
        <p:nvSpPr>
          <p:cNvPr id="16" name="Text 14"/>
          <p:cNvSpPr/>
          <p:nvPr/>
        </p:nvSpPr>
        <p:spPr>
          <a:xfrm>
            <a:off x="1234440" y="3977640"/>
            <a:ext cx="9966960" cy="548640"/>
          </a:xfrm>
          <a:prstGeom prst="rect">
            <a:avLst/>
          </a:prstGeom>
          <a:noFill/>
          <a:ln/>
        </p:spPr>
        <p:txBody>
          <a:bodyPr wrap="square" rtlCol="0" anchor="ctr"/>
          <a:lstStyle/>
          <a:p>
            <a:pPr indent="0" marL="0">
              <a:lnSpc>
                <a:spcPct val="125000"/>
              </a:lnSpc>
              <a:buNone/>
            </a:pPr>
            <a:r>
              <a:rPr lang="en-US" sz="1250" dirty="0">
                <a:solidFill>
                  <a:srgbClr val="3C3C3C"/>
                </a:solidFill>
                <a:latin typeface="Calibri" pitchFamily="34" charset="0"/>
                <a:ea typeface="Calibri" pitchFamily="34" charset="-122"/>
                <a:cs typeface="Calibri" pitchFamily="34" charset="-120"/>
              </a:rPr>
              <a:t>We took the day-of-week and time-of-year patterns we'd already built, and applied them separately to each customer group.</a:t>
            </a:r>
            <a:endParaRPr lang="en-US" sz="1250" dirty="0"/>
          </a:p>
        </p:txBody>
      </p:sp>
      <p:sp>
        <p:nvSpPr>
          <p:cNvPr id="17" name="Shape 15"/>
          <p:cNvSpPr/>
          <p:nvPr/>
        </p:nvSpPr>
        <p:spPr>
          <a:xfrm>
            <a:off x="548640" y="4709160"/>
            <a:ext cx="502920" cy="502920"/>
          </a:xfrm>
          <a:prstGeom prst="ellipse">
            <a:avLst/>
          </a:prstGeom>
          <a:solidFill>
            <a:srgbClr val="005CB9"/>
          </a:solidFill>
          <a:ln/>
        </p:spPr>
      </p:sp>
      <p:sp>
        <p:nvSpPr>
          <p:cNvPr id="18" name="Text 16"/>
          <p:cNvSpPr/>
          <p:nvPr/>
        </p:nvSpPr>
        <p:spPr>
          <a:xfrm>
            <a:off x="548640" y="4709160"/>
            <a:ext cx="50292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9" name="Text 17"/>
          <p:cNvSpPr/>
          <p:nvPr/>
        </p:nvSpPr>
        <p:spPr>
          <a:xfrm>
            <a:off x="1234440" y="4663440"/>
            <a:ext cx="9966960" cy="365760"/>
          </a:xfrm>
          <a:prstGeom prst="rect">
            <a:avLst/>
          </a:prstGeom>
          <a:noFill/>
          <a:ln/>
        </p:spPr>
        <p:txBody>
          <a:bodyPr wrap="square" rtlCol="0" anchor="ctr"/>
          <a:lstStyle/>
          <a:p>
            <a:pPr indent="0" marL="0">
              <a:buNone/>
            </a:pPr>
            <a:r>
              <a:rPr lang="en-US" sz="1500" b="1" dirty="0">
                <a:solidFill>
                  <a:srgbClr val="004061"/>
                </a:solidFill>
                <a:latin typeface="Calibri" pitchFamily="34" charset="0"/>
                <a:ea typeface="Calibri" pitchFamily="34" charset="-122"/>
                <a:cs typeface="Calibri" pitchFamily="34" charset="-120"/>
              </a:rPr>
              <a:t>Built a way to check our own work</a:t>
            </a:r>
            <a:endParaRPr lang="en-US" sz="1500" dirty="0"/>
          </a:p>
        </p:txBody>
      </p:sp>
      <p:sp>
        <p:nvSpPr>
          <p:cNvPr id="20" name="Text 18"/>
          <p:cNvSpPr/>
          <p:nvPr/>
        </p:nvSpPr>
        <p:spPr>
          <a:xfrm>
            <a:off x="1234440" y="5029200"/>
            <a:ext cx="9966960" cy="548640"/>
          </a:xfrm>
          <a:prstGeom prst="rect">
            <a:avLst/>
          </a:prstGeom>
          <a:noFill/>
          <a:ln/>
        </p:spPr>
        <p:txBody>
          <a:bodyPr wrap="square" rtlCol="0" anchor="ctr"/>
          <a:lstStyle/>
          <a:p>
            <a:pPr indent="0" marL="0">
              <a:lnSpc>
                <a:spcPct val="125000"/>
              </a:lnSpc>
              <a:buNone/>
            </a:pPr>
            <a:r>
              <a:rPr lang="en-US" sz="1250" dirty="0">
                <a:solidFill>
                  <a:srgbClr val="3C3C3C"/>
                </a:solidFill>
                <a:latin typeface="Calibri" pitchFamily="34" charset="0"/>
                <a:ea typeface="Calibri" pitchFamily="34" charset="-122"/>
                <a:cs typeface="Calibri" pitchFamily="34" charset="-120"/>
              </a:rPr>
              <a:t>We compared what the forecast predicted against what actually happened, so we can catch it early if the forecast starts drifting off.</a:t>
            </a:r>
            <a:endParaRPr lang="en-US" sz="1250" dirty="0"/>
          </a:p>
        </p:txBody>
      </p:sp>
      <p:sp>
        <p:nvSpPr>
          <p:cNvPr id="21" name="Shape 19"/>
          <p:cNvSpPr/>
          <p:nvPr/>
        </p:nvSpPr>
        <p:spPr>
          <a:xfrm>
            <a:off x="548640" y="5623560"/>
            <a:ext cx="11064240" cy="777240"/>
          </a:xfrm>
          <a:prstGeom prst="roundRect">
            <a:avLst>
              <a:gd name="adj" fmla="val 7059"/>
            </a:avLst>
          </a:prstGeom>
          <a:solidFill>
            <a:srgbClr val="F5F8FA"/>
          </a:solidFill>
          <a:ln/>
        </p:spPr>
      </p:sp>
      <p:sp>
        <p:nvSpPr>
          <p:cNvPr id="22" name="Text 20"/>
          <p:cNvSpPr/>
          <p:nvPr/>
        </p:nvSpPr>
        <p:spPr>
          <a:xfrm>
            <a:off x="822960" y="5742432"/>
            <a:ext cx="10515600" cy="548640"/>
          </a:xfrm>
          <a:prstGeom prst="rect">
            <a:avLst/>
          </a:prstGeom>
          <a:noFill/>
          <a:ln/>
        </p:spPr>
        <p:txBody>
          <a:bodyPr wrap="square" rtlCol="0" anchor="ctr"/>
          <a:lstStyle/>
          <a:p>
            <a:pPr indent="0" marL="0">
              <a:lnSpc>
                <a:spcPct val="120000"/>
              </a:lnSpc>
              <a:buNone/>
            </a:pPr>
            <a:r>
              <a:rPr lang="en-US" sz="1300" b="1" dirty="0">
                <a:solidFill>
                  <a:srgbClr val="004061"/>
                </a:solidFill>
                <a:latin typeface="Calibri" pitchFamily="34" charset="0"/>
                <a:ea typeface="Calibri" pitchFamily="34" charset="-122"/>
                <a:cs typeface="Calibri" pitchFamily="34" charset="-120"/>
              </a:rPr>
              <a:t>Tools used:  </a:t>
            </a:r>
            <a:pPr indent="0" marL="0">
              <a:lnSpc>
                <a:spcPct val="120000"/>
              </a:lnSpc>
              <a:buNone/>
            </a:pPr>
            <a:r>
              <a:rPr lang="en-US" sz="1300" dirty="0">
                <a:solidFill>
                  <a:srgbClr val="3C3C3C"/>
                </a:solidFill>
                <a:latin typeface="Calibri" pitchFamily="34" charset="0"/>
                <a:ea typeface="Calibri" pitchFamily="34" charset="-122"/>
                <a:cs typeface="Calibri" pitchFamily="34" charset="-120"/>
              </a:rPr>
              <a:t>We used SQL — a way of asking our company's databases direct questions — to pull and check the real records. Nothing outside our own systems.</a:t>
            </a:r>
            <a:endParaRPr lang="en-US" sz="1300" dirty="0"/>
          </a:p>
        </p:txBody>
      </p:sp>
      <p:pic>
        <p:nvPicPr>
          <p:cNvPr id="23" name="Image 0" descr="/home/claude/forecast_tier_deck/igs_logo.png">    </p:cNvPr>
          <p:cNvPicPr>
            <a:picLocks noChangeAspect="1"/>
          </p:cNvPicPr>
          <p:nvPr/>
        </p:nvPicPr>
        <p:blipFill>
          <a:blip r:embed="rId1"/>
          <a:stretch>
            <a:fillRect/>
          </a:stretch>
        </p:blipFill>
        <p:spPr>
          <a:xfrm>
            <a:off x="457200" y="6473952"/>
            <a:ext cx="777240" cy="202997"/>
          </a:xfrm>
          <a:prstGeom prst="rect">
            <a:avLst/>
          </a:prstGeom>
        </p:spPr>
      </p:pic>
      <p:sp>
        <p:nvSpPr>
          <p:cNvPr id="24" name="Text 21"/>
          <p:cNvSpPr/>
          <p:nvPr/>
        </p:nvSpPr>
        <p:spPr>
          <a:xfrm>
            <a:off x="11094415" y="6473952"/>
            <a:ext cx="640080" cy="274320"/>
          </a:xfrm>
          <a:prstGeom prst="rect">
            <a:avLst/>
          </a:prstGeom>
          <a:noFill/>
          <a:ln/>
        </p:spPr>
        <p:txBody>
          <a:bodyPr wrap="square" rtlCol="0" anchor="ctr"/>
          <a:lstStyle/>
          <a:p>
            <a:pPr algn="r" indent="0" marL="0">
              <a:buNone/>
            </a:pPr>
            <a:r>
              <a:rPr lang="en-US" sz="1000" dirty="0">
                <a:solidFill>
                  <a:srgbClr val="9AA5B1"/>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2624328" cy="274320"/>
          </a:xfrm>
          <a:prstGeom prst="roundRect">
            <a:avLst>
              <a:gd name="adj" fmla="val 166667"/>
            </a:avLst>
          </a:prstGeom>
          <a:solidFill>
            <a:srgbClr val="F4A600"/>
          </a:solidFill>
          <a:ln/>
        </p:spPr>
      </p:sp>
      <p:sp>
        <p:nvSpPr>
          <p:cNvPr id="3" name="Text 1"/>
          <p:cNvSpPr/>
          <p:nvPr/>
        </p:nvSpPr>
        <p:spPr>
          <a:xfrm>
            <a:off x="548640" y="365760"/>
            <a:ext cx="2624328" cy="274320"/>
          </a:xfrm>
          <a:prstGeom prst="rect">
            <a:avLst/>
          </a:prstGeom>
          <a:noFill/>
          <a:ln/>
        </p:spPr>
        <p:txBody>
          <a:bodyPr wrap="square" rtlCol="0" anchor="ctr"/>
          <a:lstStyle/>
          <a:p>
            <a:pPr algn="ctr" indent="0" marL="0">
              <a:buNone/>
            </a:pPr>
            <a:r>
              <a:rPr lang="en-US" sz="900" b="1" spc="40" kern="0" dirty="0">
                <a:solidFill>
                  <a:srgbClr val="FFFFFF"/>
                </a:solidFill>
                <a:latin typeface="Calibri" pitchFamily="34" charset="0"/>
                <a:ea typeface="Calibri" pitchFamily="34" charset="-122"/>
                <a:cs typeface="Calibri" pitchFamily="34" charset="-120"/>
              </a:rPr>
              <a:t>REAL WORK, NOT GUESSWORK</a:t>
            </a:r>
            <a:endParaRPr lang="en-US" sz="900" dirty="0"/>
          </a:p>
        </p:txBody>
      </p:sp>
      <p:sp>
        <p:nvSpPr>
          <p:cNvPr id="4" name="Text 2"/>
          <p:cNvSpPr/>
          <p:nvPr/>
        </p:nvSpPr>
        <p:spPr>
          <a:xfrm>
            <a:off x="548640" y="365760"/>
            <a:ext cx="11064240" cy="594360"/>
          </a:xfrm>
          <a:prstGeom prst="rect">
            <a:avLst/>
          </a:prstGeom>
          <a:noFill/>
          <a:ln/>
        </p:spPr>
        <p:txBody>
          <a:bodyPr wrap="square" rtlCol="0" anchor="ctr"/>
          <a:lstStyle/>
          <a:p>
            <a:pPr indent="0" marL="0">
              <a:buNone/>
            </a:pPr>
            <a:r>
              <a:rPr lang="en-US" sz="2400" b="1" dirty="0">
                <a:solidFill>
                  <a:srgbClr val="004061"/>
                </a:solidFill>
                <a:latin typeface="Calibri" pitchFamily="34" charset="0"/>
                <a:ea typeface="Calibri" pitchFamily="34" charset="-122"/>
                <a:cs typeface="Calibri" pitchFamily="34" charset="-120"/>
              </a:rPr>
              <a:t>What We Caught Along the Way</a:t>
            </a:r>
            <a:endParaRPr lang="en-US" sz="2400" dirty="0"/>
          </a:p>
        </p:txBody>
      </p:sp>
      <p:sp>
        <p:nvSpPr>
          <p:cNvPr id="5" name="Text 3"/>
          <p:cNvSpPr/>
          <p:nvPr/>
        </p:nvSpPr>
        <p:spPr>
          <a:xfrm>
            <a:off x="548640" y="914400"/>
            <a:ext cx="11064240" cy="411480"/>
          </a:xfrm>
          <a:prstGeom prst="rect">
            <a:avLst/>
          </a:prstGeom>
          <a:noFill/>
          <a:ln/>
        </p:spPr>
        <p:txBody>
          <a:bodyPr wrap="square" rtlCol="0" anchor="ctr"/>
          <a:lstStyle/>
          <a:p>
            <a:pPr indent="0" marL="0">
              <a:buNone/>
            </a:pPr>
            <a:r>
              <a:rPr lang="en-US" sz="1300" dirty="0">
                <a:solidFill>
                  <a:srgbClr val="44546A"/>
                </a:solidFill>
                <a:latin typeface="Calibri" pitchFamily="34" charset="0"/>
                <a:ea typeface="Calibri" pitchFamily="34" charset="-122"/>
                <a:cs typeface="Calibri" pitchFamily="34" charset="-120"/>
              </a:rPr>
              <a:t>Two real problems found and fixed before trusting any number</a:t>
            </a:r>
            <a:endParaRPr lang="en-US" sz="1300" dirty="0"/>
          </a:p>
        </p:txBody>
      </p:sp>
      <p:sp>
        <p:nvSpPr>
          <p:cNvPr id="6" name="Shape 4"/>
          <p:cNvSpPr/>
          <p:nvPr/>
        </p:nvSpPr>
        <p:spPr>
          <a:xfrm>
            <a:off x="609448" y="1691640"/>
            <a:ext cx="5257800" cy="4160520"/>
          </a:xfrm>
          <a:prstGeom prst="roundRect">
            <a:avLst>
              <a:gd name="adj" fmla="val 1758"/>
            </a:avLst>
          </a:prstGeom>
          <a:solidFill>
            <a:srgbClr val="F5F8FA"/>
          </a:solidFill>
          <a:ln/>
        </p:spPr>
      </p:sp>
      <p:sp>
        <p:nvSpPr>
          <p:cNvPr id="7" name="Shape 5"/>
          <p:cNvSpPr/>
          <p:nvPr/>
        </p:nvSpPr>
        <p:spPr>
          <a:xfrm>
            <a:off x="929488" y="1984248"/>
            <a:ext cx="457200" cy="54864"/>
          </a:xfrm>
          <a:prstGeom prst="rect">
            <a:avLst/>
          </a:prstGeom>
          <a:solidFill>
            <a:srgbClr val="F4A600"/>
          </a:solidFill>
          <a:ln/>
        </p:spPr>
      </p:sp>
      <p:sp>
        <p:nvSpPr>
          <p:cNvPr id="8" name="Text 6"/>
          <p:cNvSpPr/>
          <p:nvPr/>
        </p:nvSpPr>
        <p:spPr>
          <a:xfrm>
            <a:off x="929488" y="2148840"/>
            <a:ext cx="4617720" cy="548640"/>
          </a:xfrm>
          <a:prstGeom prst="rect">
            <a:avLst/>
          </a:prstGeom>
          <a:noFill/>
          <a:ln/>
        </p:spPr>
        <p:txBody>
          <a:bodyPr wrap="square" rtlCol="0" anchor="ctr"/>
          <a:lstStyle/>
          <a:p>
            <a:pPr indent="0" marL="0">
              <a:buNone/>
            </a:pPr>
            <a:r>
              <a:rPr lang="en-US" sz="1500" b="1" dirty="0">
                <a:solidFill>
                  <a:srgbClr val="004061"/>
                </a:solidFill>
                <a:latin typeface="Calibri" pitchFamily="34" charset="0"/>
                <a:ea typeface="Calibri" pitchFamily="34" charset="-122"/>
                <a:cs typeface="Calibri" pitchFamily="34" charset="-120"/>
              </a:rPr>
              <a:t>1. Customers Who Already Left</a:t>
            </a:r>
            <a:endParaRPr lang="en-US" sz="1500" dirty="0"/>
          </a:p>
        </p:txBody>
      </p:sp>
      <p:sp>
        <p:nvSpPr>
          <p:cNvPr id="9" name="Text 7"/>
          <p:cNvSpPr/>
          <p:nvPr/>
        </p:nvSpPr>
        <p:spPr>
          <a:xfrm>
            <a:off x="929488" y="2788920"/>
            <a:ext cx="4617720" cy="1005840"/>
          </a:xfrm>
          <a:prstGeom prst="rect">
            <a:avLst/>
          </a:prstGeom>
          <a:noFill/>
          <a:ln/>
        </p:spPr>
        <p:txBody>
          <a:bodyPr wrap="square" rtlCol="0" anchor="t"/>
          <a:lstStyle/>
          <a:p>
            <a:pPr indent="0" marL="0">
              <a:lnSpc>
                <a:spcPct val="120000"/>
              </a:lnSpc>
              <a:buNone/>
            </a:pPr>
            <a:r>
              <a:rPr lang="en-US" sz="1150" dirty="0">
                <a:solidFill>
                  <a:srgbClr val="3C3C3C"/>
                </a:solidFill>
                <a:latin typeface="Calibri" pitchFamily="34" charset="0"/>
                <a:ea typeface="Calibri" pitchFamily="34" charset="-122"/>
                <a:cs typeface="Calibri" pitchFamily="34" charset="-120"/>
              </a:rPr>
              <a:t>•  Our first version only counted customers who are still with us TODAY. But some customers called us, then canceled service afterward.</a:t>
            </a:r>
            <a:endParaRPr lang="en-US" sz="1150" dirty="0"/>
          </a:p>
        </p:txBody>
      </p:sp>
      <p:sp>
        <p:nvSpPr>
          <p:cNvPr id="10" name="Text 8"/>
          <p:cNvSpPr/>
          <p:nvPr/>
        </p:nvSpPr>
        <p:spPr>
          <a:xfrm>
            <a:off x="929488" y="3840480"/>
            <a:ext cx="4617720" cy="1005840"/>
          </a:xfrm>
          <a:prstGeom prst="rect">
            <a:avLst/>
          </a:prstGeom>
          <a:noFill/>
          <a:ln/>
        </p:spPr>
        <p:txBody>
          <a:bodyPr wrap="square" rtlCol="0" anchor="t"/>
          <a:lstStyle/>
          <a:p>
            <a:pPr indent="0" marL="0">
              <a:lnSpc>
                <a:spcPct val="120000"/>
              </a:lnSpc>
              <a:buNone/>
            </a:pPr>
            <a:r>
              <a:rPr lang="en-US" sz="1150" dirty="0">
                <a:solidFill>
                  <a:srgbClr val="3C3C3C"/>
                </a:solidFill>
                <a:latin typeface="Calibri" pitchFamily="34" charset="0"/>
                <a:ea typeface="Calibri" pitchFamily="34" charset="-122"/>
                <a:cs typeface="Calibri" pitchFamily="34" charset="-120"/>
              </a:rPr>
              <a:t>•  That made our numbers add up to only about half of the real call total — a huge, obvious red flag.</a:t>
            </a:r>
            <a:endParaRPr lang="en-US" sz="1150" dirty="0"/>
          </a:p>
        </p:txBody>
      </p:sp>
      <p:sp>
        <p:nvSpPr>
          <p:cNvPr id="11" name="Text 9"/>
          <p:cNvSpPr/>
          <p:nvPr/>
        </p:nvSpPr>
        <p:spPr>
          <a:xfrm>
            <a:off x="929488" y="4892040"/>
            <a:ext cx="4617720" cy="1005840"/>
          </a:xfrm>
          <a:prstGeom prst="rect">
            <a:avLst/>
          </a:prstGeom>
          <a:noFill/>
          <a:ln/>
        </p:spPr>
        <p:txBody>
          <a:bodyPr wrap="square" rtlCol="0" anchor="t"/>
          <a:lstStyle/>
          <a:p>
            <a:pPr indent="0" marL="0">
              <a:lnSpc>
                <a:spcPct val="120000"/>
              </a:lnSpc>
              <a:buNone/>
            </a:pPr>
            <a:r>
              <a:rPr lang="en-US" sz="1150" dirty="0">
                <a:solidFill>
                  <a:srgbClr val="3C3C3C"/>
                </a:solidFill>
                <a:latin typeface="Calibri" pitchFamily="34" charset="0"/>
                <a:ea typeface="Calibri" pitchFamily="34" charset="-122"/>
                <a:cs typeface="Calibri" pitchFamily="34" charset="-120"/>
              </a:rPr>
              <a:t>•  Fix: we counted anyone who was a customer at ANY point during the 6-month window, not just people still with us right now.</a:t>
            </a:r>
            <a:endParaRPr lang="en-US" sz="1150" dirty="0"/>
          </a:p>
        </p:txBody>
      </p:sp>
      <p:sp>
        <p:nvSpPr>
          <p:cNvPr id="12" name="Shape 10"/>
          <p:cNvSpPr/>
          <p:nvPr/>
        </p:nvSpPr>
        <p:spPr>
          <a:xfrm>
            <a:off x="6324448" y="1691640"/>
            <a:ext cx="5257800" cy="4160520"/>
          </a:xfrm>
          <a:prstGeom prst="roundRect">
            <a:avLst>
              <a:gd name="adj" fmla="val 1758"/>
            </a:avLst>
          </a:prstGeom>
          <a:solidFill>
            <a:srgbClr val="F5F8FA"/>
          </a:solidFill>
          <a:ln/>
        </p:spPr>
      </p:sp>
      <p:sp>
        <p:nvSpPr>
          <p:cNvPr id="13" name="Shape 11"/>
          <p:cNvSpPr/>
          <p:nvPr/>
        </p:nvSpPr>
        <p:spPr>
          <a:xfrm>
            <a:off x="6644488" y="1984248"/>
            <a:ext cx="457200" cy="54864"/>
          </a:xfrm>
          <a:prstGeom prst="rect">
            <a:avLst/>
          </a:prstGeom>
          <a:solidFill>
            <a:srgbClr val="005CB9"/>
          </a:solidFill>
          <a:ln/>
        </p:spPr>
      </p:sp>
      <p:sp>
        <p:nvSpPr>
          <p:cNvPr id="14" name="Text 12"/>
          <p:cNvSpPr/>
          <p:nvPr/>
        </p:nvSpPr>
        <p:spPr>
          <a:xfrm>
            <a:off x="6644488" y="2148840"/>
            <a:ext cx="4617720" cy="548640"/>
          </a:xfrm>
          <a:prstGeom prst="rect">
            <a:avLst/>
          </a:prstGeom>
          <a:noFill/>
          <a:ln/>
        </p:spPr>
        <p:txBody>
          <a:bodyPr wrap="square" rtlCol="0" anchor="ctr"/>
          <a:lstStyle/>
          <a:p>
            <a:pPr indent="0" marL="0">
              <a:buNone/>
            </a:pPr>
            <a:r>
              <a:rPr lang="en-US" sz="1500" b="1" dirty="0">
                <a:solidFill>
                  <a:srgbClr val="004061"/>
                </a:solidFill>
                <a:latin typeface="Calibri" pitchFamily="34" charset="0"/>
                <a:ea typeface="Calibri" pitchFamily="34" charset="-122"/>
                <a:cs typeface="Calibri" pitchFamily="34" charset="-120"/>
              </a:rPr>
              <a:t>2. Missing Credit Scores Counted Twice, Incorrectly</a:t>
            </a:r>
            <a:endParaRPr lang="en-US" sz="1500" dirty="0"/>
          </a:p>
        </p:txBody>
      </p:sp>
      <p:sp>
        <p:nvSpPr>
          <p:cNvPr id="15" name="Text 13"/>
          <p:cNvSpPr/>
          <p:nvPr/>
        </p:nvSpPr>
        <p:spPr>
          <a:xfrm>
            <a:off x="6644488" y="2788920"/>
            <a:ext cx="4617720" cy="1005840"/>
          </a:xfrm>
          <a:prstGeom prst="rect">
            <a:avLst/>
          </a:prstGeom>
          <a:noFill/>
          <a:ln/>
        </p:spPr>
        <p:txBody>
          <a:bodyPr wrap="square" rtlCol="0" anchor="t"/>
          <a:lstStyle/>
          <a:p>
            <a:pPr indent="0" marL="0">
              <a:lnSpc>
                <a:spcPct val="120000"/>
              </a:lnSpc>
              <a:buNone/>
            </a:pPr>
            <a:r>
              <a:rPr lang="en-US" sz="1150" dirty="0">
                <a:solidFill>
                  <a:srgbClr val="3C3C3C"/>
                </a:solidFill>
                <a:latin typeface="Calibri" pitchFamily="34" charset="0"/>
                <a:ea typeface="Calibri" pitchFamily="34" charset="-122"/>
                <a:cs typeface="Calibri" pitchFamily="34" charset="-120"/>
              </a:rPr>
              <a:t>•  Some customers have no credit score on file. We correctly excluded those marked as “0,” but missed a second group marked as truly blank/empty — a different thing in our system.</a:t>
            </a:r>
            <a:endParaRPr lang="en-US" sz="1150" dirty="0"/>
          </a:p>
        </p:txBody>
      </p:sp>
      <p:sp>
        <p:nvSpPr>
          <p:cNvPr id="16" name="Text 14"/>
          <p:cNvSpPr/>
          <p:nvPr/>
        </p:nvSpPr>
        <p:spPr>
          <a:xfrm>
            <a:off x="6644488" y="3840480"/>
            <a:ext cx="4617720" cy="1005840"/>
          </a:xfrm>
          <a:prstGeom prst="rect">
            <a:avLst/>
          </a:prstGeom>
          <a:noFill/>
          <a:ln/>
        </p:spPr>
        <p:txBody>
          <a:bodyPr wrap="square" rtlCol="0" anchor="t"/>
          <a:lstStyle/>
          <a:p>
            <a:pPr indent="0" marL="0">
              <a:lnSpc>
                <a:spcPct val="120000"/>
              </a:lnSpc>
              <a:buNone/>
            </a:pPr>
            <a:r>
              <a:rPr lang="en-US" sz="1150" dirty="0">
                <a:solidFill>
                  <a:srgbClr val="3C3C3C"/>
                </a:solidFill>
                <a:latin typeface="Calibri" pitchFamily="34" charset="0"/>
                <a:ea typeface="Calibri" pitchFamily="34" charset="-122"/>
                <a:cs typeface="Calibri" pitchFamily="34" charset="-120"/>
              </a:rPr>
              <a:t>•  That second group was large enough to keep our numbers wrong even after the first fix.</a:t>
            </a:r>
            <a:endParaRPr lang="en-US" sz="1150" dirty="0"/>
          </a:p>
        </p:txBody>
      </p:sp>
      <p:sp>
        <p:nvSpPr>
          <p:cNvPr id="17" name="Text 15"/>
          <p:cNvSpPr/>
          <p:nvPr/>
        </p:nvSpPr>
        <p:spPr>
          <a:xfrm>
            <a:off x="6644488" y="4892040"/>
            <a:ext cx="4617720" cy="1005840"/>
          </a:xfrm>
          <a:prstGeom prst="rect">
            <a:avLst/>
          </a:prstGeom>
          <a:noFill/>
          <a:ln/>
        </p:spPr>
        <p:txBody>
          <a:bodyPr wrap="square" rtlCol="0" anchor="t"/>
          <a:lstStyle/>
          <a:p>
            <a:pPr indent="0" marL="0">
              <a:lnSpc>
                <a:spcPct val="120000"/>
              </a:lnSpc>
              <a:buNone/>
            </a:pPr>
            <a:r>
              <a:rPr lang="en-US" sz="1150" dirty="0">
                <a:solidFill>
                  <a:srgbClr val="3C3C3C"/>
                </a:solidFill>
                <a:latin typeface="Calibri" pitchFamily="34" charset="0"/>
                <a:ea typeface="Calibri" pitchFamily="34" charset="-122"/>
                <a:cs typeface="Calibri" pitchFamily="34" charset="-120"/>
              </a:rPr>
              <a:t>•  Fix: we treated blank and zero the same way — both mean “no usable score” — and excluded both consistently.</a:t>
            </a:r>
            <a:endParaRPr lang="en-US" sz="1150" dirty="0"/>
          </a:p>
        </p:txBody>
      </p:sp>
      <p:pic>
        <p:nvPicPr>
          <p:cNvPr id="18" name="Image 0" descr="/home/claude/forecast_tier_deck/igs_logo.png">    </p:cNvPr>
          <p:cNvPicPr>
            <a:picLocks noChangeAspect="1"/>
          </p:cNvPicPr>
          <p:nvPr/>
        </p:nvPicPr>
        <p:blipFill>
          <a:blip r:embed="rId1"/>
          <a:stretch>
            <a:fillRect/>
          </a:stretch>
        </p:blipFill>
        <p:spPr>
          <a:xfrm>
            <a:off x="457200" y="6473952"/>
            <a:ext cx="777240" cy="202997"/>
          </a:xfrm>
          <a:prstGeom prst="rect">
            <a:avLst/>
          </a:prstGeom>
        </p:spPr>
      </p:pic>
      <p:sp>
        <p:nvSpPr>
          <p:cNvPr id="19" name="Text 16"/>
          <p:cNvSpPr/>
          <p:nvPr/>
        </p:nvSpPr>
        <p:spPr>
          <a:xfrm>
            <a:off x="11094415" y="6473952"/>
            <a:ext cx="640080" cy="274320"/>
          </a:xfrm>
          <a:prstGeom prst="rect">
            <a:avLst/>
          </a:prstGeom>
          <a:noFill/>
          <a:ln/>
        </p:spPr>
        <p:txBody>
          <a:bodyPr wrap="square" rtlCol="0" anchor="ctr"/>
          <a:lstStyle/>
          <a:p>
            <a:pPr algn="r" indent="0" marL="0">
              <a:buNone/>
            </a:pPr>
            <a:r>
              <a:rPr lang="en-US" sz="1000" dirty="0">
                <a:solidFill>
                  <a:srgbClr val="9AA5B1"/>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376172" cy="274320"/>
          </a:xfrm>
          <a:prstGeom prst="roundRect">
            <a:avLst>
              <a:gd name="adj" fmla="val 166667"/>
            </a:avLst>
          </a:prstGeom>
          <a:solidFill>
            <a:srgbClr val="00BB86"/>
          </a:solidFill>
          <a:ln/>
        </p:spPr>
      </p:sp>
      <p:sp>
        <p:nvSpPr>
          <p:cNvPr id="3" name="Text 1"/>
          <p:cNvSpPr/>
          <p:nvPr/>
        </p:nvSpPr>
        <p:spPr>
          <a:xfrm>
            <a:off x="548640" y="365760"/>
            <a:ext cx="1376172" cy="274320"/>
          </a:xfrm>
          <a:prstGeom prst="rect">
            <a:avLst/>
          </a:prstGeom>
          <a:noFill/>
          <a:ln/>
        </p:spPr>
        <p:txBody>
          <a:bodyPr wrap="square" rtlCol="0" anchor="ctr"/>
          <a:lstStyle/>
          <a:p>
            <a:pPr algn="ctr" indent="0" marL="0">
              <a:buNone/>
            </a:pPr>
            <a:r>
              <a:rPr lang="en-US" sz="900" b="1" spc="40" kern="0" dirty="0">
                <a:solidFill>
                  <a:srgbClr val="FFFFFF"/>
                </a:solidFill>
                <a:latin typeface="Calibri" pitchFamily="34" charset="0"/>
                <a:ea typeface="Calibri" pitchFamily="34" charset="-122"/>
                <a:cs typeface="Calibri" pitchFamily="34" charset="-120"/>
              </a:rPr>
              <a:t>THE FINDING</a:t>
            </a:r>
            <a:endParaRPr lang="en-US" sz="900" dirty="0"/>
          </a:p>
        </p:txBody>
      </p:sp>
      <p:sp>
        <p:nvSpPr>
          <p:cNvPr id="4" name="Text 2"/>
          <p:cNvSpPr/>
          <p:nvPr/>
        </p:nvSpPr>
        <p:spPr>
          <a:xfrm>
            <a:off x="548640" y="365760"/>
            <a:ext cx="11064240" cy="594360"/>
          </a:xfrm>
          <a:prstGeom prst="rect">
            <a:avLst/>
          </a:prstGeom>
          <a:noFill/>
          <a:ln/>
        </p:spPr>
        <p:txBody>
          <a:bodyPr wrap="square" rtlCol="0" anchor="ctr"/>
          <a:lstStyle/>
          <a:p>
            <a:pPr indent="0" marL="0">
              <a:buNone/>
            </a:pPr>
            <a:r>
              <a:rPr lang="en-US" sz="2400" b="1" dirty="0">
                <a:solidFill>
                  <a:srgbClr val="004061"/>
                </a:solidFill>
                <a:latin typeface="Calibri" pitchFamily="34" charset="0"/>
                <a:ea typeface="Calibri" pitchFamily="34" charset="-122"/>
                <a:cs typeface="Calibri" pitchFamily="34" charset="-120"/>
              </a:rPr>
              <a:t>Lower-Credit Customers Call More Often</a:t>
            </a:r>
            <a:endParaRPr lang="en-US" sz="2400" dirty="0"/>
          </a:p>
        </p:txBody>
      </p:sp>
      <p:sp>
        <p:nvSpPr>
          <p:cNvPr id="5" name="Text 3"/>
          <p:cNvSpPr/>
          <p:nvPr/>
        </p:nvSpPr>
        <p:spPr>
          <a:xfrm>
            <a:off x="548640" y="914400"/>
            <a:ext cx="11064240" cy="411480"/>
          </a:xfrm>
          <a:prstGeom prst="rect">
            <a:avLst/>
          </a:prstGeom>
          <a:noFill/>
          <a:ln/>
        </p:spPr>
        <p:txBody>
          <a:bodyPr wrap="square" rtlCol="0" anchor="ctr"/>
          <a:lstStyle/>
          <a:p>
            <a:pPr indent="0" marL="0">
              <a:buNone/>
            </a:pPr>
            <a:r>
              <a:rPr lang="en-US" sz="1300" dirty="0">
                <a:solidFill>
                  <a:srgbClr val="44546A"/>
                </a:solidFill>
                <a:latin typeface="Calibri" pitchFamily="34" charset="0"/>
                <a:ea typeface="Calibri" pitchFamily="34" charset="-122"/>
                <a:cs typeface="Calibri" pitchFamily="34" charset="-120"/>
              </a:rPr>
              <a:t>This confirms, with corrected numbers, what we found before</a:t>
            </a:r>
            <a:endParaRPr lang="en-US" sz="1300" dirty="0"/>
          </a:p>
        </p:txBody>
      </p:sp>
      <p:graphicFrame>
        <p:nvGraphicFramePr>
          <p:cNvPr id="6" name="Chart 0" descr=""/>
          <p:cNvGraphicFramePr/>
          <p:nvPr/>
        </p:nvGraphicFramePr>
        <p:xfrm>
          <a:off x="1371600" y="1691640"/>
          <a:ext cx="9418320" cy="365760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48640" y="5623560"/>
            <a:ext cx="11064240" cy="777240"/>
          </a:xfrm>
          <a:prstGeom prst="roundRect">
            <a:avLst>
              <a:gd name="adj" fmla="val 7059"/>
            </a:avLst>
          </a:prstGeom>
          <a:solidFill>
            <a:srgbClr val="F5F8FA"/>
          </a:solidFill>
          <a:ln/>
        </p:spPr>
      </p:sp>
      <p:sp>
        <p:nvSpPr>
          <p:cNvPr id="8" name="Text 5"/>
          <p:cNvSpPr/>
          <p:nvPr/>
        </p:nvSpPr>
        <p:spPr>
          <a:xfrm>
            <a:off x="822960" y="5742432"/>
            <a:ext cx="10515600" cy="548640"/>
          </a:xfrm>
          <a:prstGeom prst="rect">
            <a:avLst/>
          </a:prstGeom>
          <a:noFill/>
          <a:ln/>
        </p:spPr>
        <p:txBody>
          <a:bodyPr wrap="square" rtlCol="0" anchor="ctr"/>
          <a:lstStyle/>
          <a:p>
            <a:pPr indent="0" marL="0">
              <a:lnSpc>
                <a:spcPct val="120000"/>
              </a:lnSpc>
              <a:buNone/>
            </a:pPr>
            <a:r>
              <a:rPr lang="en-US" sz="1300" dirty="0">
                <a:solidFill>
                  <a:srgbClr val="3C3C3C"/>
                </a:solidFill>
                <a:latin typeface="Calibri" pitchFamily="34" charset="0"/>
                <a:ea typeface="Calibri" pitchFamily="34" charset="-122"/>
                <a:cs typeface="Calibri" pitchFamily="34" charset="-120"/>
              </a:rPr>
              <a:t>In plain terms: a Low-credit customer calls us about twice as often as a High-credit customer — every single day, on average.</a:t>
            </a:r>
            <a:endParaRPr lang="en-US" sz="1300" dirty="0"/>
          </a:p>
        </p:txBody>
      </p:sp>
      <p:pic>
        <p:nvPicPr>
          <p:cNvPr id="9" name="Image 0" descr="/home/claude/forecast_tier_deck/igs_logo.png">    </p:cNvPr>
          <p:cNvPicPr>
            <a:picLocks noChangeAspect="1"/>
          </p:cNvPicPr>
          <p:nvPr/>
        </p:nvPicPr>
        <p:blipFill>
          <a:blip r:embed="rId2"/>
          <a:stretch>
            <a:fillRect/>
          </a:stretch>
        </p:blipFill>
        <p:spPr>
          <a:xfrm>
            <a:off x="457200" y="6473952"/>
            <a:ext cx="777240" cy="202997"/>
          </a:xfrm>
          <a:prstGeom prst="rect">
            <a:avLst/>
          </a:prstGeom>
        </p:spPr>
      </p:pic>
      <p:sp>
        <p:nvSpPr>
          <p:cNvPr id="10" name="Text 6"/>
          <p:cNvSpPr/>
          <p:nvPr/>
        </p:nvSpPr>
        <p:spPr>
          <a:xfrm>
            <a:off x="11094415" y="6473952"/>
            <a:ext cx="640080" cy="274320"/>
          </a:xfrm>
          <a:prstGeom prst="rect">
            <a:avLst/>
          </a:prstGeom>
          <a:noFill/>
          <a:ln/>
        </p:spPr>
        <p:txBody>
          <a:bodyPr wrap="square" rtlCol="0" anchor="ctr"/>
          <a:lstStyle/>
          <a:p>
            <a:pPr algn="r" indent="0" marL="0">
              <a:buNone/>
            </a:pPr>
            <a:r>
              <a:rPr lang="en-US" sz="1000" dirty="0">
                <a:solidFill>
                  <a:srgbClr val="9AA5B1"/>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472184" cy="274320"/>
          </a:xfrm>
          <a:prstGeom prst="roundRect">
            <a:avLst>
              <a:gd name="adj" fmla="val 166667"/>
            </a:avLst>
          </a:prstGeom>
          <a:solidFill>
            <a:srgbClr val="005CB9"/>
          </a:solidFill>
          <a:ln/>
        </p:spPr>
      </p:sp>
      <p:sp>
        <p:nvSpPr>
          <p:cNvPr id="3" name="Text 1"/>
          <p:cNvSpPr/>
          <p:nvPr/>
        </p:nvSpPr>
        <p:spPr>
          <a:xfrm>
            <a:off x="548640" y="365760"/>
            <a:ext cx="1472184" cy="274320"/>
          </a:xfrm>
          <a:prstGeom prst="rect">
            <a:avLst/>
          </a:prstGeom>
          <a:noFill/>
          <a:ln/>
        </p:spPr>
        <p:txBody>
          <a:bodyPr wrap="square" rtlCol="0" anchor="ctr"/>
          <a:lstStyle/>
          <a:p>
            <a:pPr algn="ctr" indent="0" marL="0">
              <a:buNone/>
            </a:pPr>
            <a:r>
              <a:rPr lang="en-US" sz="900" b="1" spc="40" kern="0" dirty="0">
                <a:solidFill>
                  <a:srgbClr val="FFFFFF"/>
                </a:solidFill>
                <a:latin typeface="Calibri" pitchFamily="34" charset="0"/>
                <a:ea typeface="Calibri" pitchFamily="34" charset="-122"/>
                <a:cs typeface="Calibri" pitchFamily="34" charset="-120"/>
              </a:rPr>
              <a:t>THE FORECAST</a:t>
            </a:r>
            <a:endParaRPr lang="en-US" sz="900" dirty="0"/>
          </a:p>
        </p:txBody>
      </p:sp>
      <p:sp>
        <p:nvSpPr>
          <p:cNvPr id="4" name="Text 2"/>
          <p:cNvSpPr/>
          <p:nvPr/>
        </p:nvSpPr>
        <p:spPr>
          <a:xfrm>
            <a:off x="548640" y="365760"/>
            <a:ext cx="11064240" cy="594360"/>
          </a:xfrm>
          <a:prstGeom prst="rect">
            <a:avLst/>
          </a:prstGeom>
          <a:noFill/>
          <a:ln/>
        </p:spPr>
        <p:txBody>
          <a:bodyPr wrap="square" rtlCol="0" anchor="ctr"/>
          <a:lstStyle/>
          <a:p>
            <a:pPr indent="0" marL="0">
              <a:buNone/>
            </a:pPr>
            <a:r>
              <a:rPr lang="en-US" sz="2400" b="1" dirty="0">
                <a:solidFill>
                  <a:srgbClr val="004061"/>
                </a:solidFill>
                <a:latin typeface="Calibri" pitchFamily="34" charset="0"/>
                <a:ea typeface="Calibri" pitchFamily="34" charset="-122"/>
                <a:cs typeface="Calibri" pitchFamily="34" charset="-120"/>
              </a:rPr>
              <a:t>The 6-Month Forecast, Split by Customer Type</a:t>
            </a:r>
            <a:endParaRPr lang="en-US" sz="2400" dirty="0"/>
          </a:p>
        </p:txBody>
      </p:sp>
      <p:sp>
        <p:nvSpPr>
          <p:cNvPr id="5" name="Text 3"/>
          <p:cNvSpPr/>
          <p:nvPr/>
        </p:nvSpPr>
        <p:spPr>
          <a:xfrm>
            <a:off x="548640" y="914400"/>
            <a:ext cx="11064240" cy="411480"/>
          </a:xfrm>
          <a:prstGeom prst="rect">
            <a:avLst/>
          </a:prstGeom>
          <a:noFill/>
          <a:ln/>
        </p:spPr>
        <p:txBody>
          <a:bodyPr wrap="square" rtlCol="0" anchor="ctr"/>
          <a:lstStyle/>
          <a:p>
            <a:pPr indent="0" marL="0">
              <a:buNone/>
            </a:pPr>
            <a:r>
              <a:rPr lang="en-US" sz="1300" dirty="0">
                <a:solidFill>
                  <a:srgbClr val="44546A"/>
                </a:solidFill>
                <a:latin typeface="Calibri" pitchFamily="34" charset="0"/>
                <a:ea typeface="Calibri" pitchFamily="34" charset="-122"/>
                <a:cs typeface="Calibri" pitchFamily="34" charset="-120"/>
              </a:rPr>
              <a:t>Each customer group gets its own bar, with the exact number shown above it</a:t>
            </a:r>
            <a:endParaRPr lang="en-US" sz="1300" dirty="0"/>
          </a:p>
        </p:txBody>
      </p:sp>
      <p:graphicFrame>
        <p:nvGraphicFramePr>
          <p:cNvPr id="6" name="Chart 0" descr=""/>
          <p:cNvGraphicFramePr/>
          <p:nvPr/>
        </p:nvGraphicFramePr>
        <p:xfrm>
          <a:off x="457200" y="1691640"/>
          <a:ext cx="11247120" cy="3931920"/>
        </p:xfrm>
        <a:graphic xmlns:a="http://schemas.openxmlformats.org/drawingml/2006/main">
          <a:graphicData uri="http://schemas.openxmlformats.org/drawingml/2006/chart">
            <c:chart xmlns:c="http://schemas.openxmlformats.org/drawingml/2006/chart" r:id="rId1"/>
          </a:graphicData>
        </a:graphic>
      </p:graphicFrame>
      <p:pic>
        <p:nvPicPr>
          <p:cNvPr id="7" name="Image 0" descr="/home/claude/forecast_tier_deck/igs_logo.png">    </p:cNvPr>
          <p:cNvPicPr>
            <a:picLocks noChangeAspect="1"/>
          </p:cNvPicPr>
          <p:nvPr/>
        </p:nvPicPr>
        <p:blipFill>
          <a:blip r:embed="rId2"/>
          <a:stretch>
            <a:fillRect/>
          </a:stretch>
        </p:blipFill>
        <p:spPr>
          <a:xfrm>
            <a:off x="457200" y="6473952"/>
            <a:ext cx="777240" cy="202997"/>
          </a:xfrm>
          <a:prstGeom prst="rect">
            <a:avLst/>
          </a:prstGeom>
        </p:spPr>
      </p:pic>
      <p:sp>
        <p:nvSpPr>
          <p:cNvPr id="8" name="Text 4"/>
          <p:cNvSpPr/>
          <p:nvPr/>
        </p:nvSpPr>
        <p:spPr>
          <a:xfrm>
            <a:off x="11094415" y="6473952"/>
            <a:ext cx="640080" cy="274320"/>
          </a:xfrm>
          <a:prstGeom prst="rect">
            <a:avLst/>
          </a:prstGeom>
          <a:noFill/>
          <a:ln/>
        </p:spPr>
        <p:txBody>
          <a:bodyPr wrap="square" rtlCol="0" anchor="ctr"/>
          <a:lstStyle/>
          <a:p>
            <a:pPr algn="r" indent="0" marL="0">
              <a:buNone/>
            </a:pPr>
            <a:r>
              <a:rPr lang="en-US" sz="1000" dirty="0">
                <a:solidFill>
                  <a:srgbClr val="9AA5B1"/>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664208" cy="274320"/>
          </a:xfrm>
          <a:prstGeom prst="roundRect">
            <a:avLst>
              <a:gd name="adj" fmla="val 166667"/>
            </a:avLst>
          </a:prstGeom>
          <a:solidFill>
            <a:srgbClr val="00B9B3"/>
          </a:solidFill>
          <a:ln/>
        </p:spPr>
      </p:sp>
      <p:sp>
        <p:nvSpPr>
          <p:cNvPr id="3" name="Text 1"/>
          <p:cNvSpPr/>
          <p:nvPr/>
        </p:nvSpPr>
        <p:spPr>
          <a:xfrm>
            <a:off x="548640" y="365760"/>
            <a:ext cx="1664208" cy="274320"/>
          </a:xfrm>
          <a:prstGeom prst="rect">
            <a:avLst/>
          </a:prstGeom>
          <a:noFill/>
          <a:ln/>
        </p:spPr>
        <p:txBody>
          <a:bodyPr wrap="square" rtlCol="0" anchor="ctr"/>
          <a:lstStyle/>
          <a:p>
            <a:pPr algn="ctr" indent="0" marL="0">
              <a:buNone/>
            </a:pPr>
            <a:r>
              <a:rPr lang="en-US" sz="900" b="1" spc="40" kern="0" dirty="0">
                <a:solidFill>
                  <a:srgbClr val="FFFFFF"/>
                </a:solidFill>
                <a:latin typeface="Calibri" pitchFamily="34" charset="0"/>
                <a:ea typeface="Calibri" pitchFamily="34" charset="-122"/>
                <a:cs typeface="Calibri" pitchFamily="34" charset="-120"/>
              </a:rPr>
              <a:t>NEW CAPABILITY</a:t>
            </a:r>
            <a:endParaRPr lang="en-US" sz="900" dirty="0"/>
          </a:p>
        </p:txBody>
      </p:sp>
      <p:sp>
        <p:nvSpPr>
          <p:cNvPr id="4" name="Text 2"/>
          <p:cNvSpPr/>
          <p:nvPr/>
        </p:nvSpPr>
        <p:spPr>
          <a:xfrm>
            <a:off x="548640" y="365760"/>
            <a:ext cx="11064240" cy="594360"/>
          </a:xfrm>
          <a:prstGeom prst="rect">
            <a:avLst/>
          </a:prstGeom>
          <a:noFill/>
          <a:ln/>
        </p:spPr>
        <p:txBody>
          <a:bodyPr wrap="square" rtlCol="0" anchor="ctr"/>
          <a:lstStyle/>
          <a:p>
            <a:pPr indent="0" marL="0">
              <a:buNone/>
            </a:pPr>
            <a:r>
              <a:rPr lang="en-US" sz="2400" b="1" dirty="0">
                <a:solidFill>
                  <a:srgbClr val="004061"/>
                </a:solidFill>
                <a:latin typeface="Calibri" pitchFamily="34" charset="0"/>
                <a:ea typeface="Calibri" pitchFamily="34" charset="-122"/>
                <a:cs typeface="Calibri" pitchFamily="34" charset="-120"/>
              </a:rPr>
              <a:t>We Can Now Drill Into Any Single Day</a:t>
            </a:r>
            <a:endParaRPr lang="en-US" sz="2400" dirty="0"/>
          </a:p>
        </p:txBody>
      </p:sp>
      <p:sp>
        <p:nvSpPr>
          <p:cNvPr id="5" name="Text 3"/>
          <p:cNvSpPr/>
          <p:nvPr/>
        </p:nvSpPr>
        <p:spPr>
          <a:xfrm>
            <a:off x="548640" y="914400"/>
            <a:ext cx="11064240" cy="411480"/>
          </a:xfrm>
          <a:prstGeom prst="rect">
            <a:avLst/>
          </a:prstGeom>
          <a:noFill/>
          <a:ln/>
        </p:spPr>
        <p:txBody>
          <a:bodyPr wrap="square" rtlCol="0" anchor="ctr"/>
          <a:lstStyle/>
          <a:p>
            <a:pPr indent="0" marL="0">
              <a:buNone/>
            </a:pPr>
            <a:r>
              <a:rPr lang="en-US" sz="1300" dirty="0">
                <a:solidFill>
                  <a:srgbClr val="44546A"/>
                </a:solidFill>
                <a:latin typeface="Calibri" pitchFamily="34" charset="0"/>
                <a:ea typeface="Calibri" pitchFamily="34" charset="-122"/>
                <a:cs typeface="Calibri" pitchFamily="34" charset="-120"/>
              </a:rPr>
              <a:t>Not just the monthly total — every day, broken down the same way</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1828800"/>
                <a:gridCol w="1554480"/>
                <a:gridCol w="1554480"/>
                <a:gridCol w="1554480"/>
                <a:gridCol w="1554480"/>
                <a:gridCol w="1508760"/>
                <a:gridCol w="1508760"/>
              </a:tblGrid>
              <a:tr h="502920">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Date</a:t>
                      </a:r>
                      <a:endParaRPr lang="en-US" sz="115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004061"/>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Day</a:t>
                      </a:r>
                      <a:endParaRPr lang="en-US" sz="115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004061"/>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Total</a:t>
                      </a:r>
                      <a:endParaRPr lang="en-US" sz="115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004061"/>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High</a:t>
                      </a:r>
                      <a:endParaRPr lang="en-US" sz="115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004061"/>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Medium</a:t>
                      </a:r>
                      <a:endParaRPr lang="en-US" sz="115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004061"/>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Low</a:t>
                      </a:r>
                      <a:endParaRPr lang="en-US" sz="115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004061"/>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Unknown</a:t>
                      </a:r>
                      <a:endParaRPr lang="en-US" sz="115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004061"/>
                    </a:solidFill>
                  </a:tcPr>
                </a:tc>
              </a:tr>
              <a:tr h="502920">
                <a:tc>
                  <a:txBody>
                    <a:bodyPr/>
                    <a:lstStyle/>
                    <a:p>
                      <a:pPr algn="ctr" indent="0" marL="0">
                        <a:buNone/>
                      </a:pPr>
                      <a:r>
                        <a:rPr lang="en-US" sz="1150" b="1" dirty="0">
                          <a:solidFill>
                            <a:srgbClr val="3C3C3C"/>
                          </a:solidFill>
                          <a:latin typeface="Calibri" pitchFamily="34" charset="0"/>
                          <a:ea typeface="Calibri" pitchFamily="34" charset="-122"/>
                          <a:cs typeface="Calibri" pitchFamily="34" charset="-120"/>
                        </a:rPr>
                        <a:t>Aug 3, 2026</a:t>
                      </a:r>
                      <a:endParaRPr lang="en-US" sz="115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C3C3C"/>
                          </a:solidFill>
                          <a:latin typeface="Calibri" pitchFamily="34" charset="0"/>
                          <a:ea typeface="Calibri" pitchFamily="34" charset="-122"/>
                          <a:cs typeface="Calibri" pitchFamily="34" charset="-120"/>
                        </a:rPr>
                        <a:t>Monday</a:t>
                      </a:r>
                      <a:endParaRPr lang="en-US" sz="115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C3C3C"/>
                          </a:solidFill>
                          <a:latin typeface="Calibri" pitchFamily="34" charset="0"/>
                          <a:ea typeface="Calibri" pitchFamily="34" charset="-122"/>
                          <a:cs typeface="Calibri" pitchFamily="34" charset="-120"/>
                        </a:rPr>
                        <a:t>4,676</a:t>
                      </a:r>
                      <a:endParaRPr lang="en-US" sz="115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C3C3C"/>
                          </a:solidFill>
                          <a:latin typeface="Calibri" pitchFamily="34" charset="0"/>
                          <a:ea typeface="Calibri" pitchFamily="34" charset="-122"/>
                          <a:cs typeface="Calibri" pitchFamily="34" charset="-120"/>
                        </a:rPr>
                        <a:t>2,661</a:t>
                      </a:r>
                      <a:endParaRPr lang="en-US" sz="115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C3C3C"/>
                          </a:solidFill>
                          <a:latin typeface="Calibri" pitchFamily="34" charset="0"/>
                          <a:ea typeface="Calibri" pitchFamily="34" charset="-122"/>
                          <a:cs typeface="Calibri" pitchFamily="34" charset="-120"/>
                        </a:rPr>
                        <a:t>1,047</a:t>
                      </a:r>
                      <a:endParaRPr lang="en-US" sz="115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C3C3C"/>
                          </a:solidFill>
                          <a:latin typeface="Calibri" pitchFamily="34" charset="0"/>
                          <a:ea typeface="Calibri" pitchFamily="34" charset="-122"/>
                          <a:cs typeface="Calibri" pitchFamily="34" charset="-120"/>
                        </a:rPr>
                        <a:t>603</a:t>
                      </a:r>
                      <a:endParaRPr lang="en-US" sz="115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C3C3C"/>
                          </a:solidFill>
                          <a:latin typeface="Calibri" pitchFamily="34" charset="0"/>
                          <a:ea typeface="Calibri" pitchFamily="34" charset="-122"/>
                          <a:cs typeface="Calibri" pitchFamily="34" charset="-120"/>
                        </a:rPr>
                        <a:t>365</a:t>
                      </a:r>
                      <a:endParaRPr lang="en-US" sz="115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FFFFF"/>
                    </a:solidFill>
                  </a:tcPr>
                </a:tc>
              </a:tr>
              <a:tr h="502920">
                <a:tc>
                  <a:txBody>
                    <a:bodyPr/>
                    <a:lstStyle/>
                    <a:p>
                      <a:pPr algn="ctr" indent="0" marL="0">
                        <a:buNone/>
                      </a:pPr>
                      <a:r>
                        <a:rPr lang="en-US" sz="1150" b="1" dirty="0">
                          <a:solidFill>
                            <a:srgbClr val="3C3C3C"/>
                          </a:solidFill>
                          <a:latin typeface="Calibri" pitchFamily="34" charset="0"/>
                          <a:ea typeface="Calibri" pitchFamily="34" charset="-122"/>
                          <a:cs typeface="Calibri" pitchFamily="34" charset="-120"/>
                        </a:rPr>
                        <a:t>Aug 4, 2026</a:t>
                      </a:r>
                      <a:endParaRPr lang="en-US" sz="115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5F8FA"/>
                    </a:solidFill>
                  </a:tcPr>
                </a:tc>
                <a:tc>
                  <a:txBody>
                    <a:bodyPr/>
                    <a:lstStyle/>
                    <a:p>
                      <a:pPr algn="ctr" indent="0" marL="0">
                        <a:buNone/>
                      </a:pPr>
                      <a:r>
                        <a:rPr lang="en-US" sz="1150" dirty="0">
                          <a:solidFill>
                            <a:srgbClr val="3C3C3C"/>
                          </a:solidFill>
                          <a:latin typeface="Calibri" pitchFamily="34" charset="0"/>
                          <a:ea typeface="Calibri" pitchFamily="34" charset="-122"/>
                          <a:cs typeface="Calibri" pitchFamily="34" charset="-120"/>
                        </a:rPr>
                        <a:t>Tuesday</a:t>
                      </a:r>
                      <a:endParaRPr lang="en-US" sz="115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5F8FA"/>
                    </a:solidFill>
                  </a:tcPr>
                </a:tc>
                <a:tc>
                  <a:txBody>
                    <a:bodyPr/>
                    <a:lstStyle/>
                    <a:p>
                      <a:pPr algn="ctr" indent="0" marL="0">
                        <a:buNone/>
                      </a:pPr>
                      <a:r>
                        <a:rPr lang="en-US" sz="1150" dirty="0">
                          <a:solidFill>
                            <a:srgbClr val="3C3C3C"/>
                          </a:solidFill>
                          <a:latin typeface="Calibri" pitchFamily="34" charset="0"/>
                          <a:ea typeface="Calibri" pitchFamily="34" charset="-122"/>
                          <a:cs typeface="Calibri" pitchFamily="34" charset="-120"/>
                        </a:rPr>
                        <a:t>3,653</a:t>
                      </a:r>
                      <a:endParaRPr lang="en-US" sz="115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5F8FA"/>
                    </a:solidFill>
                  </a:tcPr>
                </a:tc>
                <a:tc>
                  <a:txBody>
                    <a:bodyPr/>
                    <a:lstStyle/>
                    <a:p>
                      <a:pPr algn="ctr" indent="0" marL="0">
                        <a:buNone/>
                      </a:pPr>
                      <a:r>
                        <a:rPr lang="en-US" sz="1150" dirty="0">
                          <a:solidFill>
                            <a:srgbClr val="3C3C3C"/>
                          </a:solidFill>
                          <a:latin typeface="Calibri" pitchFamily="34" charset="0"/>
                          <a:ea typeface="Calibri" pitchFamily="34" charset="-122"/>
                          <a:cs typeface="Calibri" pitchFamily="34" charset="-120"/>
                        </a:rPr>
                        <a:t>2,079</a:t>
                      </a:r>
                      <a:endParaRPr lang="en-US" sz="115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5F8FA"/>
                    </a:solidFill>
                  </a:tcPr>
                </a:tc>
                <a:tc>
                  <a:txBody>
                    <a:bodyPr/>
                    <a:lstStyle/>
                    <a:p>
                      <a:pPr algn="ctr" indent="0" marL="0">
                        <a:buNone/>
                      </a:pPr>
                      <a:r>
                        <a:rPr lang="en-US" sz="1150" dirty="0">
                          <a:solidFill>
                            <a:srgbClr val="3C3C3C"/>
                          </a:solidFill>
                          <a:latin typeface="Calibri" pitchFamily="34" charset="0"/>
                          <a:ea typeface="Calibri" pitchFamily="34" charset="-122"/>
                          <a:cs typeface="Calibri" pitchFamily="34" charset="-120"/>
                        </a:rPr>
                        <a:t>818</a:t>
                      </a:r>
                      <a:endParaRPr lang="en-US" sz="115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5F8FA"/>
                    </a:solidFill>
                  </a:tcPr>
                </a:tc>
                <a:tc>
                  <a:txBody>
                    <a:bodyPr/>
                    <a:lstStyle/>
                    <a:p>
                      <a:pPr algn="ctr" indent="0" marL="0">
                        <a:buNone/>
                      </a:pPr>
                      <a:r>
                        <a:rPr lang="en-US" sz="1150" dirty="0">
                          <a:solidFill>
                            <a:srgbClr val="3C3C3C"/>
                          </a:solidFill>
                          <a:latin typeface="Calibri" pitchFamily="34" charset="0"/>
                          <a:ea typeface="Calibri" pitchFamily="34" charset="-122"/>
                          <a:cs typeface="Calibri" pitchFamily="34" charset="-120"/>
                        </a:rPr>
                        <a:t>471</a:t>
                      </a:r>
                      <a:endParaRPr lang="en-US" sz="115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5F8FA"/>
                    </a:solidFill>
                  </a:tcPr>
                </a:tc>
                <a:tc>
                  <a:txBody>
                    <a:bodyPr/>
                    <a:lstStyle/>
                    <a:p>
                      <a:pPr algn="ctr" indent="0" marL="0">
                        <a:buNone/>
                      </a:pPr>
                      <a:r>
                        <a:rPr lang="en-US" sz="1150" dirty="0">
                          <a:solidFill>
                            <a:srgbClr val="3C3C3C"/>
                          </a:solidFill>
                          <a:latin typeface="Calibri" pitchFamily="34" charset="0"/>
                          <a:ea typeface="Calibri" pitchFamily="34" charset="-122"/>
                          <a:cs typeface="Calibri" pitchFamily="34" charset="-120"/>
                        </a:rPr>
                        <a:t>285</a:t>
                      </a:r>
                      <a:endParaRPr lang="en-US" sz="115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5F8FA"/>
                    </a:solidFill>
                  </a:tcPr>
                </a:tc>
              </a:tr>
              <a:tr h="502920">
                <a:tc>
                  <a:txBody>
                    <a:bodyPr/>
                    <a:lstStyle/>
                    <a:p>
                      <a:pPr algn="ctr" indent="0" marL="0">
                        <a:buNone/>
                      </a:pPr>
                      <a:r>
                        <a:rPr lang="en-US" sz="1150" b="1" dirty="0">
                          <a:solidFill>
                            <a:srgbClr val="3C3C3C"/>
                          </a:solidFill>
                          <a:latin typeface="Calibri" pitchFamily="34" charset="0"/>
                          <a:ea typeface="Calibri" pitchFamily="34" charset="-122"/>
                          <a:cs typeface="Calibri" pitchFamily="34" charset="-120"/>
                        </a:rPr>
                        <a:t>Aug 5, 2026</a:t>
                      </a:r>
                      <a:endParaRPr lang="en-US" sz="115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C3C3C"/>
                          </a:solidFill>
                          <a:latin typeface="Calibri" pitchFamily="34" charset="0"/>
                          <a:ea typeface="Calibri" pitchFamily="34" charset="-122"/>
                          <a:cs typeface="Calibri" pitchFamily="34" charset="-120"/>
                        </a:rPr>
                        <a:t>Wednesday</a:t>
                      </a:r>
                      <a:endParaRPr lang="en-US" sz="115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C3C3C"/>
                          </a:solidFill>
                          <a:latin typeface="Calibri" pitchFamily="34" charset="0"/>
                          <a:ea typeface="Calibri" pitchFamily="34" charset="-122"/>
                          <a:cs typeface="Calibri" pitchFamily="34" charset="-120"/>
                        </a:rPr>
                        <a:t>3,353</a:t>
                      </a:r>
                      <a:endParaRPr lang="en-US" sz="115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C3C3C"/>
                          </a:solidFill>
                          <a:latin typeface="Calibri" pitchFamily="34" charset="0"/>
                          <a:ea typeface="Calibri" pitchFamily="34" charset="-122"/>
                          <a:cs typeface="Calibri" pitchFamily="34" charset="-120"/>
                        </a:rPr>
                        <a:t>1,908</a:t>
                      </a:r>
                      <a:endParaRPr lang="en-US" sz="115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C3C3C"/>
                          </a:solidFill>
                          <a:latin typeface="Calibri" pitchFamily="34" charset="0"/>
                          <a:ea typeface="Calibri" pitchFamily="34" charset="-122"/>
                          <a:cs typeface="Calibri" pitchFamily="34" charset="-120"/>
                        </a:rPr>
                        <a:t>751</a:t>
                      </a:r>
                      <a:endParaRPr lang="en-US" sz="115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C3C3C"/>
                          </a:solidFill>
                          <a:latin typeface="Calibri" pitchFamily="34" charset="0"/>
                          <a:ea typeface="Calibri" pitchFamily="34" charset="-122"/>
                          <a:cs typeface="Calibri" pitchFamily="34" charset="-120"/>
                        </a:rPr>
                        <a:t>433</a:t>
                      </a:r>
                      <a:endParaRPr lang="en-US" sz="115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C3C3C"/>
                          </a:solidFill>
                          <a:latin typeface="Calibri" pitchFamily="34" charset="0"/>
                          <a:ea typeface="Calibri" pitchFamily="34" charset="-122"/>
                          <a:cs typeface="Calibri" pitchFamily="34" charset="-120"/>
                        </a:rPr>
                        <a:t>232</a:t>
                      </a:r>
                      <a:endParaRPr lang="en-US" sz="115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FFFFF"/>
                    </a:solidFill>
                  </a:tcPr>
                </a:tc>
              </a:tr>
              <a:tr h="502920">
                <a:tc>
                  <a:txBody>
                    <a:bodyPr/>
                    <a:lstStyle/>
                    <a:p>
                      <a:pPr algn="ctr" indent="0" marL="0">
                        <a:buNone/>
                      </a:pPr>
                      <a:r>
                        <a:rPr lang="en-US" sz="1150" b="1" dirty="0">
                          <a:solidFill>
                            <a:srgbClr val="3C3C3C"/>
                          </a:solidFill>
                          <a:latin typeface="Calibri" pitchFamily="34" charset="0"/>
                          <a:ea typeface="Calibri" pitchFamily="34" charset="-122"/>
                          <a:cs typeface="Calibri" pitchFamily="34" charset="-120"/>
                        </a:rPr>
                        <a:t>Aug 8, 2026</a:t>
                      </a:r>
                      <a:endParaRPr lang="en-US" sz="115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5F8FA"/>
                    </a:solidFill>
                  </a:tcPr>
                </a:tc>
                <a:tc>
                  <a:txBody>
                    <a:bodyPr/>
                    <a:lstStyle/>
                    <a:p>
                      <a:pPr algn="ctr" indent="0" marL="0">
                        <a:buNone/>
                      </a:pPr>
                      <a:r>
                        <a:rPr lang="en-US" sz="1150" dirty="0">
                          <a:solidFill>
                            <a:srgbClr val="3C3C3C"/>
                          </a:solidFill>
                          <a:latin typeface="Calibri" pitchFamily="34" charset="0"/>
                          <a:ea typeface="Calibri" pitchFamily="34" charset="-122"/>
                          <a:cs typeface="Calibri" pitchFamily="34" charset="-120"/>
                        </a:rPr>
                        <a:t>Saturday</a:t>
                      </a:r>
                      <a:endParaRPr lang="en-US" sz="115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5F8FA"/>
                    </a:solidFill>
                  </a:tcPr>
                </a:tc>
                <a:tc>
                  <a:txBody>
                    <a:bodyPr/>
                    <a:lstStyle/>
                    <a:p>
                      <a:pPr algn="ctr" indent="0" marL="0">
                        <a:buNone/>
                      </a:pPr>
                      <a:r>
                        <a:rPr lang="en-US" sz="1150" dirty="0">
                          <a:solidFill>
                            <a:srgbClr val="3C3C3C"/>
                          </a:solidFill>
                          <a:latin typeface="Calibri" pitchFamily="34" charset="0"/>
                          <a:ea typeface="Calibri" pitchFamily="34" charset="-122"/>
                          <a:cs typeface="Calibri" pitchFamily="34" charset="-120"/>
                        </a:rPr>
                        <a:t>1,302</a:t>
                      </a:r>
                      <a:endParaRPr lang="en-US" sz="115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5F8FA"/>
                    </a:solidFill>
                  </a:tcPr>
                </a:tc>
                <a:tc>
                  <a:txBody>
                    <a:bodyPr/>
                    <a:lstStyle/>
                    <a:p>
                      <a:pPr algn="ctr" indent="0" marL="0">
                        <a:buNone/>
                      </a:pPr>
                      <a:r>
                        <a:rPr lang="en-US" sz="1150" dirty="0">
                          <a:solidFill>
                            <a:srgbClr val="3C3C3C"/>
                          </a:solidFill>
                          <a:latin typeface="Calibri" pitchFamily="34" charset="0"/>
                          <a:ea typeface="Calibri" pitchFamily="34" charset="-122"/>
                          <a:cs typeface="Calibri" pitchFamily="34" charset="-120"/>
                        </a:rPr>
                        <a:t>741</a:t>
                      </a:r>
                      <a:endParaRPr lang="en-US" sz="115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5F8FA"/>
                    </a:solidFill>
                  </a:tcPr>
                </a:tc>
                <a:tc>
                  <a:txBody>
                    <a:bodyPr/>
                    <a:lstStyle/>
                    <a:p>
                      <a:pPr algn="ctr" indent="0" marL="0">
                        <a:buNone/>
                      </a:pPr>
                      <a:r>
                        <a:rPr lang="en-US" sz="1150" dirty="0">
                          <a:solidFill>
                            <a:srgbClr val="3C3C3C"/>
                          </a:solidFill>
                          <a:latin typeface="Calibri" pitchFamily="34" charset="0"/>
                          <a:ea typeface="Calibri" pitchFamily="34" charset="-122"/>
                          <a:cs typeface="Calibri" pitchFamily="34" charset="-120"/>
                        </a:rPr>
                        <a:t>292</a:t>
                      </a:r>
                      <a:endParaRPr lang="en-US" sz="115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5F8FA"/>
                    </a:solidFill>
                  </a:tcPr>
                </a:tc>
                <a:tc>
                  <a:txBody>
                    <a:bodyPr/>
                    <a:lstStyle/>
                    <a:p>
                      <a:pPr algn="ctr" indent="0" marL="0">
                        <a:buNone/>
                      </a:pPr>
                      <a:r>
                        <a:rPr lang="en-US" sz="1150" dirty="0">
                          <a:solidFill>
                            <a:srgbClr val="3C3C3C"/>
                          </a:solidFill>
                          <a:latin typeface="Calibri" pitchFamily="34" charset="0"/>
                          <a:ea typeface="Calibri" pitchFamily="34" charset="-122"/>
                          <a:cs typeface="Calibri" pitchFamily="34" charset="-120"/>
                        </a:rPr>
                        <a:t>168</a:t>
                      </a:r>
                      <a:endParaRPr lang="en-US" sz="115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5F8FA"/>
                    </a:solidFill>
                  </a:tcPr>
                </a:tc>
                <a:tc>
                  <a:txBody>
                    <a:bodyPr/>
                    <a:lstStyle/>
                    <a:p>
                      <a:pPr algn="ctr" indent="0" marL="0">
                        <a:buNone/>
                      </a:pPr>
                      <a:r>
                        <a:rPr lang="en-US" sz="1150" dirty="0">
                          <a:solidFill>
                            <a:srgbClr val="3C3C3C"/>
                          </a:solidFill>
                          <a:latin typeface="Calibri" pitchFamily="34" charset="0"/>
                          <a:ea typeface="Calibri" pitchFamily="34" charset="-122"/>
                          <a:cs typeface="Calibri" pitchFamily="34" charset="-120"/>
                        </a:rPr>
                        <a:t>102</a:t>
                      </a:r>
                      <a:endParaRPr lang="en-US" sz="115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5F8FA"/>
                    </a:solidFill>
                  </a:tcPr>
                </a:tc>
              </a:tr>
              <a:tr h="502920">
                <a:tc>
                  <a:txBody>
                    <a:bodyPr/>
                    <a:lstStyle/>
                    <a:p>
                      <a:pPr algn="ctr" indent="0" marL="0">
                        <a:buNone/>
                      </a:pPr>
                      <a:r>
                        <a:rPr lang="en-US" sz="1150" b="1" dirty="0">
                          <a:solidFill>
                            <a:srgbClr val="3C3C3C"/>
                          </a:solidFill>
                          <a:latin typeface="Calibri" pitchFamily="34" charset="0"/>
                          <a:ea typeface="Calibri" pitchFamily="34" charset="-122"/>
                          <a:cs typeface="Calibri" pitchFamily="34" charset="-120"/>
                        </a:rPr>
                        <a:t>Aug 9, 2026</a:t>
                      </a:r>
                      <a:endParaRPr lang="en-US" sz="115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C3C3C"/>
                          </a:solidFill>
                          <a:latin typeface="Calibri" pitchFamily="34" charset="0"/>
                          <a:ea typeface="Calibri" pitchFamily="34" charset="-122"/>
                          <a:cs typeface="Calibri" pitchFamily="34" charset="-120"/>
                        </a:rPr>
                        <a:t>Sunday</a:t>
                      </a:r>
                      <a:endParaRPr lang="en-US" sz="115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C3C3C"/>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C3C3C"/>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C3C3C"/>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C3C3C"/>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C3C3C"/>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4937760"/>
            <a:ext cx="11064240" cy="1417320"/>
          </a:xfrm>
          <a:prstGeom prst="roundRect">
            <a:avLst>
              <a:gd name="adj" fmla="val 5161"/>
            </a:avLst>
          </a:prstGeom>
          <a:solidFill>
            <a:srgbClr val="F5F8FA"/>
          </a:solidFill>
          <a:ln/>
        </p:spPr>
      </p:sp>
      <p:sp>
        <p:nvSpPr>
          <p:cNvPr id="8" name="Text 5"/>
          <p:cNvSpPr/>
          <p:nvPr/>
        </p:nvSpPr>
        <p:spPr>
          <a:xfrm>
            <a:off x="822960" y="5074920"/>
            <a:ext cx="2743200" cy="320040"/>
          </a:xfrm>
          <a:prstGeom prst="rect">
            <a:avLst/>
          </a:prstGeom>
          <a:noFill/>
          <a:ln/>
        </p:spPr>
        <p:txBody>
          <a:bodyPr wrap="square" rtlCol="0" anchor="ctr"/>
          <a:lstStyle/>
          <a:p>
            <a:pPr indent="0" marL="0">
              <a:buNone/>
            </a:pPr>
            <a:r>
              <a:rPr lang="en-US" sz="1300" b="1" dirty="0">
                <a:solidFill>
                  <a:srgbClr val="004061"/>
                </a:solidFill>
                <a:latin typeface="Calibri" pitchFamily="34" charset="0"/>
                <a:ea typeface="Calibri" pitchFamily="34" charset="-122"/>
                <a:cs typeface="Calibri" pitchFamily="34" charset="-120"/>
              </a:rPr>
              <a:t>In plain terms:</a:t>
            </a:r>
            <a:endParaRPr lang="en-US" sz="1300" dirty="0"/>
          </a:p>
        </p:txBody>
      </p:sp>
      <p:sp>
        <p:nvSpPr>
          <p:cNvPr id="9" name="Text 6"/>
          <p:cNvSpPr/>
          <p:nvPr/>
        </p:nvSpPr>
        <p:spPr>
          <a:xfrm>
            <a:off x="822960" y="5394960"/>
            <a:ext cx="10515600" cy="822960"/>
          </a:xfrm>
          <a:prstGeom prst="rect">
            <a:avLst/>
          </a:prstGeom>
          <a:noFill/>
          <a:ln/>
        </p:spPr>
        <p:txBody>
          <a:bodyPr wrap="square" rtlCol="0" anchor="ctr"/>
          <a:lstStyle/>
          <a:p>
            <a:pPr indent="0" marL="0">
              <a:lnSpc>
                <a:spcPct val="125000"/>
              </a:lnSpc>
              <a:buNone/>
            </a:pPr>
            <a:r>
              <a:rPr lang="en-US" sz="1250" dirty="0">
                <a:solidFill>
                  <a:srgbClr val="3C3C3C"/>
                </a:solidFill>
                <a:latin typeface="Calibri" pitchFamily="34" charset="0"/>
                <a:ea typeface="Calibri" pitchFamily="34" charset="-122"/>
                <a:cs typeface="Calibri" pitchFamily="34" charset="-120"/>
              </a:rPr>
              <a:t>Sundays correctly show zero every time, since the call center is closed — a good sign the math is working right. This table exists for all 184 days in the forecast, not just the five shown here.</a:t>
            </a:r>
            <a:endParaRPr lang="en-US" sz="1250" dirty="0"/>
          </a:p>
        </p:txBody>
      </p:sp>
      <p:pic>
        <p:nvPicPr>
          <p:cNvPr id="10" name="Image 0" descr="/home/claude/forecast_tier_deck/igs_logo.png">    </p:cNvPr>
          <p:cNvPicPr>
            <a:picLocks noChangeAspect="1"/>
          </p:cNvPicPr>
          <p:nvPr/>
        </p:nvPicPr>
        <p:blipFill>
          <a:blip r:embed="rId1"/>
          <a:stretch>
            <a:fillRect/>
          </a:stretch>
        </p:blipFill>
        <p:spPr>
          <a:xfrm>
            <a:off x="457200" y="6473952"/>
            <a:ext cx="777240" cy="202997"/>
          </a:xfrm>
          <a:prstGeom prst="rect">
            <a:avLst/>
          </a:prstGeom>
        </p:spPr>
      </p:pic>
      <p:sp>
        <p:nvSpPr>
          <p:cNvPr id="11" name="Text 7"/>
          <p:cNvSpPr/>
          <p:nvPr/>
        </p:nvSpPr>
        <p:spPr>
          <a:xfrm>
            <a:off x="11094415" y="6473952"/>
            <a:ext cx="640080" cy="274320"/>
          </a:xfrm>
          <a:prstGeom prst="rect">
            <a:avLst/>
          </a:prstGeom>
          <a:noFill/>
          <a:ln/>
        </p:spPr>
        <p:txBody>
          <a:bodyPr wrap="square" rtlCol="0" anchor="ctr"/>
          <a:lstStyle/>
          <a:p>
            <a:pPr algn="r" indent="0" marL="0">
              <a:buNone/>
            </a:pPr>
            <a:r>
              <a:rPr lang="en-US" sz="1000" dirty="0">
                <a:solidFill>
                  <a:srgbClr val="9AA5B1"/>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952244" cy="274320"/>
          </a:xfrm>
          <a:prstGeom prst="roundRect">
            <a:avLst>
              <a:gd name="adj" fmla="val 166667"/>
            </a:avLst>
          </a:prstGeom>
          <a:solidFill>
            <a:srgbClr val="F4A600"/>
          </a:solidFill>
          <a:ln/>
        </p:spPr>
      </p:sp>
      <p:sp>
        <p:nvSpPr>
          <p:cNvPr id="3" name="Text 1"/>
          <p:cNvSpPr/>
          <p:nvPr/>
        </p:nvSpPr>
        <p:spPr>
          <a:xfrm>
            <a:off x="548640" y="365760"/>
            <a:ext cx="1952244" cy="274320"/>
          </a:xfrm>
          <a:prstGeom prst="rect">
            <a:avLst/>
          </a:prstGeom>
          <a:noFill/>
          <a:ln/>
        </p:spPr>
        <p:txBody>
          <a:bodyPr wrap="square" rtlCol="0" anchor="ctr"/>
          <a:lstStyle/>
          <a:p>
            <a:pPr algn="ctr" indent="0" marL="0">
              <a:buNone/>
            </a:pPr>
            <a:r>
              <a:rPr lang="en-US" sz="900" b="1" spc="40" kern="0" dirty="0">
                <a:solidFill>
                  <a:srgbClr val="FFFFFF"/>
                </a:solidFill>
                <a:latin typeface="Calibri" pitchFamily="34" charset="0"/>
                <a:ea typeface="Calibri" pitchFamily="34" charset="-122"/>
                <a:cs typeface="Calibri" pitchFamily="34" charset="-120"/>
              </a:rPr>
              <a:t>CHECKING OUR WORK</a:t>
            </a:r>
            <a:endParaRPr lang="en-US" sz="900" dirty="0"/>
          </a:p>
        </p:txBody>
      </p:sp>
      <p:sp>
        <p:nvSpPr>
          <p:cNvPr id="4" name="Text 2"/>
          <p:cNvSpPr/>
          <p:nvPr/>
        </p:nvSpPr>
        <p:spPr>
          <a:xfrm>
            <a:off x="548640" y="365760"/>
            <a:ext cx="11064240" cy="594360"/>
          </a:xfrm>
          <a:prstGeom prst="rect">
            <a:avLst/>
          </a:prstGeom>
          <a:noFill/>
          <a:ln/>
        </p:spPr>
        <p:txBody>
          <a:bodyPr wrap="square" rtlCol="0" anchor="ctr"/>
          <a:lstStyle/>
          <a:p>
            <a:pPr indent="0" marL="0">
              <a:buNone/>
            </a:pPr>
            <a:r>
              <a:rPr lang="en-US" sz="2400" b="1" dirty="0">
                <a:solidFill>
                  <a:srgbClr val="004061"/>
                </a:solidFill>
                <a:latin typeface="Calibri" pitchFamily="34" charset="0"/>
                <a:ea typeface="Calibri" pitchFamily="34" charset="-122"/>
                <a:cs typeface="Calibri" pitchFamily="34" charset="-120"/>
              </a:rPr>
              <a:t>Forecast vs. What Actually Happened</a:t>
            </a:r>
            <a:endParaRPr lang="en-US" sz="2400" dirty="0"/>
          </a:p>
        </p:txBody>
      </p:sp>
      <p:sp>
        <p:nvSpPr>
          <p:cNvPr id="5" name="Text 3"/>
          <p:cNvSpPr/>
          <p:nvPr/>
        </p:nvSpPr>
        <p:spPr>
          <a:xfrm>
            <a:off x="548640" y="914400"/>
            <a:ext cx="11064240" cy="411480"/>
          </a:xfrm>
          <a:prstGeom prst="rect">
            <a:avLst/>
          </a:prstGeom>
          <a:noFill/>
          <a:ln/>
        </p:spPr>
        <p:txBody>
          <a:bodyPr wrap="square" rtlCol="0" anchor="ctr"/>
          <a:lstStyle/>
          <a:p>
            <a:pPr indent="0" marL="0">
              <a:buNone/>
            </a:pPr>
            <a:r>
              <a:rPr lang="en-US" sz="1300" dirty="0">
                <a:solidFill>
                  <a:srgbClr val="44546A"/>
                </a:solidFill>
                <a:latin typeface="Calibri" pitchFamily="34" charset="0"/>
                <a:ea typeface="Calibri" pitchFamily="34" charset="-122"/>
                <a:cs typeface="Calibri" pitchFamily="34" charset="-120"/>
              </a:rPr>
              <a:t>The first real test, using real early-August results</a:t>
            </a:r>
            <a:endParaRPr lang="en-US" sz="1300" dirty="0"/>
          </a:p>
        </p:txBody>
      </p:sp>
      <p:graphicFrame>
        <p:nvGraphicFramePr>
          <p:cNvPr id="6" name="Chart 0" descr=""/>
          <p:cNvGraphicFramePr/>
          <p:nvPr/>
        </p:nvGraphicFramePr>
        <p:xfrm>
          <a:off x="1188720" y="1691640"/>
          <a:ext cx="9784080" cy="356616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48640" y="5486400"/>
            <a:ext cx="11064240" cy="914400"/>
          </a:xfrm>
          <a:prstGeom prst="roundRect">
            <a:avLst>
              <a:gd name="adj" fmla="val 6000"/>
            </a:avLst>
          </a:prstGeom>
          <a:solidFill>
            <a:srgbClr val="FDF3E3"/>
          </a:solidFill>
          <a:ln/>
        </p:spPr>
      </p:sp>
      <p:sp>
        <p:nvSpPr>
          <p:cNvPr id="8" name="Text 5"/>
          <p:cNvSpPr/>
          <p:nvPr/>
        </p:nvSpPr>
        <p:spPr>
          <a:xfrm>
            <a:off x="822960" y="5577840"/>
            <a:ext cx="10515600" cy="777240"/>
          </a:xfrm>
          <a:prstGeom prst="rect">
            <a:avLst/>
          </a:prstGeom>
          <a:noFill/>
          <a:ln/>
        </p:spPr>
        <p:txBody>
          <a:bodyPr wrap="square" rtlCol="0" anchor="ctr"/>
          <a:lstStyle/>
          <a:p>
            <a:pPr indent="0" marL="0">
              <a:lnSpc>
                <a:spcPct val="120000"/>
              </a:lnSpc>
              <a:buNone/>
            </a:pPr>
            <a:r>
              <a:rPr lang="en-US" sz="1250" dirty="0">
                <a:solidFill>
                  <a:srgbClr val="3C3C3C"/>
                </a:solidFill>
                <a:latin typeface="Calibri" pitchFamily="34" charset="0"/>
                <a:ea typeface="Calibri" pitchFamily="34" charset="-122"/>
                <a:cs typeface="Calibri" pitchFamily="34" charset="-120"/>
              </a:rPr>
              <a:t>In plain terms: real calls came in higher than predicted on both days (+50% and +21%) — flagged for follow-up. This may connect to this month's high bills, which were also called out as driving customer contacts this month.</a:t>
            </a:r>
            <a:endParaRPr lang="en-US" sz="1250" dirty="0"/>
          </a:p>
        </p:txBody>
      </p:sp>
      <p:pic>
        <p:nvPicPr>
          <p:cNvPr id="9" name="Image 0" descr="/home/claude/forecast_tier_deck/igs_logo.png">    </p:cNvPr>
          <p:cNvPicPr>
            <a:picLocks noChangeAspect="1"/>
          </p:cNvPicPr>
          <p:nvPr/>
        </p:nvPicPr>
        <p:blipFill>
          <a:blip r:embed="rId2"/>
          <a:stretch>
            <a:fillRect/>
          </a:stretch>
        </p:blipFill>
        <p:spPr>
          <a:xfrm>
            <a:off x="457200" y="6473952"/>
            <a:ext cx="777240" cy="202997"/>
          </a:xfrm>
          <a:prstGeom prst="rect">
            <a:avLst/>
          </a:prstGeom>
        </p:spPr>
      </p:pic>
      <p:sp>
        <p:nvSpPr>
          <p:cNvPr id="10" name="Text 6"/>
          <p:cNvSpPr/>
          <p:nvPr/>
        </p:nvSpPr>
        <p:spPr>
          <a:xfrm>
            <a:off x="11094415" y="6473952"/>
            <a:ext cx="640080" cy="274320"/>
          </a:xfrm>
          <a:prstGeom prst="rect">
            <a:avLst/>
          </a:prstGeom>
          <a:noFill/>
          <a:ln/>
        </p:spPr>
        <p:txBody>
          <a:bodyPr wrap="square" rtlCol="0" anchor="ctr"/>
          <a:lstStyle/>
          <a:p>
            <a:pPr algn="r" indent="0" marL="0">
              <a:buNone/>
            </a:pPr>
            <a:r>
              <a:rPr lang="en-US" sz="1000" dirty="0">
                <a:solidFill>
                  <a:srgbClr val="9AA5B1"/>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594360"/>
          </a:xfrm>
          <a:prstGeom prst="rect">
            <a:avLst/>
          </a:prstGeom>
          <a:noFill/>
          <a:ln/>
        </p:spPr>
        <p:txBody>
          <a:bodyPr wrap="square" rtlCol="0" anchor="ctr"/>
          <a:lstStyle/>
          <a:p>
            <a:pPr indent="0" marL="0">
              <a:buNone/>
            </a:pPr>
            <a:r>
              <a:rPr lang="en-US" sz="2400" b="1" dirty="0">
                <a:solidFill>
                  <a:srgbClr val="004061"/>
                </a:solidFill>
                <a:latin typeface="Calibri" pitchFamily="34" charset="0"/>
                <a:ea typeface="Calibri" pitchFamily="34" charset="-122"/>
                <a:cs typeface="Calibri" pitchFamily="34" charset="-120"/>
              </a:rPr>
              <a:t>Key Findings</a:t>
            </a:r>
            <a:endParaRPr lang="en-US" sz="2400" dirty="0"/>
          </a:p>
        </p:txBody>
      </p:sp>
      <p:sp>
        <p:nvSpPr>
          <p:cNvPr id="3" name="Shape 1"/>
          <p:cNvSpPr/>
          <p:nvPr/>
        </p:nvSpPr>
        <p:spPr>
          <a:xfrm>
            <a:off x="548640" y="1691640"/>
            <a:ext cx="11064240" cy="886968"/>
          </a:xfrm>
          <a:prstGeom prst="roundRect">
            <a:avLst>
              <a:gd name="adj" fmla="val 6186"/>
            </a:avLst>
          </a:prstGeom>
          <a:solidFill>
            <a:srgbClr val="F5F8FA"/>
          </a:solidFill>
          <a:ln/>
        </p:spPr>
      </p:sp>
      <p:sp>
        <p:nvSpPr>
          <p:cNvPr id="4" name="Shape 2"/>
          <p:cNvSpPr/>
          <p:nvPr/>
        </p:nvSpPr>
        <p:spPr>
          <a:xfrm>
            <a:off x="777240" y="1837944"/>
            <a:ext cx="365760" cy="54864"/>
          </a:xfrm>
          <a:prstGeom prst="rect">
            <a:avLst/>
          </a:prstGeom>
          <a:solidFill>
            <a:srgbClr val="00BB86"/>
          </a:solidFill>
          <a:ln/>
        </p:spPr>
      </p:sp>
      <p:sp>
        <p:nvSpPr>
          <p:cNvPr id="5" name="Text 3"/>
          <p:cNvSpPr/>
          <p:nvPr/>
        </p:nvSpPr>
        <p:spPr>
          <a:xfrm>
            <a:off x="777240" y="1965960"/>
            <a:ext cx="10607040" cy="365760"/>
          </a:xfrm>
          <a:prstGeom prst="rect">
            <a:avLst/>
          </a:prstGeom>
          <a:noFill/>
          <a:ln/>
        </p:spPr>
        <p:txBody>
          <a:bodyPr wrap="square" rtlCol="0" anchor="ctr"/>
          <a:lstStyle/>
          <a:p>
            <a:pPr indent="0" marL="0">
              <a:buNone/>
            </a:pPr>
            <a:r>
              <a:rPr lang="en-US" sz="1400" b="1" dirty="0">
                <a:solidFill>
                  <a:srgbClr val="004061"/>
                </a:solidFill>
                <a:latin typeface="Calibri" pitchFamily="34" charset="0"/>
                <a:ea typeface="Calibri" pitchFamily="34" charset="-122"/>
                <a:cs typeface="Calibri" pitchFamily="34" charset="-120"/>
              </a:rPr>
              <a:t>The forecast can now tell WHO is likely calling, not just WHEN</a:t>
            </a:r>
            <a:endParaRPr lang="en-US" sz="1400" dirty="0"/>
          </a:p>
        </p:txBody>
      </p:sp>
      <p:sp>
        <p:nvSpPr>
          <p:cNvPr id="6" name="Text 4"/>
          <p:cNvSpPr/>
          <p:nvPr/>
        </p:nvSpPr>
        <p:spPr>
          <a:xfrm>
            <a:off x="777240" y="2313432"/>
            <a:ext cx="10607040" cy="365760"/>
          </a:xfrm>
          <a:prstGeom prst="rect">
            <a:avLst/>
          </a:prstGeom>
          <a:noFill/>
          <a:ln/>
        </p:spPr>
        <p:txBody>
          <a:bodyPr wrap="square" rtlCol="0" anchor="ctr"/>
          <a:lstStyle/>
          <a:p>
            <a:pPr indent="0" marL="0">
              <a:buNone/>
            </a:pPr>
            <a:r>
              <a:rPr lang="en-US" sz="1150" dirty="0">
                <a:solidFill>
                  <a:srgbClr val="3C3C3C"/>
                </a:solidFill>
                <a:latin typeface="Calibri" pitchFamily="34" charset="0"/>
                <a:ea typeface="Calibri" pitchFamily="34" charset="-122"/>
                <a:cs typeface="Calibri" pitchFamily="34" charset="-120"/>
              </a:rPr>
              <a:t>Broken out by credit tier, month over month, and drillable to any single day.</a:t>
            </a:r>
            <a:endParaRPr lang="en-US" sz="1150" dirty="0"/>
          </a:p>
        </p:txBody>
      </p:sp>
      <p:sp>
        <p:nvSpPr>
          <p:cNvPr id="7" name="Shape 5"/>
          <p:cNvSpPr/>
          <p:nvPr/>
        </p:nvSpPr>
        <p:spPr>
          <a:xfrm>
            <a:off x="548640" y="2743200"/>
            <a:ext cx="11064240" cy="886968"/>
          </a:xfrm>
          <a:prstGeom prst="roundRect">
            <a:avLst>
              <a:gd name="adj" fmla="val 6186"/>
            </a:avLst>
          </a:prstGeom>
          <a:solidFill>
            <a:srgbClr val="F5F8FA"/>
          </a:solidFill>
          <a:ln/>
        </p:spPr>
      </p:sp>
      <p:sp>
        <p:nvSpPr>
          <p:cNvPr id="8" name="Shape 6"/>
          <p:cNvSpPr/>
          <p:nvPr/>
        </p:nvSpPr>
        <p:spPr>
          <a:xfrm>
            <a:off x="777240" y="2889504"/>
            <a:ext cx="365760" cy="54864"/>
          </a:xfrm>
          <a:prstGeom prst="rect">
            <a:avLst/>
          </a:prstGeom>
          <a:solidFill>
            <a:srgbClr val="F4A600"/>
          </a:solidFill>
          <a:ln/>
        </p:spPr>
      </p:sp>
      <p:sp>
        <p:nvSpPr>
          <p:cNvPr id="9" name="Text 7"/>
          <p:cNvSpPr/>
          <p:nvPr/>
        </p:nvSpPr>
        <p:spPr>
          <a:xfrm>
            <a:off x="777240" y="3017520"/>
            <a:ext cx="10607040" cy="365760"/>
          </a:xfrm>
          <a:prstGeom prst="rect">
            <a:avLst/>
          </a:prstGeom>
          <a:noFill/>
          <a:ln/>
        </p:spPr>
        <p:txBody>
          <a:bodyPr wrap="square" rtlCol="0" anchor="ctr"/>
          <a:lstStyle/>
          <a:p>
            <a:pPr indent="0" marL="0">
              <a:buNone/>
            </a:pPr>
            <a:r>
              <a:rPr lang="en-US" sz="1400" b="1" dirty="0">
                <a:solidFill>
                  <a:srgbClr val="004061"/>
                </a:solidFill>
                <a:latin typeface="Calibri" pitchFamily="34" charset="0"/>
                <a:ea typeface="Calibri" pitchFamily="34" charset="-122"/>
                <a:cs typeface="Calibri" pitchFamily="34" charset="-120"/>
              </a:rPr>
              <a:t>We caught and fixed two real data problems before trusting the numbers</a:t>
            </a:r>
            <a:endParaRPr lang="en-US" sz="1400" dirty="0"/>
          </a:p>
        </p:txBody>
      </p:sp>
      <p:sp>
        <p:nvSpPr>
          <p:cNvPr id="10" name="Text 8"/>
          <p:cNvSpPr/>
          <p:nvPr/>
        </p:nvSpPr>
        <p:spPr>
          <a:xfrm>
            <a:off x="777240" y="3364992"/>
            <a:ext cx="10607040" cy="365760"/>
          </a:xfrm>
          <a:prstGeom prst="rect">
            <a:avLst/>
          </a:prstGeom>
          <a:noFill/>
          <a:ln/>
        </p:spPr>
        <p:txBody>
          <a:bodyPr wrap="square" rtlCol="0" anchor="ctr"/>
          <a:lstStyle/>
          <a:p>
            <a:pPr indent="0" marL="0">
              <a:buNone/>
            </a:pPr>
            <a:r>
              <a:rPr lang="en-US" sz="1150" dirty="0">
                <a:solidFill>
                  <a:srgbClr val="3C3C3C"/>
                </a:solidFill>
                <a:latin typeface="Calibri" pitchFamily="34" charset="0"/>
                <a:ea typeface="Calibri" pitchFamily="34" charset="-122"/>
                <a:cs typeface="Calibri" pitchFamily="34" charset="-120"/>
              </a:rPr>
              <a:t>Customers who'd left, and a missing-credit-score group, were both silently skewing early results.</a:t>
            </a:r>
            <a:endParaRPr lang="en-US" sz="1150" dirty="0"/>
          </a:p>
        </p:txBody>
      </p:sp>
      <p:sp>
        <p:nvSpPr>
          <p:cNvPr id="11" name="Shape 9"/>
          <p:cNvSpPr/>
          <p:nvPr/>
        </p:nvSpPr>
        <p:spPr>
          <a:xfrm>
            <a:off x="548640" y="3794760"/>
            <a:ext cx="11064240" cy="886968"/>
          </a:xfrm>
          <a:prstGeom prst="roundRect">
            <a:avLst>
              <a:gd name="adj" fmla="val 6186"/>
            </a:avLst>
          </a:prstGeom>
          <a:solidFill>
            <a:srgbClr val="F5F8FA"/>
          </a:solidFill>
          <a:ln/>
        </p:spPr>
      </p:sp>
      <p:sp>
        <p:nvSpPr>
          <p:cNvPr id="12" name="Shape 10"/>
          <p:cNvSpPr/>
          <p:nvPr/>
        </p:nvSpPr>
        <p:spPr>
          <a:xfrm>
            <a:off x="777240" y="3941064"/>
            <a:ext cx="365760" cy="54864"/>
          </a:xfrm>
          <a:prstGeom prst="rect">
            <a:avLst/>
          </a:prstGeom>
          <a:solidFill>
            <a:srgbClr val="005CB9"/>
          </a:solidFill>
          <a:ln/>
        </p:spPr>
      </p:sp>
      <p:sp>
        <p:nvSpPr>
          <p:cNvPr id="13" name="Text 11"/>
          <p:cNvSpPr/>
          <p:nvPr/>
        </p:nvSpPr>
        <p:spPr>
          <a:xfrm>
            <a:off x="777240" y="4069080"/>
            <a:ext cx="10607040" cy="365760"/>
          </a:xfrm>
          <a:prstGeom prst="rect">
            <a:avLst/>
          </a:prstGeom>
          <a:noFill/>
          <a:ln/>
        </p:spPr>
        <p:txBody>
          <a:bodyPr wrap="square" rtlCol="0" anchor="ctr"/>
          <a:lstStyle/>
          <a:p>
            <a:pPr indent="0" marL="0">
              <a:buNone/>
            </a:pPr>
            <a:r>
              <a:rPr lang="en-US" sz="1400" b="1" dirty="0">
                <a:solidFill>
                  <a:srgbClr val="004061"/>
                </a:solidFill>
                <a:latin typeface="Calibri" pitchFamily="34" charset="0"/>
                <a:ea typeface="Calibri" pitchFamily="34" charset="-122"/>
                <a:cs typeface="Calibri" pitchFamily="34" charset="-120"/>
              </a:rPr>
              <a:t>Low-credit customers call about twice as often as high-credit customers</a:t>
            </a:r>
            <a:endParaRPr lang="en-US" sz="1400" dirty="0"/>
          </a:p>
        </p:txBody>
      </p:sp>
      <p:sp>
        <p:nvSpPr>
          <p:cNvPr id="14" name="Text 12"/>
          <p:cNvSpPr/>
          <p:nvPr/>
        </p:nvSpPr>
        <p:spPr>
          <a:xfrm>
            <a:off x="777240" y="4416552"/>
            <a:ext cx="10607040" cy="365760"/>
          </a:xfrm>
          <a:prstGeom prst="rect">
            <a:avLst/>
          </a:prstGeom>
          <a:noFill/>
          <a:ln/>
        </p:spPr>
        <p:txBody>
          <a:bodyPr wrap="square" rtlCol="0" anchor="ctr"/>
          <a:lstStyle/>
          <a:p>
            <a:pPr indent="0" marL="0">
              <a:buNone/>
            </a:pPr>
            <a:r>
              <a:rPr lang="en-US" sz="1150" dirty="0">
                <a:solidFill>
                  <a:srgbClr val="3C3C3C"/>
                </a:solidFill>
                <a:latin typeface="Calibri" pitchFamily="34" charset="0"/>
                <a:ea typeface="Calibri" pitchFamily="34" charset="-122"/>
                <a:cs typeface="Calibri" pitchFamily="34" charset="-120"/>
              </a:rPr>
              <a:t>Confirmed again with fully corrected numbers — a real, repeatable pattern.</a:t>
            </a:r>
            <a:endParaRPr lang="en-US" sz="1150" dirty="0"/>
          </a:p>
        </p:txBody>
      </p:sp>
      <p:sp>
        <p:nvSpPr>
          <p:cNvPr id="15" name="Shape 13"/>
          <p:cNvSpPr/>
          <p:nvPr/>
        </p:nvSpPr>
        <p:spPr>
          <a:xfrm>
            <a:off x="548640" y="4846320"/>
            <a:ext cx="11064240" cy="886968"/>
          </a:xfrm>
          <a:prstGeom prst="roundRect">
            <a:avLst>
              <a:gd name="adj" fmla="val 6186"/>
            </a:avLst>
          </a:prstGeom>
          <a:solidFill>
            <a:srgbClr val="F5F8FA"/>
          </a:solidFill>
          <a:ln/>
        </p:spPr>
      </p:sp>
      <p:sp>
        <p:nvSpPr>
          <p:cNvPr id="16" name="Shape 14"/>
          <p:cNvSpPr/>
          <p:nvPr/>
        </p:nvSpPr>
        <p:spPr>
          <a:xfrm>
            <a:off x="777240" y="4992624"/>
            <a:ext cx="365760" cy="54864"/>
          </a:xfrm>
          <a:prstGeom prst="rect">
            <a:avLst/>
          </a:prstGeom>
          <a:solidFill>
            <a:srgbClr val="00B9B3"/>
          </a:solidFill>
          <a:ln/>
        </p:spPr>
      </p:sp>
      <p:sp>
        <p:nvSpPr>
          <p:cNvPr id="17" name="Text 15"/>
          <p:cNvSpPr/>
          <p:nvPr/>
        </p:nvSpPr>
        <p:spPr>
          <a:xfrm>
            <a:off x="777240" y="5120640"/>
            <a:ext cx="10607040" cy="365760"/>
          </a:xfrm>
          <a:prstGeom prst="rect">
            <a:avLst/>
          </a:prstGeom>
          <a:noFill/>
          <a:ln/>
        </p:spPr>
        <p:txBody>
          <a:bodyPr wrap="square" rtlCol="0" anchor="ctr"/>
          <a:lstStyle/>
          <a:p>
            <a:pPr indent="0" marL="0">
              <a:buNone/>
            </a:pPr>
            <a:r>
              <a:rPr lang="en-US" sz="1400" b="1" dirty="0">
                <a:solidFill>
                  <a:srgbClr val="004061"/>
                </a:solidFill>
                <a:latin typeface="Calibri" pitchFamily="34" charset="0"/>
                <a:ea typeface="Calibri" pitchFamily="34" charset="-122"/>
                <a:cs typeface="Calibri" pitchFamily="34" charset="-120"/>
              </a:rPr>
              <a:t>We built a way to catch drift going forward</a:t>
            </a:r>
            <a:endParaRPr lang="en-US" sz="1400" dirty="0"/>
          </a:p>
        </p:txBody>
      </p:sp>
      <p:sp>
        <p:nvSpPr>
          <p:cNvPr id="18" name="Text 16"/>
          <p:cNvSpPr/>
          <p:nvPr/>
        </p:nvSpPr>
        <p:spPr>
          <a:xfrm>
            <a:off x="777240" y="5468112"/>
            <a:ext cx="10607040" cy="365760"/>
          </a:xfrm>
          <a:prstGeom prst="rect">
            <a:avLst/>
          </a:prstGeom>
          <a:noFill/>
          <a:ln/>
        </p:spPr>
        <p:txBody>
          <a:bodyPr wrap="square" rtlCol="0" anchor="ctr"/>
          <a:lstStyle/>
          <a:p>
            <a:pPr indent="0" marL="0">
              <a:buNone/>
            </a:pPr>
            <a:r>
              <a:rPr lang="en-US" sz="1150" dirty="0">
                <a:solidFill>
                  <a:srgbClr val="3C3C3C"/>
                </a:solidFill>
                <a:latin typeface="Calibri" pitchFamily="34" charset="0"/>
                <a:ea typeface="Calibri" pitchFamily="34" charset="-122"/>
                <a:cs typeface="Calibri" pitchFamily="34" charset="-120"/>
              </a:rPr>
              <a:t>The first real test already flagged two days running higher than predicted — worth watching.</a:t>
            </a:r>
            <a:endParaRPr lang="en-US" sz="1150" dirty="0"/>
          </a:p>
        </p:txBody>
      </p:sp>
      <p:pic>
        <p:nvPicPr>
          <p:cNvPr id="19" name="Image 0" descr="/home/claude/forecast_tier_deck/igs_logo.png">    </p:cNvPr>
          <p:cNvPicPr>
            <a:picLocks noChangeAspect="1"/>
          </p:cNvPicPr>
          <p:nvPr/>
        </p:nvPicPr>
        <p:blipFill>
          <a:blip r:embed="rId1"/>
          <a:stretch>
            <a:fillRect/>
          </a:stretch>
        </p:blipFill>
        <p:spPr>
          <a:xfrm>
            <a:off x="457200" y="6473952"/>
            <a:ext cx="777240" cy="202997"/>
          </a:xfrm>
          <a:prstGeom prst="rect">
            <a:avLst/>
          </a:prstGeom>
        </p:spPr>
      </p:pic>
      <p:sp>
        <p:nvSpPr>
          <p:cNvPr id="20" name="Text 17"/>
          <p:cNvSpPr/>
          <p:nvPr/>
        </p:nvSpPr>
        <p:spPr>
          <a:xfrm>
            <a:off x="11094415" y="6473952"/>
            <a:ext cx="640080" cy="274320"/>
          </a:xfrm>
          <a:prstGeom prst="rect">
            <a:avLst/>
          </a:prstGeom>
          <a:noFill/>
          <a:ln/>
        </p:spPr>
        <p:txBody>
          <a:bodyPr wrap="square" rtlCol="0" anchor="ctr"/>
          <a:lstStyle/>
          <a:p>
            <a:pPr algn="r" indent="0" marL="0">
              <a:buNone/>
            </a:pPr>
            <a:r>
              <a:rPr lang="en-US" sz="1000" dirty="0">
                <a:solidFill>
                  <a:srgbClr val="9AA5B1"/>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4061"/>
        </a:solidFill>
      </p:bgPr>
    </p:bg>
    <p:spTree>
      <p:nvGrpSpPr>
        <p:cNvPr id="1" name=""/>
        <p:cNvGrpSpPr/>
        <p:nvPr/>
      </p:nvGrpSpPr>
      <p:grpSpPr>
        <a:xfrm>
          <a:off x="0" y="0"/>
          <a:ext cx="0" cy="0"/>
          <a:chOff x="0" y="0"/>
          <a:chExt cx="0" cy="0"/>
        </a:xfrm>
      </p:grpSpPr>
      <p:pic>
        <p:nvPicPr>
          <p:cNvPr id="2" name="Image 0" descr="/home/claude/forecast_tier_deck/igs_logo.png">    </p:cNvPr>
          <p:cNvPicPr>
            <a:picLocks noChangeAspect="1"/>
          </p:cNvPicPr>
          <p:nvPr/>
        </p:nvPicPr>
        <p:blipFill>
          <a:blip r:embed="rId1"/>
          <a:stretch>
            <a:fillRect/>
          </a:stretch>
        </p:blipFill>
        <p:spPr>
          <a:xfrm>
            <a:off x="640080" y="457200"/>
            <a:ext cx="1280160" cy="333756"/>
          </a:xfrm>
          <a:prstGeom prst="rect">
            <a:avLst/>
          </a:prstGeom>
        </p:spPr>
      </p:pic>
      <p:sp>
        <p:nvSpPr>
          <p:cNvPr id="3" name="Text 0"/>
          <p:cNvSpPr/>
          <p:nvPr/>
        </p:nvSpPr>
        <p:spPr>
          <a:xfrm>
            <a:off x="640080" y="1005840"/>
            <a:ext cx="9144000" cy="640080"/>
          </a:xfrm>
          <a:prstGeom prst="rect">
            <a:avLst/>
          </a:prstGeom>
          <a:noFill/>
          <a:ln/>
        </p:spPr>
        <p:txBody>
          <a:bodyPr wrap="square" rtlCol="0" anchor="ctr"/>
          <a:lstStyle/>
          <a:p>
            <a:pPr indent="0" marL="0">
              <a:buNone/>
            </a:pPr>
            <a:r>
              <a:rPr lang="en-US" sz="2800" b="1" spc="100" kern="0" dirty="0">
                <a:solidFill>
                  <a:srgbClr val="FFFFFF"/>
                </a:solidFill>
                <a:latin typeface="Calibri" pitchFamily="34" charset="0"/>
                <a:ea typeface="Calibri" pitchFamily="34" charset="-122"/>
                <a:cs typeface="Calibri" pitchFamily="34" charset="-120"/>
              </a:rPr>
              <a:t>NEXT STEPS</a:t>
            </a:r>
            <a:endParaRPr lang="en-US" sz="2800" dirty="0"/>
          </a:p>
        </p:txBody>
      </p:sp>
      <p:sp>
        <p:nvSpPr>
          <p:cNvPr id="4" name="Text 1"/>
          <p:cNvSpPr/>
          <p:nvPr/>
        </p:nvSpPr>
        <p:spPr>
          <a:xfrm>
            <a:off x="640080" y="1600200"/>
            <a:ext cx="9144000" cy="365760"/>
          </a:xfrm>
          <a:prstGeom prst="rect">
            <a:avLst/>
          </a:prstGeom>
          <a:noFill/>
          <a:ln/>
        </p:spPr>
        <p:txBody>
          <a:bodyPr wrap="square" rtlCol="0" anchor="ctr"/>
          <a:lstStyle/>
          <a:p>
            <a:pPr indent="0" marL="0">
              <a:buNone/>
            </a:pPr>
            <a:r>
              <a:rPr lang="en-US" sz="1400" dirty="0">
                <a:solidFill>
                  <a:srgbClr val="BFD9F0"/>
                </a:solidFill>
                <a:latin typeface="Calibri" pitchFamily="34" charset="0"/>
                <a:ea typeface="Calibri" pitchFamily="34" charset="-122"/>
                <a:cs typeface="Calibri" pitchFamily="34" charset="-120"/>
              </a:rPr>
              <a:t>Where this goes from here</a:t>
            </a:r>
            <a:endParaRPr lang="en-US" sz="1400" dirty="0"/>
          </a:p>
        </p:txBody>
      </p:sp>
      <p:sp>
        <p:nvSpPr>
          <p:cNvPr id="5" name="Shape 2"/>
          <p:cNvSpPr/>
          <p:nvPr/>
        </p:nvSpPr>
        <p:spPr>
          <a:xfrm>
            <a:off x="640080" y="2404872"/>
            <a:ext cx="365760" cy="365760"/>
          </a:xfrm>
          <a:prstGeom prst="ellipse">
            <a:avLst/>
          </a:prstGeom>
          <a:solidFill>
            <a:srgbClr val="F4A600"/>
          </a:solidFill>
          <a:ln/>
        </p:spPr>
      </p:sp>
      <p:sp>
        <p:nvSpPr>
          <p:cNvPr id="6" name="Text 3"/>
          <p:cNvSpPr/>
          <p:nvPr/>
        </p:nvSpPr>
        <p:spPr>
          <a:xfrm>
            <a:off x="1143000" y="2350008"/>
            <a:ext cx="10332720"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Keep checking forecast vs. reality as more days land</a:t>
            </a:r>
            <a:endParaRPr lang="en-US" sz="1400" dirty="0"/>
          </a:p>
        </p:txBody>
      </p:sp>
      <p:sp>
        <p:nvSpPr>
          <p:cNvPr id="7" name="Text 4"/>
          <p:cNvSpPr/>
          <p:nvPr/>
        </p:nvSpPr>
        <p:spPr>
          <a:xfrm>
            <a:off x="1143000" y="2706624"/>
            <a:ext cx="10332720" cy="457200"/>
          </a:xfrm>
          <a:prstGeom prst="rect">
            <a:avLst/>
          </a:prstGeom>
          <a:noFill/>
          <a:ln/>
        </p:spPr>
        <p:txBody>
          <a:bodyPr wrap="square" rtlCol="0" anchor="ctr"/>
          <a:lstStyle/>
          <a:p>
            <a:pPr indent="0" marL="0">
              <a:lnSpc>
                <a:spcPct val="120000"/>
              </a:lnSpc>
              <a:buNone/>
            </a:pPr>
            <a:r>
              <a:rPr lang="en-US" sz="1150" dirty="0">
                <a:solidFill>
                  <a:srgbClr val="AFC2D4"/>
                </a:solidFill>
                <a:latin typeface="Calibri" pitchFamily="34" charset="0"/>
                <a:ea typeface="Calibri" pitchFamily="34" charset="-122"/>
                <a:cs typeface="Calibri" pitchFamily="34" charset="-120"/>
              </a:rPr>
              <a:t>Two days isn't enough to know if this is a real pattern or normal noise.</a:t>
            </a:r>
            <a:endParaRPr lang="en-US" sz="1150" dirty="0"/>
          </a:p>
        </p:txBody>
      </p:sp>
      <p:sp>
        <p:nvSpPr>
          <p:cNvPr id="8" name="Shape 5"/>
          <p:cNvSpPr/>
          <p:nvPr/>
        </p:nvSpPr>
        <p:spPr>
          <a:xfrm>
            <a:off x="640080" y="3364992"/>
            <a:ext cx="365760" cy="365760"/>
          </a:xfrm>
          <a:prstGeom prst="ellipse">
            <a:avLst/>
          </a:prstGeom>
          <a:solidFill>
            <a:srgbClr val="005CB9"/>
          </a:solidFill>
          <a:ln/>
        </p:spPr>
      </p:sp>
      <p:sp>
        <p:nvSpPr>
          <p:cNvPr id="9" name="Text 6"/>
          <p:cNvSpPr/>
          <p:nvPr/>
        </p:nvSpPr>
        <p:spPr>
          <a:xfrm>
            <a:off x="1143000" y="3310128"/>
            <a:ext cx="10332720"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Resolve the system permissions issue</a:t>
            </a:r>
            <a:endParaRPr lang="en-US" sz="1400" dirty="0"/>
          </a:p>
        </p:txBody>
      </p:sp>
      <p:sp>
        <p:nvSpPr>
          <p:cNvPr id="10" name="Text 7"/>
          <p:cNvSpPr/>
          <p:nvPr/>
        </p:nvSpPr>
        <p:spPr>
          <a:xfrm>
            <a:off x="1143000" y="3666744"/>
            <a:ext cx="10332720" cy="457200"/>
          </a:xfrm>
          <a:prstGeom prst="rect">
            <a:avLst/>
          </a:prstGeom>
          <a:noFill/>
          <a:ln/>
        </p:spPr>
        <p:txBody>
          <a:bodyPr wrap="square" rtlCol="0" anchor="ctr"/>
          <a:lstStyle/>
          <a:p>
            <a:pPr indent="0" marL="0">
              <a:lnSpc>
                <a:spcPct val="120000"/>
              </a:lnSpc>
              <a:buNone/>
            </a:pPr>
            <a:r>
              <a:rPr lang="en-US" sz="1150" dirty="0">
                <a:solidFill>
                  <a:srgbClr val="AFC2D4"/>
                </a:solidFill>
                <a:latin typeface="Calibri" pitchFamily="34" charset="0"/>
                <a:ea typeface="Calibri" pitchFamily="34" charset="-122"/>
                <a:cs typeface="Calibri" pitchFamily="34" charset="-120"/>
              </a:rPr>
              <a:t>So this checking process can run automatically instead of being done by hand.</a:t>
            </a:r>
            <a:endParaRPr lang="en-US" sz="1150" dirty="0"/>
          </a:p>
        </p:txBody>
      </p:sp>
      <p:sp>
        <p:nvSpPr>
          <p:cNvPr id="11" name="Shape 8"/>
          <p:cNvSpPr/>
          <p:nvPr/>
        </p:nvSpPr>
        <p:spPr>
          <a:xfrm>
            <a:off x="640080" y="4325112"/>
            <a:ext cx="365760" cy="365760"/>
          </a:xfrm>
          <a:prstGeom prst="ellipse">
            <a:avLst/>
          </a:prstGeom>
          <a:solidFill>
            <a:srgbClr val="00BB86"/>
          </a:solidFill>
          <a:ln/>
        </p:spPr>
      </p:sp>
      <p:sp>
        <p:nvSpPr>
          <p:cNvPr id="12" name="Text 9"/>
          <p:cNvSpPr/>
          <p:nvPr/>
        </p:nvSpPr>
        <p:spPr>
          <a:xfrm>
            <a:off x="1143000" y="4270248"/>
            <a:ext cx="10332720"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Watch for a connection to this month's high bills</a:t>
            </a:r>
            <a:endParaRPr lang="en-US" sz="1400" dirty="0"/>
          </a:p>
        </p:txBody>
      </p:sp>
      <p:sp>
        <p:nvSpPr>
          <p:cNvPr id="13" name="Text 10"/>
          <p:cNvSpPr/>
          <p:nvPr/>
        </p:nvSpPr>
        <p:spPr>
          <a:xfrm>
            <a:off x="1143000" y="4626864"/>
            <a:ext cx="10332720" cy="457200"/>
          </a:xfrm>
          <a:prstGeom prst="rect">
            <a:avLst/>
          </a:prstGeom>
          <a:noFill/>
          <a:ln/>
        </p:spPr>
        <p:txBody>
          <a:bodyPr wrap="square" rtlCol="0" anchor="ctr"/>
          <a:lstStyle/>
          <a:p>
            <a:pPr indent="0" marL="0">
              <a:lnSpc>
                <a:spcPct val="120000"/>
              </a:lnSpc>
              <a:buNone/>
            </a:pPr>
            <a:r>
              <a:rPr lang="en-US" sz="1150" dirty="0">
                <a:solidFill>
                  <a:srgbClr val="AFC2D4"/>
                </a:solidFill>
                <a:latin typeface="Calibri" pitchFamily="34" charset="0"/>
                <a:ea typeface="Calibri" pitchFamily="34" charset="-122"/>
                <a:cs typeface="Calibri" pitchFamily="34" charset="-120"/>
              </a:rPr>
              <a:t>May explain why actual calls are running above the forecast right now.</a:t>
            </a:r>
            <a:endParaRPr lang="en-US" sz="1150" dirty="0"/>
          </a:p>
        </p:txBody>
      </p:sp>
      <p:sp>
        <p:nvSpPr>
          <p:cNvPr id="14" name="Shape 11"/>
          <p:cNvSpPr/>
          <p:nvPr/>
        </p:nvSpPr>
        <p:spPr>
          <a:xfrm>
            <a:off x="640080" y="5285232"/>
            <a:ext cx="365760" cy="365760"/>
          </a:xfrm>
          <a:prstGeom prst="ellipse">
            <a:avLst/>
          </a:prstGeom>
          <a:solidFill>
            <a:srgbClr val="00B9B3"/>
          </a:solidFill>
          <a:ln/>
        </p:spPr>
      </p:sp>
      <p:sp>
        <p:nvSpPr>
          <p:cNvPr id="15" name="Text 12"/>
          <p:cNvSpPr/>
          <p:nvPr/>
        </p:nvSpPr>
        <p:spPr>
          <a:xfrm>
            <a:off x="1143000" y="5230368"/>
            <a:ext cx="10332720"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Bring this into staffing conversations</a:t>
            </a:r>
            <a:endParaRPr lang="en-US" sz="1400" dirty="0"/>
          </a:p>
        </p:txBody>
      </p:sp>
      <p:sp>
        <p:nvSpPr>
          <p:cNvPr id="16" name="Text 13"/>
          <p:cNvSpPr/>
          <p:nvPr/>
        </p:nvSpPr>
        <p:spPr>
          <a:xfrm>
            <a:off x="1143000" y="5586984"/>
            <a:ext cx="10332720" cy="457200"/>
          </a:xfrm>
          <a:prstGeom prst="rect">
            <a:avLst/>
          </a:prstGeom>
          <a:noFill/>
          <a:ln/>
        </p:spPr>
        <p:txBody>
          <a:bodyPr wrap="square" rtlCol="0" anchor="ctr"/>
          <a:lstStyle/>
          <a:p>
            <a:pPr indent="0" marL="0">
              <a:lnSpc>
                <a:spcPct val="120000"/>
              </a:lnSpc>
              <a:buNone/>
            </a:pPr>
            <a:r>
              <a:rPr lang="en-US" sz="1150" dirty="0">
                <a:solidFill>
                  <a:srgbClr val="AFC2D4"/>
                </a:solidFill>
                <a:latin typeface="Calibri" pitchFamily="34" charset="0"/>
                <a:ea typeface="Calibri" pitchFamily="34" charset="-122"/>
                <a:cs typeface="Calibri" pitchFamily="34" charset="-120"/>
              </a:rPr>
              <a:t>Now that the forecast understands customer type, it can support more precise planning.</a:t>
            </a:r>
            <a:endParaRPr lang="en-US" sz="1150" dirty="0"/>
          </a:p>
        </p:txBody>
      </p:sp>
      <p:pic>
        <p:nvPicPr>
          <p:cNvPr id="17" name="Image 1" descr="/home/claude/forecast_tier_deck/igs_logo.png">    </p:cNvPr>
          <p:cNvPicPr>
            <a:picLocks noChangeAspect="1"/>
          </p:cNvPicPr>
          <p:nvPr/>
        </p:nvPicPr>
        <p:blipFill>
          <a:blip r:embed="rId2"/>
          <a:stretch>
            <a:fillRect/>
          </a:stretch>
        </p:blipFill>
        <p:spPr>
          <a:xfrm>
            <a:off x="457200" y="6473952"/>
            <a:ext cx="777240" cy="202997"/>
          </a:xfrm>
          <a:prstGeom prst="rect">
            <a:avLst/>
          </a:prstGeom>
        </p:spPr>
      </p:pic>
      <p:sp>
        <p:nvSpPr>
          <p:cNvPr id="18" name="Text 14"/>
          <p:cNvSpPr/>
          <p:nvPr/>
        </p:nvSpPr>
        <p:spPr>
          <a:xfrm>
            <a:off x="11094415" y="6473952"/>
            <a:ext cx="640080" cy="274320"/>
          </a:xfrm>
          <a:prstGeom prst="rect">
            <a:avLst/>
          </a:prstGeom>
          <a:noFill/>
          <a:ln/>
        </p:spPr>
        <p:txBody>
          <a:bodyPr wrap="square" rtlCol="0" anchor="ctr"/>
          <a:lstStyle/>
          <a:p>
            <a:pPr algn="r" indent="0" marL="0">
              <a:buNone/>
            </a:pPr>
            <a:r>
              <a:rPr lang="en-US" sz="1000" dirty="0">
                <a:solidFill>
                  <a:srgbClr val="9AA5B1"/>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2026-08-06T12:47:06Z</dcterms:created>
  <dcterms:modified xsi:type="dcterms:W3CDTF">2026-08-06T12:47:06Z</dcterms:modified>
</cp:coreProperties>
</file>