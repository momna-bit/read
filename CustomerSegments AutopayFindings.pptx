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4061"/>
                </a:solidFill>
                <a:latin typeface="Arial"/>
              </a:defRPr>
            </a:pPr>
            <a:r>
              <a:rPr sz="1300" b="0" i="0" u="none" strike="noStrike">
                <a:solidFill>
                  <a:srgbClr val="004061"/>
                </a:solidFill>
                <a:latin typeface="Arial"/>
              </a:rPr>
              <a:t>Share of Removals From Brand-New Customers</a:t>
            </a:r>
          </a:p>
        </c:rich>
      </c:tx>
      <c:layout/>
      <c:overlay val="0"/>
    </c:title>
    <c:autoTitleDeleted val="0"/>
    <c:plotArea>
      <c:layout/>
      <c:barChart>
        <c:barDir val="col"/>
        <c:grouping val="clustered"/>
        <c:varyColors val="0"/>
        <c:ser>
          <c:idx val="0"/>
          <c:order val="0"/>
          <c:tx>
            <c:strRef>
              <c:f>Sheet1!$B$1</c:f>
              <c:strCache>
                <c:ptCount val="1"/>
                <c:pt idx="0">
                  <c:v>% of Removals from New Customers</c:v>
                </c:pt>
              </c:strCache>
            </c:strRef>
          </c:tx>
          <c:spPr>
            <a:solidFill>
              <a:srgbClr val="F4A600"/>
            </a:solidFill>
            <a:effectLst/>
          </c:spPr>
          <c:invertIfNegative val="0"/>
          <c:dLbls>
            <c:numFmt formatCode="#,##0" sourceLinked="0"/>
            <c:txPr>
              <a:bodyPr/>
              <a:lstStyle/>
              <a:p>
                <a:pPr>
                  <a:defRPr b="0" i="0" strike="noStrike" sz="1300" u="none">
                    <a:solidFill>
                      <a:srgbClr val="004061"/>
                    </a:solidFill>
                    <a:latin typeface="Arial"/>
                  </a:defRPr>
                </a:pPr>
              </a:p>
            </c:txPr>
            <c:showLegendKey val="0"/>
            <c:showVal val="1"/>
            <c:showCatName val="0"/>
            <c:showSerName val="0"/>
            <c:showPercent val="0"/>
            <c:showBubbleSize val="0"/>
            <c:showLeaderLines val="0"/>
          </c:dLbls>
          <c:cat>
            <c:multiLvlStrRef>
              <c:f>Sheet1!$A$2:$A$3</c:f>
              <c:multiLvlStrCache>
                <c:ptCount val="2"/>
                <c:lvl>
                  <c:pt idx="0">
                    <c:v>What We Assumed</c:v>
                  </c:pt>
                  <c:pt idx="1">
                    <c:v>What's Actually True</c:v>
                  </c:pt>
                </c:lvl>
              </c:multiLvlStrCache>
            </c:multiLvlStrRef>
          </c:cat>
          <c:val>
            <c:numRef>
              <c:f>Sheet1!$B$2:$B$3</c:f>
              <c:numCache>
                <c:formatCode>General</c:formatCode>
                <c:ptCount val="2"/>
                <c:pt idx="0">
                  <c:v>38</c:v>
                </c:pt>
                <c:pt idx="1">
                  <c:v>15.2</c:v>
                </c:pt>
              </c:numCache>
            </c:numRef>
          </c:val>
        </c:ser>
        <c:dLbls>
          <c:numFmt formatCode="#,##0" sourceLinked="0"/>
          <c:txPr>
            <a:bodyPr/>
            <a:lstStyle/>
            <a:p>
              <a:pPr>
                <a:defRPr b="0" i="0" strike="noStrike" sz="1300" u="none">
                  <a:solidFill>
                    <a:srgbClr val="0040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4546A"/>
                    </a:solidFill>
                    <a:latin typeface="Arial"/>
                  </a:defRPr>
                </a:pPr>
                <a:r>
                  <a:rPr sz="1100" b="0" i="0" u="none" strike="noStrike">
                    <a:solidFill>
                      <a:srgbClr val="44546A"/>
                    </a:solidFill>
                    <a:latin typeface="Arial"/>
                  </a:rPr>
                  <a:t>Data Source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454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AED"/>
              </a:solidFill>
              <a:prstDash val="solid"/>
              <a:round/>
            </a:ln>
          </c:spPr>
        </c:majorGridlines>
        <c:title>
          <c:tx>
            <c:rich>
              <a:bodyPr/>
              <a:lstStyle/>
              <a:p>
                <a:pPr>
                  <a:defRPr sz="1100" b="0" i="0" u="none" strike="noStrike">
                    <a:solidFill>
                      <a:srgbClr val="44546A"/>
                    </a:solidFill>
                    <a:latin typeface="Arial"/>
                  </a:defRPr>
                </a:pPr>
                <a:r>
                  <a:rPr sz="1100" b="0" i="0" u="none" strike="noStrike">
                    <a:solidFill>
                      <a:srgbClr val="44546A"/>
                    </a:solidFill>
                    <a:latin typeface="Arial"/>
                  </a:rPr>
                  <a:t>Percent of All Removals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54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4061"/>
                </a:solidFill>
                <a:latin typeface="Arial"/>
              </a:defRPr>
            </a:pPr>
            <a:r>
              <a:rPr sz="1300" b="0" i="0" u="none" strike="noStrike">
                <a:solidFill>
                  <a:srgbClr val="004061"/>
                </a:solidFill>
                <a:latin typeface="Arial"/>
              </a:rPr>
              <a:t>How Customers Turn Off Autopay</a:t>
            </a:r>
          </a:p>
        </c:rich>
      </c:tx>
      <c:layout/>
      <c:overlay val="0"/>
    </c:title>
    <c:autoTitleDeleted val="0"/>
    <c:plotArea>
      <c:layout/>
      <c:barChart>
        <c:barDir val="col"/>
        <c:grouping val="clustered"/>
        <c:varyColors val="0"/>
        <c:ser>
          <c:idx val="0"/>
          <c:order val="0"/>
          <c:tx>
            <c:strRef>
              <c:f>Sheet1!$B$1</c:f>
              <c:strCache>
                <c:ptCount val="1"/>
                <c:pt idx="0">
                  <c:v>% of Removals</c:v>
                </c:pt>
              </c:strCache>
            </c:strRef>
          </c:tx>
          <c:spPr>
            <a:solidFill>
              <a:srgbClr val="00BB86"/>
            </a:solidFill>
            <a:effectLst/>
          </c:spPr>
          <c:invertIfNegative val="0"/>
          <c:dLbls>
            <c:numFmt formatCode="#,##0" sourceLinked="0"/>
            <c:txPr>
              <a:bodyPr/>
              <a:lstStyle/>
              <a:p>
                <a:pPr>
                  <a:defRPr b="0" i="0" strike="noStrike" sz="1300" u="none">
                    <a:solidFill>
                      <a:srgbClr val="004061"/>
                    </a:solidFill>
                    <a:latin typeface="Arial"/>
                  </a:defRPr>
                </a:pPr>
              </a:p>
            </c:txPr>
            <c:showLegendKey val="0"/>
            <c:showVal val="1"/>
            <c:showCatName val="0"/>
            <c:showSerName val="0"/>
            <c:showPercent val="0"/>
            <c:showBubbleSize val="0"/>
            <c:showLeaderLines val="0"/>
          </c:dLbls>
          <c:cat>
            <c:multiLvlStrRef>
              <c:f>Sheet1!$A$2:$A$3</c:f>
              <c:multiLvlStrCache>
                <c:ptCount val="2"/>
                <c:lvl>
                  <c:pt idx="0">
                    <c:v>Online (Self-Service)</c:v>
                  </c:pt>
                  <c:pt idx="1">
                    <c:v>Phone Call With Agent</c:v>
                  </c:pt>
                </c:lvl>
              </c:multiLvlStrCache>
            </c:multiLvlStrRef>
          </c:cat>
          <c:val>
            <c:numRef>
              <c:f>Sheet1!$B$2:$B$3</c:f>
              <c:numCache>
                <c:formatCode>General</c:formatCode>
                <c:ptCount val="2"/>
                <c:pt idx="0">
                  <c:v>78</c:v>
                </c:pt>
                <c:pt idx="1">
                  <c:v>22</c:v>
                </c:pt>
              </c:numCache>
            </c:numRef>
          </c:val>
        </c:ser>
        <c:dLbls>
          <c:numFmt formatCode="#,##0" sourceLinked="0"/>
          <c:txPr>
            <a:bodyPr/>
            <a:lstStyle/>
            <a:p>
              <a:pPr>
                <a:defRPr b="0" i="0" strike="noStrike" sz="1300" u="none">
                  <a:solidFill>
                    <a:srgbClr val="0040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4546A"/>
                    </a:solidFill>
                    <a:latin typeface="Arial"/>
                  </a:defRPr>
                </a:pPr>
                <a:r>
                  <a:rPr sz="1100" b="0" i="0" u="none" strike="noStrike">
                    <a:solidFill>
                      <a:srgbClr val="44546A"/>
                    </a:solidFill>
                    <a:latin typeface="Arial"/>
                  </a:rPr>
                  <a:t>How the Removal Happened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454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AED"/>
              </a:solidFill>
              <a:prstDash val="solid"/>
              <a:round/>
            </a:ln>
          </c:spPr>
        </c:majorGridlines>
        <c:title>
          <c:tx>
            <c:rich>
              <a:bodyPr/>
              <a:lstStyle/>
              <a:p>
                <a:pPr>
                  <a:defRPr sz="1100" b="0" i="0" u="none" strike="noStrike">
                    <a:solidFill>
                      <a:srgbClr val="44546A"/>
                    </a:solidFill>
                    <a:latin typeface="Arial"/>
                  </a:defRPr>
                </a:pPr>
                <a:r>
                  <a:rPr sz="1100" b="0" i="0" u="none" strike="noStrike">
                    <a:solidFill>
                      <a:srgbClr val="44546A"/>
                    </a:solidFill>
                    <a:latin typeface="Arial"/>
                  </a:rPr>
                  <a:t>Percent of All Removals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54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4061"/>
                </a:solidFill>
                <a:latin typeface="Arial"/>
              </a:defRPr>
            </a:pPr>
            <a:r>
              <a:rPr sz="1300" b="0" i="0" u="none" strike="noStrike">
                <a:solidFill>
                  <a:srgbClr val="004061"/>
                </a:solidFill>
                <a:latin typeface="Arial"/>
              </a:rPr>
              <a:t>Removals Happening Near the Bill Due Date</a:t>
            </a:r>
          </a:p>
        </c:rich>
      </c:tx>
      <c:layout/>
      <c:overlay val="0"/>
    </c:title>
    <c:autoTitleDeleted val="0"/>
    <c:plotArea>
      <c:layout/>
      <c:barChart>
        <c:barDir val="col"/>
        <c:grouping val="clustered"/>
        <c:varyColors val="0"/>
        <c:ser>
          <c:idx val="0"/>
          <c:order val="0"/>
          <c:tx>
            <c:strRef>
              <c:f>Sheet1!$B$1</c:f>
              <c:strCache>
                <c:ptCount val="1"/>
                <c:pt idx="0">
                  <c:v>% Within 2 Weeks of Next Bill Due</c:v>
                </c:pt>
              </c:strCache>
            </c:strRef>
          </c:tx>
          <c:spPr>
            <a:solidFill>
              <a:srgbClr val="005CB9"/>
            </a:solidFill>
            <a:effectLst/>
          </c:spPr>
          <c:invertIfNegative val="0"/>
          <c:dLbls>
            <c:numFmt formatCode="#,##0" sourceLinked="0"/>
            <c:txPr>
              <a:bodyPr/>
              <a:lstStyle/>
              <a:p>
                <a:pPr>
                  <a:defRPr b="0" i="0" strike="noStrike" sz="1300" u="none">
                    <a:solidFill>
                      <a:srgbClr val="004061"/>
                    </a:solidFill>
                    <a:latin typeface="Arial"/>
                  </a:defRPr>
                </a:pPr>
              </a:p>
            </c:txPr>
            <c:showLegendKey val="0"/>
            <c:showVal val="1"/>
            <c:showCatName val="0"/>
            <c:showSerName val="0"/>
            <c:showPercent val="0"/>
            <c:showBubbleSize val="0"/>
            <c:showLeaderLines val="0"/>
          </c:dLbls>
          <c:cat>
            <c:multiLvlStrRef>
              <c:f>Sheet1!$A$2:$A$3</c:f>
              <c:multiLvlStrCache>
                <c:ptCount val="2"/>
                <c:lvl>
                  <c:pt idx="0">
                    <c:v>Phone Call Removals</c:v>
                  </c:pt>
                  <c:pt idx="1">
                    <c:v>Online Removals</c:v>
                  </c:pt>
                </c:lvl>
              </c:multiLvlStrCache>
            </c:multiLvlStrRef>
          </c:cat>
          <c:val>
            <c:numRef>
              <c:f>Sheet1!$B$2:$B$3</c:f>
              <c:numCache>
                <c:formatCode>General</c:formatCode>
                <c:ptCount val="2"/>
                <c:pt idx="0">
                  <c:v>69.6</c:v>
                </c:pt>
                <c:pt idx="1">
                  <c:v>65.7</c:v>
                </c:pt>
              </c:numCache>
            </c:numRef>
          </c:val>
        </c:ser>
        <c:dLbls>
          <c:numFmt formatCode="#,##0" sourceLinked="0"/>
          <c:txPr>
            <a:bodyPr/>
            <a:lstStyle/>
            <a:p>
              <a:pPr>
                <a:defRPr b="0" i="0" strike="noStrike" sz="1300" u="none">
                  <a:solidFill>
                    <a:srgbClr val="0040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4546A"/>
                    </a:solidFill>
                    <a:latin typeface="Arial"/>
                  </a:defRPr>
                </a:pPr>
                <a:r>
                  <a:rPr sz="1100" b="0" i="0" u="none" strike="noStrike">
                    <a:solidFill>
                      <a:srgbClr val="44546A"/>
                    </a:solidFill>
                    <a:latin typeface="Arial"/>
                  </a:rPr>
                  <a:t>Removal Channel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454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AED"/>
              </a:solidFill>
              <a:prstDash val="solid"/>
              <a:round/>
            </a:ln>
          </c:spPr>
        </c:majorGridlines>
        <c:title>
          <c:tx>
            <c:rich>
              <a:bodyPr/>
              <a:lstStyle/>
              <a:p>
                <a:pPr>
                  <a:defRPr sz="1100" b="0" i="0" u="none" strike="noStrike">
                    <a:solidFill>
                      <a:srgbClr val="44546A"/>
                    </a:solidFill>
                    <a:latin typeface="Arial"/>
                  </a:defRPr>
                </a:pPr>
                <a:r>
                  <a:rPr sz="1100" b="0" i="0" u="none" strike="noStrike">
                    <a:solidFill>
                      <a:srgbClr val="44546A"/>
                    </a:solidFill>
                    <a:latin typeface="Arial"/>
                  </a:rPr>
                  <a:t>Percent of Removals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54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04061"/>
                </a:solidFill>
                <a:latin typeface="Arial"/>
              </a:defRPr>
            </a:pPr>
            <a:r>
              <a:rPr sz="1250" b="0" i="0" u="none" strike="noStrike">
                <a:solidFill>
                  <a:srgbClr val="004061"/>
                </a:solidFill>
                <a:latin typeface="Arial"/>
              </a:rPr>
              <a:t>Why the Phone Calls Happened</a:t>
            </a:r>
          </a:p>
        </c:rich>
      </c:tx>
      <c:layout/>
      <c:overlay val="0"/>
    </c:title>
    <c:autoTitleDeleted val="0"/>
    <c:plotArea>
      <c:layout/>
      <c:barChart>
        <c:barDir val="col"/>
        <c:grouping val="clustered"/>
        <c:varyColors val="0"/>
        <c:ser>
          <c:idx val="0"/>
          <c:order val="0"/>
          <c:tx>
            <c:strRef>
              <c:f>Sheet1!$B$1</c:f>
              <c:strCache>
                <c:ptCount val="1"/>
                <c:pt idx="0">
                  <c:v>% of Phone-Call Removals</c:v>
                </c:pt>
              </c:strCache>
            </c:strRef>
          </c:tx>
          <c:spPr>
            <a:solidFill>
              <a:srgbClr val="F4A600"/>
            </a:solidFill>
            <a:effectLst/>
          </c:spPr>
          <c:invertIfNegative val="0"/>
          <c:dLbls>
            <c:numFmt formatCode="#,##0" sourceLinked="0"/>
            <c:txPr>
              <a:bodyPr/>
              <a:lstStyle/>
              <a:p>
                <a:pPr>
                  <a:defRPr b="0" i="0" strike="noStrike" sz="1100" u="none">
                    <a:solidFill>
                      <a:srgbClr val="004061"/>
                    </a:solidFill>
                    <a:latin typeface="Arial"/>
                  </a:defRPr>
                </a:pPr>
              </a:p>
            </c:txPr>
            <c:showLegendKey val="0"/>
            <c:showVal val="1"/>
            <c:showCatName val="0"/>
            <c:showSerName val="0"/>
            <c:showPercent val="0"/>
            <c:showBubbleSize val="0"/>
            <c:showLeaderLines val="0"/>
          </c:dLbls>
          <c:cat>
            <c:multiLvlStrRef>
              <c:f>Sheet1!$A$2:$A$3</c:f>
              <c:multiLvlStrCache>
                <c:ptCount val="2"/>
                <c:lvl>
                  <c:pt idx="0">
                    <c:v>Card Expired,
Lost, or Replaced</c:v>
                  </c:pt>
                  <c:pt idx="1">
                    <c:v>All Other
Phone-Call Reasons</c:v>
                  </c:pt>
                </c:lvl>
              </c:multiLvlStrCache>
            </c:multiLvlStrRef>
          </c:cat>
          <c:val>
            <c:numRef>
              <c:f>Sheet1!$B$2:$B$3</c:f>
              <c:numCache>
                <c:formatCode>General</c:formatCode>
                <c:ptCount val="2"/>
                <c:pt idx="0">
                  <c:v>38.1</c:v>
                </c:pt>
                <c:pt idx="1">
                  <c:v>61.9</c:v>
                </c:pt>
              </c:numCache>
            </c:numRef>
          </c:val>
        </c:ser>
        <c:dLbls>
          <c:numFmt formatCode="#,##0" sourceLinked="0"/>
          <c:txPr>
            <a:bodyPr/>
            <a:lstStyle/>
            <a:p>
              <a:pPr>
                <a:defRPr b="0" i="0" strike="noStrike" sz="1100" u="none">
                  <a:solidFill>
                    <a:srgbClr val="0040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44546A"/>
                    </a:solidFill>
                    <a:latin typeface="Arial"/>
                  </a:defRPr>
                </a:pPr>
                <a:r>
                  <a:rPr sz="1000" b="0" i="0" u="none" strike="noStrike">
                    <a:solidFill>
                      <a:srgbClr val="44546A"/>
                    </a:solidFill>
                    <a:latin typeface="Arial"/>
                  </a:rPr>
                  <a:t>Reason Category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454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AED"/>
              </a:solidFill>
              <a:prstDash val="solid"/>
              <a:round/>
            </a:ln>
          </c:spPr>
        </c:majorGridlines>
        <c:title>
          <c:tx>
            <c:rich>
              <a:bodyPr/>
              <a:lstStyle/>
              <a:p>
                <a:pPr>
                  <a:defRPr sz="1000" b="0" i="0" u="none" strike="noStrike">
                    <a:solidFill>
                      <a:srgbClr val="44546A"/>
                    </a:solidFill>
                    <a:latin typeface="Arial"/>
                  </a:defRPr>
                </a:pPr>
                <a:r>
                  <a:rPr sz="1000" b="0" i="0" u="none" strike="noStrike">
                    <a:solidFill>
                      <a:srgbClr val="44546A"/>
                    </a:solidFill>
                    <a:latin typeface="Arial"/>
                  </a:rPr>
                  <a:t>Percent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54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061"/>
        </a:solidFill>
      </p:bgPr>
    </p:bg>
    <p:spTree>
      <p:nvGrpSpPr>
        <p:cNvPr id="1" name=""/>
        <p:cNvGrpSpPr/>
        <p:nvPr/>
      </p:nvGrpSpPr>
      <p:grpSpPr>
        <a:xfrm>
          <a:off x="0" y="0"/>
          <a:ext cx="0" cy="0"/>
          <a:chOff x="0" y="0"/>
          <a:chExt cx="0" cy="0"/>
        </a:xfrm>
      </p:grpSpPr>
      <p:sp>
        <p:nvSpPr>
          <p:cNvPr id="2" name="Shape 0"/>
          <p:cNvSpPr/>
          <p:nvPr/>
        </p:nvSpPr>
        <p:spPr>
          <a:xfrm>
            <a:off x="0" y="6309360"/>
            <a:ext cx="3047924" cy="548640"/>
          </a:xfrm>
          <a:prstGeom prst="rect">
            <a:avLst/>
          </a:prstGeom>
          <a:solidFill>
            <a:srgbClr val="005CB9"/>
          </a:solidFill>
          <a:ln/>
        </p:spPr>
      </p:sp>
      <p:sp>
        <p:nvSpPr>
          <p:cNvPr id="3" name="Shape 1"/>
          <p:cNvSpPr/>
          <p:nvPr/>
        </p:nvSpPr>
        <p:spPr>
          <a:xfrm>
            <a:off x="3047924" y="6309360"/>
            <a:ext cx="3047924" cy="548640"/>
          </a:xfrm>
          <a:prstGeom prst="rect">
            <a:avLst/>
          </a:prstGeom>
          <a:solidFill>
            <a:srgbClr val="00BB86"/>
          </a:solidFill>
          <a:ln/>
        </p:spPr>
      </p:sp>
      <p:sp>
        <p:nvSpPr>
          <p:cNvPr id="4" name="Shape 2"/>
          <p:cNvSpPr/>
          <p:nvPr/>
        </p:nvSpPr>
        <p:spPr>
          <a:xfrm>
            <a:off x="6095848" y="6309360"/>
            <a:ext cx="3047924" cy="548640"/>
          </a:xfrm>
          <a:prstGeom prst="rect">
            <a:avLst/>
          </a:prstGeom>
          <a:solidFill>
            <a:srgbClr val="F4A600"/>
          </a:solidFill>
          <a:ln/>
        </p:spPr>
      </p:sp>
      <p:sp>
        <p:nvSpPr>
          <p:cNvPr id="5" name="Shape 3"/>
          <p:cNvSpPr/>
          <p:nvPr/>
        </p:nvSpPr>
        <p:spPr>
          <a:xfrm>
            <a:off x="9143771" y="6309360"/>
            <a:ext cx="3047924" cy="548640"/>
          </a:xfrm>
          <a:prstGeom prst="rect">
            <a:avLst/>
          </a:prstGeom>
          <a:solidFill>
            <a:srgbClr val="00B9B3"/>
          </a:solidFill>
          <a:ln/>
        </p:spPr>
      </p:sp>
      <p:pic>
        <p:nvPicPr>
          <p:cNvPr id="6" name="Image 0" descr="/home/claude/remy_tomorrow/igs_logo.png">    </p:cNvPr>
          <p:cNvPicPr>
            <a:picLocks noChangeAspect="1"/>
          </p:cNvPicPr>
          <p:nvPr/>
        </p:nvPicPr>
        <p:blipFill>
          <a:blip r:embed="rId1"/>
          <a:stretch>
            <a:fillRect/>
          </a:stretch>
        </p:blipFill>
        <p:spPr>
          <a:xfrm>
            <a:off x="640080" y="502920"/>
            <a:ext cx="1417320" cy="369418"/>
          </a:xfrm>
          <a:prstGeom prst="rect">
            <a:avLst/>
          </a:prstGeom>
        </p:spPr>
      </p:pic>
      <p:sp>
        <p:nvSpPr>
          <p:cNvPr id="7" name="Text 4"/>
          <p:cNvSpPr/>
          <p:nvPr/>
        </p:nvSpPr>
        <p:spPr>
          <a:xfrm>
            <a:off x="822960" y="2148840"/>
            <a:ext cx="10515600" cy="1188720"/>
          </a:xfrm>
          <a:prstGeom prst="rect">
            <a:avLst/>
          </a:prstGeom>
          <a:noFill/>
          <a:ln/>
        </p:spPr>
        <p:txBody>
          <a:bodyPr wrap="square" rtlCol="0" anchor="ctr"/>
          <a:lstStyle/>
          <a:p>
            <a:pPr indent="0" marL="0">
              <a:lnSpc>
                <a:spcPct val="105000"/>
              </a:lnSpc>
              <a:buNone/>
            </a:pPr>
            <a:r>
              <a:rPr lang="en-US" sz="3200" b="1" dirty="0">
                <a:solidFill>
                  <a:srgbClr val="FFFFFF"/>
                </a:solidFill>
                <a:latin typeface="Calibri" pitchFamily="34" charset="0"/>
                <a:ea typeface="Calibri" pitchFamily="34" charset="-122"/>
                <a:cs typeface="Calibri" pitchFamily="34" charset="-120"/>
              </a:rPr>
              <a:t>WHAT WE'VE LEARNED ABOUT OUR CUSTOMERS</a:t>
            </a:r>
            <a:endParaRPr lang="en-US" sz="3200" dirty="0"/>
          </a:p>
        </p:txBody>
      </p:sp>
      <p:sp>
        <p:nvSpPr>
          <p:cNvPr id="8" name="Text 5"/>
          <p:cNvSpPr/>
          <p:nvPr/>
        </p:nvSpPr>
        <p:spPr>
          <a:xfrm>
            <a:off x="822960" y="3337560"/>
            <a:ext cx="10058400" cy="640080"/>
          </a:xfrm>
          <a:prstGeom prst="rect">
            <a:avLst/>
          </a:prstGeom>
          <a:noFill/>
          <a:ln/>
        </p:spPr>
        <p:txBody>
          <a:bodyPr wrap="square" rtlCol="0" anchor="ctr"/>
          <a:lstStyle/>
          <a:p>
            <a:pPr indent="0" marL="0">
              <a:lnSpc>
                <a:spcPct val="125000"/>
              </a:lnSpc>
              <a:buNone/>
            </a:pPr>
            <a:r>
              <a:rPr lang="en-US" sz="1600" dirty="0">
                <a:solidFill>
                  <a:srgbClr val="BFD9F0"/>
                </a:solidFill>
                <a:latin typeface="Calibri" pitchFamily="34" charset="0"/>
                <a:ea typeface="Calibri" pitchFamily="34" charset="-122"/>
                <a:cs typeface="Calibri" pitchFamily="34" charset="-120"/>
              </a:rPr>
              <a:t>Two things worth knowing: who costs more to serve, and why autopay gets turned off</a:t>
            </a:r>
            <a:endParaRPr lang="en-US" sz="1600" dirty="0"/>
          </a:p>
        </p:txBody>
      </p:sp>
      <p:pic>
        <p:nvPicPr>
          <p:cNvPr id="9" name="Image 1" descr="/home/claude/remy_tomorrow/igs_logo.png">    </p:cNvPr>
          <p:cNvPicPr>
            <a:picLocks noChangeAspect="1"/>
          </p:cNvPicPr>
          <p:nvPr/>
        </p:nvPicPr>
        <p:blipFill>
          <a:blip r:embed="rId2"/>
          <a:stretch>
            <a:fillRect/>
          </a:stretch>
        </p:blipFill>
        <p:spPr>
          <a:xfrm>
            <a:off x="457200" y="6473952"/>
            <a:ext cx="777240" cy="202997"/>
          </a:xfrm>
          <a:prstGeom prst="rect">
            <a:avLst/>
          </a:prstGeom>
        </p:spPr>
      </p:pic>
      <p:sp>
        <p:nvSpPr>
          <p:cNvPr id="10" name="Text 6"/>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528316" cy="274320"/>
          </a:xfrm>
          <a:prstGeom prst="roundRect">
            <a:avLst>
              <a:gd name="adj" fmla="val 166667"/>
            </a:avLst>
          </a:prstGeom>
          <a:solidFill>
            <a:srgbClr val="F4A600"/>
          </a:solidFill>
          <a:ln/>
        </p:spPr>
      </p:sp>
      <p:sp>
        <p:nvSpPr>
          <p:cNvPr id="3" name="Text 1"/>
          <p:cNvSpPr/>
          <p:nvPr/>
        </p:nvSpPr>
        <p:spPr>
          <a:xfrm>
            <a:off x="548640" y="365760"/>
            <a:ext cx="2528316"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PART 1 — THE MAIN THING</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Why We Looked At This</a:t>
            </a:r>
            <a:endParaRPr lang="en-US" sz="2500" dirty="0"/>
          </a:p>
        </p:txBody>
      </p:sp>
      <p:sp>
        <p:nvSpPr>
          <p:cNvPr id="5" name="Text 3"/>
          <p:cNvSpPr/>
          <p:nvPr/>
        </p:nvSpPr>
        <p:spPr>
          <a:xfrm>
            <a:off x="548640" y="1463040"/>
            <a:ext cx="10881360" cy="1828800"/>
          </a:xfrm>
          <a:prstGeom prst="rect">
            <a:avLst/>
          </a:prstGeom>
          <a:noFill/>
          <a:ln/>
        </p:spPr>
        <p:txBody>
          <a:bodyPr wrap="square" rtlCol="0" anchor="ctr"/>
          <a:lstStyle/>
          <a:p>
            <a:pPr indent="0" marL="0">
              <a:lnSpc>
                <a:spcPct val="140000"/>
              </a:lnSpc>
              <a:buNone/>
            </a:pPr>
            <a:r>
              <a:rPr lang="en-US" sz="1600" dirty="0">
                <a:solidFill>
                  <a:srgbClr val="3C3C3C"/>
                </a:solidFill>
                <a:latin typeface="Calibri" pitchFamily="34" charset="0"/>
                <a:ea typeface="Calibri" pitchFamily="34" charset="-122"/>
                <a:cs typeface="Calibri" pitchFamily="34" charset="-120"/>
              </a:rPr>
              <a:t>Not every customer costs the same amount to take care of. Some customers call in for help much more often than others. We wanted to find out: can we tell, in advance, which customers are more likely to need extra help? If we can, that's useful information for deciding which customers to bring on in the first place, and how to plan for the ones we already have.</a:t>
            </a:r>
            <a:endParaRPr lang="en-US" sz="1600" dirty="0"/>
          </a:p>
        </p:txBody>
      </p:sp>
      <p:sp>
        <p:nvSpPr>
          <p:cNvPr id="6" name="Shape 4"/>
          <p:cNvSpPr/>
          <p:nvPr/>
        </p:nvSpPr>
        <p:spPr>
          <a:xfrm>
            <a:off x="548640" y="3657600"/>
            <a:ext cx="11064240" cy="1463040"/>
          </a:xfrm>
          <a:prstGeom prst="roundRect">
            <a:avLst>
              <a:gd name="adj" fmla="val 5000"/>
            </a:avLst>
          </a:prstGeom>
          <a:solidFill>
            <a:srgbClr val="F5F8FA"/>
          </a:solidFill>
          <a:ln/>
        </p:spPr>
      </p:sp>
      <p:sp>
        <p:nvSpPr>
          <p:cNvPr id="7" name="Text 5"/>
          <p:cNvSpPr/>
          <p:nvPr/>
        </p:nvSpPr>
        <p:spPr>
          <a:xfrm>
            <a:off x="822960" y="3840480"/>
            <a:ext cx="3657600" cy="365760"/>
          </a:xfrm>
          <a:prstGeom prst="rect">
            <a:avLst/>
          </a:prstGeom>
          <a:noFill/>
          <a:ln/>
        </p:spPr>
        <p:txBody>
          <a:bodyPr wrap="square" rtlCol="0" anchor="ctr"/>
          <a:lstStyle/>
          <a:p>
            <a:pPr indent="0" marL="0">
              <a:buNone/>
            </a:pPr>
            <a:r>
              <a:rPr lang="en-US" sz="1400" b="1" dirty="0">
                <a:solidFill>
                  <a:srgbClr val="00BB86"/>
                </a:solidFill>
                <a:latin typeface="Calibri" pitchFamily="34" charset="0"/>
                <a:ea typeface="Calibri" pitchFamily="34" charset="-122"/>
                <a:cs typeface="Calibri" pitchFamily="34" charset="-120"/>
              </a:rPr>
              <a:t>In plain terms:</a:t>
            </a:r>
            <a:endParaRPr lang="en-US" sz="1400" dirty="0"/>
          </a:p>
        </p:txBody>
      </p:sp>
      <p:sp>
        <p:nvSpPr>
          <p:cNvPr id="8" name="Text 6"/>
          <p:cNvSpPr/>
          <p:nvPr/>
        </p:nvSpPr>
        <p:spPr>
          <a:xfrm>
            <a:off x="822960" y="4251960"/>
            <a:ext cx="10515600" cy="731520"/>
          </a:xfrm>
          <a:prstGeom prst="rect">
            <a:avLst/>
          </a:prstGeom>
          <a:noFill/>
          <a:ln/>
        </p:spPr>
        <p:txBody>
          <a:bodyPr wrap="square" rtlCol="0" anchor="ctr"/>
          <a:lstStyle/>
          <a:p>
            <a:pPr indent="0" marL="0">
              <a:lnSpc>
                <a:spcPct val="130000"/>
              </a:lnSpc>
              <a:buNone/>
            </a:pPr>
            <a:r>
              <a:rPr lang="en-US" sz="1500" dirty="0">
                <a:solidFill>
                  <a:srgbClr val="3C3C3C"/>
                </a:solidFill>
                <a:latin typeface="Calibri" pitchFamily="34" charset="0"/>
                <a:ea typeface="Calibri" pitchFamily="34" charset="-122"/>
                <a:cs typeface="Calibri" pitchFamily="34" charset="-120"/>
              </a:rPr>
              <a:t>We wanted to know: are some kinds of customers just naturally more work for us than others, and can we spot them ahead of time?</a:t>
            </a:r>
            <a:endParaRPr lang="en-US" sz="1500" dirty="0"/>
          </a:p>
        </p:txBody>
      </p:sp>
      <p:pic>
        <p:nvPicPr>
          <p:cNvPr id="9" name="Image 0" descr="/home/claude/remy_tomorrow/igs_logo.png">    </p:cNvPr>
          <p:cNvPicPr>
            <a:picLocks noChangeAspect="1"/>
          </p:cNvPicPr>
          <p:nvPr/>
        </p:nvPicPr>
        <p:blipFill>
          <a:blip r:embed="rId1"/>
          <a:stretch>
            <a:fillRect/>
          </a:stretch>
        </p:blipFill>
        <p:spPr>
          <a:xfrm>
            <a:off x="457200" y="6473952"/>
            <a:ext cx="777240" cy="202997"/>
          </a:xfrm>
          <a:prstGeom prst="rect">
            <a:avLst/>
          </a:prstGeom>
        </p:spPr>
      </p:pic>
      <p:sp>
        <p:nvSpPr>
          <p:cNvPr id="10" name="Text 7"/>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144268" cy="274320"/>
          </a:xfrm>
          <a:prstGeom prst="roundRect">
            <a:avLst>
              <a:gd name="adj" fmla="val 166667"/>
            </a:avLst>
          </a:prstGeom>
          <a:solidFill>
            <a:srgbClr val="00BB86"/>
          </a:solidFill>
          <a:ln/>
        </p:spPr>
      </p:sp>
      <p:sp>
        <p:nvSpPr>
          <p:cNvPr id="3" name="Text 1"/>
          <p:cNvSpPr/>
          <p:nvPr/>
        </p:nvSpPr>
        <p:spPr>
          <a:xfrm>
            <a:off x="548640" y="365760"/>
            <a:ext cx="2144268"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PART 1 — THE METHOD</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How We Did This</a:t>
            </a:r>
            <a:endParaRPr lang="en-US" sz="2500" dirty="0"/>
          </a:p>
        </p:txBody>
      </p:sp>
      <p:sp>
        <p:nvSpPr>
          <p:cNvPr id="5" name="Shape 3"/>
          <p:cNvSpPr/>
          <p:nvPr/>
        </p:nvSpPr>
        <p:spPr>
          <a:xfrm>
            <a:off x="548640" y="1554480"/>
            <a:ext cx="502920" cy="502920"/>
          </a:xfrm>
          <a:prstGeom prst="ellipse">
            <a:avLst/>
          </a:prstGeom>
          <a:solidFill>
            <a:srgbClr val="005CB9"/>
          </a:solidFill>
          <a:ln/>
        </p:spPr>
      </p:sp>
      <p:sp>
        <p:nvSpPr>
          <p:cNvPr id="6" name="Text 4"/>
          <p:cNvSpPr/>
          <p:nvPr/>
        </p:nvSpPr>
        <p:spPr>
          <a:xfrm>
            <a:off x="548640" y="155448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234440" y="150876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Split customers into two simple groups</a:t>
            </a:r>
            <a:endParaRPr lang="en-US" sz="1500" dirty="0"/>
          </a:p>
        </p:txBody>
      </p:sp>
      <p:sp>
        <p:nvSpPr>
          <p:cNvPr id="8" name="Text 6"/>
          <p:cNvSpPr/>
          <p:nvPr/>
        </p:nvSpPr>
        <p:spPr>
          <a:xfrm>
            <a:off x="1234440" y="187452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We grouped customers by their credit score — a number that reflects how reliably someone pays their bills — into “lower” and “higher” groups.</a:t>
            </a:r>
            <a:endParaRPr lang="en-US" sz="1250" dirty="0"/>
          </a:p>
        </p:txBody>
      </p:sp>
      <p:sp>
        <p:nvSpPr>
          <p:cNvPr id="9" name="Shape 7"/>
          <p:cNvSpPr/>
          <p:nvPr/>
        </p:nvSpPr>
        <p:spPr>
          <a:xfrm>
            <a:off x="548640" y="2606040"/>
            <a:ext cx="502920" cy="502920"/>
          </a:xfrm>
          <a:prstGeom prst="ellipse">
            <a:avLst/>
          </a:prstGeom>
          <a:solidFill>
            <a:srgbClr val="005CB9"/>
          </a:solidFill>
          <a:ln/>
        </p:spPr>
      </p:sp>
      <p:sp>
        <p:nvSpPr>
          <p:cNvPr id="10" name="Text 8"/>
          <p:cNvSpPr/>
          <p:nvPr/>
        </p:nvSpPr>
        <p:spPr>
          <a:xfrm>
            <a:off x="548640" y="26060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234440" y="256032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Also split them by bill size</a:t>
            </a:r>
            <a:endParaRPr lang="en-US" sz="1500" dirty="0"/>
          </a:p>
        </p:txBody>
      </p:sp>
      <p:sp>
        <p:nvSpPr>
          <p:cNvPr id="12" name="Text 10"/>
          <p:cNvSpPr/>
          <p:nvPr/>
        </p:nvSpPr>
        <p:spPr>
          <a:xfrm>
            <a:off x="1234440" y="292608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We separately grouped customers by how big their typical bill is, from smaller bills to $400 or more.</a:t>
            </a:r>
            <a:endParaRPr lang="en-US" sz="1250" dirty="0"/>
          </a:p>
        </p:txBody>
      </p:sp>
      <p:sp>
        <p:nvSpPr>
          <p:cNvPr id="13" name="Shape 11"/>
          <p:cNvSpPr/>
          <p:nvPr/>
        </p:nvSpPr>
        <p:spPr>
          <a:xfrm>
            <a:off x="548640" y="3657600"/>
            <a:ext cx="502920" cy="502920"/>
          </a:xfrm>
          <a:prstGeom prst="ellipse">
            <a:avLst/>
          </a:prstGeom>
          <a:solidFill>
            <a:srgbClr val="005CB9"/>
          </a:solidFill>
          <a:ln/>
        </p:spPr>
      </p:sp>
      <p:sp>
        <p:nvSpPr>
          <p:cNvPr id="14" name="Text 12"/>
          <p:cNvSpPr/>
          <p:nvPr/>
        </p:nvSpPr>
        <p:spPr>
          <a:xfrm>
            <a:off x="548640" y="36576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234440" y="361188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Counted how often each group called in</a:t>
            </a:r>
            <a:endParaRPr lang="en-US" sz="1500" dirty="0"/>
          </a:p>
        </p:txBody>
      </p:sp>
      <p:sp>
        <p:nvSpPr>
          <p:cNvPr id="16" name="Text 14"/>
          <p:cNvSpPr/>
          <p:nvPr/>
        </p:nvSpPr>
        <p:spPr>
          <a:xfrm>
            <a:off x="1234440" y="397764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For every combination of credit group and bill size, we counted how many times, on average, that kind of customer called us for help.</a:t>
            </a:r>
            <a:endParaRPr lang="en-US" sz="1250" dirty="0"/>
          </a:p>
        </p:txBody>
      </p:sp>
      <p:sp>
        <p:nvSpPr>
          <p:cNvPr id="17" name="Shape 15"/>
          <p:cNvSpPr/>
          <p:nvPr/>
        </p:nvSpPr>
        <p:spPr>
          <a:xfrm>
            <a:off x="548640" y="4709160"/>
            <a:ext cx="502920" cy="502920"/>
          </a:xfrm>
          <a:prstGeom prst="ellipse">
            <a:avLst/>
          </a:prstGeom>
          <a:solidFill>
            <a:srgbClr val="005CB9"/>
          </a:solidFill>
          <a:ln/>
        </p:spPr>
      </p:sp>
      <p:sp>
        <p:nvSpPr>
          <p:cNvPr id="18" name="Text 16"/>
          <p:cNvSpPr/>
          <p:nvPr/>
        </p:nvSpPr>
        <p:spPr>
          <a:xfrm>
            <a:off x="548640" y="47091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1234440" y="466344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Checked there were enough customers in each group</a:t>
            </a:r>
            <a:endParaRPr lang="en-US" sz="1500" dirty="0"/>
          </a:p>
        </p:txBody>
      </p:sp>
      <p:sp>
        <p:nvSpPr>
          <p:cNvPr id="20" name="Text 18"/>
          <p:cNvSpPr/>
          <p:nvPr/>
        </p:nvSpPr>
        <p:spPr>
          <a:xfrm>
            <a:off x="1234440" y="502920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Before trusting the numbers, we made sure every group had plenty of customers in it — not just a tiny handful that could be a fluke.</a:t>
            </a:r>
            <a:endParaRPr lang="en-US" sz="1250" dirty="0"/>
          </a:p>
        </p:txBody>
      </p:sp>
      <p:sp>
        <p:nvSpPr>
          <p:cNvPr id="21" name="Shape 19"/>
          <p:cNvSpPr/>
          <p:nvPr/>
        </p:nvSpPr>
        <p:spPr>
          <a:xfrm>
            <a:off x="548640" y="5623560"/>
            <a:ext cx="11064240" cy="777240"/>
          </a:xfrm>
          <a:prstGeom prst="roundRect">
            <a:avLst>
              <a:gd name="adj" fmla="val 7059"/>
            </a:avLst>
          </a:prstGeom>
          <a:solidFill>
            <a:srgbClr val="F5F8FA"/>
          </a:solidFill>
          <a:ln/>
        </p:spPr>
      </p:sp>
      <p:sp>
        <p:nvSpPr>
          <p:cNvPr id="22" name="Text 20"/>
          <p:cNvSpPr/>
          <p:nvPr/>
        </p:nvSpPr>
        <p:spPr>
          <a:xfrm>
            <a:off x="822960" y="5742432"/>
            <a:ext cx="10515600" cy="548640"/>
          </a:xfrm>
          <a:prstGeom prst="rect">
            <a:avLst/>
          </a:prstGeom>
          <a:noFill/>
          <a:ln/>
        </p:spPr>
        <p:txBody>
          <a:bodyPr wrap="square" rtlCol="0" anchor="ctr"/>
          <a:lstStyle/>
          <a:p>
            <a:pPr indent="0" marL="0">
              <a:lnSpc>
                <a:spcPct val="120000"/>
              </a:lnSpc>
              <a:buNone/>
            </a:pPr>
            <a:r>
              <a:rPr lang="en-US" sz="1300" b="1" dirty="0">
                <a:solidFill>
                  <a:srgbClr val="004061"/>
                </a:solidFill>
                <a:latin typeface="Calibri" pitchFamily="34" charset="0"/>
                <a:ea typeface="Calibri" pitchFamily="34" charset="-122"/>
                <a:cs typeface="Calibri" pitchFamily="34" charset="-120"/>
              </a:rPr>
              <a:t>Tools used:  </a:t>
            </a:r>
            <a:pPr indent="0" marL="0">
              <a:lnSpc>
                <a:spcPct val="120000"/>
              </a:lnSpc>
              <a:buNone/>
            </a:pPr>
            <a:r>
              <a:rPr lang="en-US" sz="1300" dirty="0">
                <a:solidFill>
                  <a:srgbClr val="3C3C3C"/>
                </a:solidFill>
                <a:latin typeface="Calibri" pitchFamily="34" charset="0"/>
                <a:ea typeface="Calibri" pitchFamily="34" charset="-122"/>
                <a:cs typeface="Calibri" pitchFamily="34" charset="-120"/>
              </a:rPr>
              <a:t>We used SQL — a way of asking our company's databases direct questions — to pull real records for every customer and every call. Nothing outside our own systems.</a:t>
            </a:r>
            <a:endParaRPr lang="en-US" sz="1300" dirty="0"/>
          </a:p>
        </p:txBody>
      </p:sp>
      <p:pic>
        <p:nvPicPr>
          <p:cNvPr id="23" name="Image 0" descr="/home/claude/remy_tomorrow/igs_logo.png">    </p:cNvPr>
          <p:cNvPicPr>
            <a:picLocks noChangeAspect="1"/>
          </p:cNvPicPr>
          <p:nvPr/>
        </p:nvPicPr>
        <p:blipFill>
          <a:blip r:embed="rId1"/>
          <a:stretch>
            <a:fillRect/>
          </a:stretch>
        </p:blipFill>
        <p:spPr>
          <a:xfrm>
            <a:off x="457200" y="6473952"/>
            <a:ext cx="777240" cy="202997"/>
          </a:xfrm>
          <a:prstGeom prst="rect">
            <a:avLst/>
          </a:prstGeom>
        </p:spPr>
      </p:pic>
      <p:sp>
        <p:nvSpPr>
          <p:cNvPr id="24" name="Text 21"/>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376172" cy="274320"/>
          </a:xfrm>
          <a:prstGeom prst="roundRect">
            <a:avLst>
              <a:gd name="adj" fmla="val 166667"/>
            </a:avLst>
          </a:prstGeom>
          <a:solidFill>
            <a:srgbClr val="F4A600"/>
          </a:solidFill>
          <a:ln/>
        </p:spPr>
      </p:sp>
      <p:sp>
        <p:nvSpPr>
          <p:cNvPr id="3" name="Text 1"/>
          <p:cNvSpPr/>
          <p:nvPr/>
        </p:nvSpPr>
        <p:spPr>
          <a:xfrm>
            <a:off x="548640" y="365760"/>
            <a:ext cx="1376172"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THE FINDING</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Some Customers Cost More to Serve Than Others</a:t>
            </a:r>
            <a:endParaRPr lang="en-US" sz="25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And we can tell which ones, before they even become a problem</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400800" cy="914400"/>
        </p:xfrm>
        <a:graphic>
          <a:graphicData uri="http://schemas.openxmlformats.org/drawingml/2006/table">
            <a:tbl>
              <a:tblPr/>
              <a:tblGrid>
                <a:gridCol w="1554480"/>
                <a:gridCol w="1737360"/>
                <a:gridCol w="1737360"/>
                <a:gridCol w="1371600"/>
              </a:tblGrid>
              <a:tr h="50292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Bill Size</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Lower Credit</a:t>
                      </a:r>
                      <a:endParaRPr lang="en-US" sz="1150" dirty="0">
                        <a:latin typeface="Calibri" charset="0"/>
                        <a:ea typeface="Calibri" charset="0"/>
                        <a:cs typeface="Calibri" charset="0"/>
                      </a:endParaRPr>
                    </a:p>
                    <a:p>
                      <a:pPr algn="ctr" indent="0" marL="0">
                        <a:buNone/>
                      </a:pPr>
                      <a:r>
                        <a:rPr lang="en-US" sz="1150" b="1" dirty="0">
                          <a:solidFill>
                            <a:srgbClr val="FFFFFF"/>
                          </a:solidFill>
                          <a:latin typeface="Calibri" pitchFamily="34" charset="0"/>
                          <a:ea typeface="Calibri" pitchFamily="34" charset="-122"/>
                          <a:cs typeface="Calibri" pitchFamily="34" charset="-120"/>
                        </a:rPr>
                        <a:t>Customers</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Higher Credit</a:t>
                      </a:r>
                      <a:endParaRPr lang="en-US" sz="1150" dirty="0">
                        <a:latin typeface="Calibri" charset="0"/>
                        <a:ea typeface="Calibri" charset="0"/>
                        <a:cs typeface="Calibri" charset="0"/>
                      </a:endParaRPr>
                    </a:p>
                    <a:p>
                      <a:pPr algn="ctr" indent="0" marL="0">
                        <a:buNone/>
                      </a:pPr>
                      <a:r>
                        <a:rPr lang="en-US" sz="1150" b="1" dirty="0">
                          <a:solidFill>
                            <a:srgbClr val="FFFFFF"/>
                          </a:solidFill>
                          <a:latin typeface="Calibri" pitchFamily="34" charset="0"/>
                          <a:ea typeface="Calibri" pitchFamily="34" charset="-122"/>
                          <a:cs typeface="Calibri" pitchFamily="34" charset="-120"/>
                        </a:rPr>
                        <a:t>Customers</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How Much More</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r>
              <a:tr h="502920">
                <a:tc>
                  <a:txBody>
                    <a:bodyPr/>
                    <a:lstStyle/>
                    <a:p>
                      <a:pPr algn="ctr" indent="0" marL="0">
                        <a:buNone/>
                      </a:pPr>
                      <a:r>
                        <a:rPr lang="en-US" sz="1300" b="1" dirty="0">
                          <a:solidFill>
                            <a:srgbClr val="3C3C3C"/>
                          </a:solidFill>
                          <a:latin typeface="Calibri" pitchFamily="34" charset="0"/>
                          <a:ea typeface="Calibri" pitchFamily="34" charset="-122"/>
                          <a:cs typeface="Calibri" pitchFamily="34" charset="-120"/>
                        </a:rPr>
                        <a:t>$200–$300</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1.01 calls</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0.39 calls</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4A600"/>
                          </a:solidFill>
                          <a:latin typeface="Calibri" pitchFamily="34" charset="0"/>
                          <a:ea typeface="Calibri" pitchFamily="34" charset="-122"/>
                          <a:cs typeface="Calibri" pitchFamily="34" charset="-120"/>
                        </a:rPr>
                        <a:t>2.6x more</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r h="502920">
                <a:tc>
                  <a:txBody>
                    <a:bodyPr/>
                    <a:lstStyle/>
                    <a:p>
                      <a:pPr algn="ctr" indent="0" marL="0">
                        <a:buNone/>
                      </a:pPr>
                      <a:r>
                        <a:rPr lang="en-US" sz="1300" b="1" dirty="0">
                          <a:solidFill>
                            <a:srgbClr val="3C3C3C"/>
                          </a:solidFill>
                          <a:latin typeface="Calibri" pitchFamily="34" charset="0"/>
                          <a:ea typeface="Calibri" pitchFamily="34" charset="-122"/>
                          <a:cs typeface="Calibri" pitchFamily="34" charset="-120"/>
                        </a:rPr>
                        <a:t>$300–$400</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1.09 calls</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0.40 calls</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300" b="1" dirty="0">
                          <a:solidFill>
                            <a:srgbClr val="F4A600"/>
                          </a:solidFill>
                          <a:latin typeface="Calibri" pitchFamily="34" charset="0"/>
                          <a:ea typeface="Calibri" pitchFamily="34" charset="-122"/>
                          <a:cs typeface="Calibri" pitchFamily="34" charset="-120"/>
                        </a:rPr>
                        <a:t>2.7x more</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r>
              <a:tr h="502920">
                <a:tc>
                  <a:txBody>
                    <a:bodyPr/>
                    <a:lstStyle/>
                    <a:p>
                      <a:pPr algn="ctr" indent="0" marL="0">
                        <a:buNone/>
                      </a:pPr>
                      <a:r>
                        <a:rPr lang="en-US" sz="1300" b="1" dirty="0">
                          <a:solidFill>
                            <a:srgbClr val="3C3C3C"/>
                          </a:solidFill>
                          <a:latin typeface="Calibri" pitchFamily="34" charset="0"/>
                          <a:ea typeface="Calibri" pitchFamily="34" charset="-122"/>
                          <a:cs typeface="Calibri" pitchFamily="34" charset="-120"/>
                        </a:rPr>
                        <a:t>$400+</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1.28 calls</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0.43 calls</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4A600"/>
                          </a:solidFill>
                          <a:latin typeface="Calibri" pitchFamily="34" charset="0"/>
                          <a:ea typeface="Calibri" pitchFamily="34" charset="-122"/>
                          <a:cs typeface="Calibri" pitchFamily="34" charset="-120"/>
                        </a:rPr>
                        <a:t>3.0x more</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3794760"/>
            <a:ext cx="6400800" cy="320040"/>
          </a:xfrm>
          <a:prstGeom prst="rect">
            <a:avLst/>
          </a:prstGeom>
          <a:noFill/>
          <a:ln/>
        </p:spPr>
        <p:txBody>
          <a:bodyPr wrap="square" rtlCol="0" anchor="ctr"/>
          <a:lstStyle/>
          <a:p>
            <a:pPr indent="0" marL="0">
              <a:buNone/>
            </a:pPr>
            <a:r>
              <a:rPr lang="en-US" sz="1050" i="1" dirty="0">
                <a:solidFill>
                  <a:srgbClr val="44546A"/>
                </a:solidFill>
                <a:latin typeface="Calibri" pitchFamily="34" charset="0"/>
                <a:ea typeface="Calibri" pitchFamily="34" charset="-122"/>
                <a:cs typeface="Calibri" pitchFamily="34" charset="-120"/>
              </a:rPr>
              <a:t>Average number of calls per customer, over 6 months</a:t>
            </a:r>
            <a:endParaRPr lang="en-US" sz="1050" dirty="0"/>
          </a:p>
        </p:txBody>
      </p:sp>
      <p:sp>
        <p:nvSpPr>
          <p:cNvPr id="8" name="Shape 5"/>
          <p:cNvSpPr/>
          <p:nvPr/>
        </p:nvSpPr>
        <p:spPr>
          <a:xfrm>
            <a:off x="7178040" y="1691640"/>
            <a:ext cx="4434840" cy="2606040"/>
          </a:xfrm>
          <a:prstGeom prst="roundRect">
            <a:avLst>
              <a:gd name="adj" fmla="val 2807"/>
            </a:avLst>
          </a:prstGeom>
          <a:solidFill>
            <a:srgbClr val="F5F8FA"/>
          </a:solidFill>
          <a:ln/>
        </p:spPr>
      </p:sp>
      <p:sp>
        <p:nvSpPr>
          <p:cNvPr id="9" name="Text 6"/>
          <p:cNvSpPr/>
          <p:nvPr/>
        </p:nvSpPr>
        <p:spPr>
          <a:xfrm>
            <a:off x="7406640" y="1920240"/>
            <a:ext cx="3977640" cy="2148840"/>
          </a:xfrm>
          <a:prstGeom prst="rect">
            <a:avLst/>
          </a:prstGeom>
          <a:noFill/>
          <a:ln/>
        </p:spPr>
        <p:txBody>
          <a:bodyPr wrap="square" rtlCol="0" anchor="ctr"/>
          <a:lstStyle/>
          <a:p>
            <a:pPr indent="0" marL="0">
              <a:lnSpc>
                <a:spcPct val="135000"/>
              </a:lnSpc>
              <a:buNone/>
            </a:pPr>
            <a:r>
              <a:rPr lang="en-US" sz="1500" b="1" dirty="0">
                <a:solidFill>
                  <a:srgbClr val="004061"/>
                </a:solidFill>
                <a:latin typeface="Calibri" pitchFamily="34" charset="0"/>
                <a:ea typeface="Calibri" pitchFamily="34" charset="-122"/>
                <a:cs typeface="Calibri" pitchFamily="34" charset="-120"/>
              </a:rPr>
              <a:t>At every bill size, customers with lower credit scores call us 2.6 to 3 times more often than customers with higher credit scores.</a:t>
            </a:r>
            <a:endParaRPr lang="en-US" sz="1500" dirty="0"/>
          </a:p>
        </p:txBody>
      </p:sp>
      <p:sp>
        <p:nvSpPr>
          <p:cNvPr id="10" name="Shape 7"/>
          <p:cNvSpPr/>
          <p:nvPr/>
        </p:nvSpPr>
        <p:spPr>
          <a:xfrm>
            <a:off x="548640" y="4434840"/>
            <a:ext cx="11064240" cy="1554480"/>
          </a:xfrm>
          <a:prstGeom prst="roundRect">
            <a:avLst>
              <a:gd name="adj" fmla="val 4706"/>
            </a:avLst>
          </a:prstGeom>
          <a:solidFill>
            <a:srgbClr val="E9F2FF"/>
          </a:solidFill>
          <a:ln/>
        </p:spPr>
      </p:sp>
      <p:sp>
        <p:nvSpPr>
          <p:cNvPr id="11" name="Text 8"/>
          <p:cNvSpPr/>
          <p:nvPr/>
        </p:nvSpPr>
        <p:spPr>
          <a:xfrm>
            <a:off x="822960" y="4572000"/>
            <a:ext cx="2743200" cy="320040"/>
          </a:xfrm>
          <a:prstGeom prst="rect">
            <a:avLst/>
          </a:prstGeom>
          <a:noFill/>
          <a:ln/>
        </p:spPr>
        <p:txBody>
          <a:bodyPr wrap="square" rtlCol="0" anchor="ctr"/>
          <a:lstStyle/>
          <a:p>
            <a:pPr indent="0" marL="0">
              <a:buNone/>
            </a:pPr>
            <a:r>
              <a:rPr lang="en-US" sz="1300" b="1" dirty="0">
                <a:solidFill>
                  <a:srgbClr val="005CB9"/>
                </a:solidFill>
                <a:latin typeface="Calibri" pitchFamily="34" charset="0"/>
                <a:ea typeface="Calibri" pitchFamily="34" charset="-122"/>
                <a:cs typeface="Calibri" pitchFamily="34" charset="-120"/>
              </a:rPr>
              <a:t>In plain terms:</a:t>
            </a:r>
            <a:endParaRPr lang="en-US" sz="1300" dirty="0"/>
          </a:p>
        </p:txBody>
      </p:sp>
      <p:sp>
        <p:nvSpPr>
          <p:cNvPr id="12" name="Text 9"/>
          <p:cNvSpPr/>
          <p:nvPr/>
        </p:nvSpPr>
        <p:spPr>
          <a:xfrm>
            <a:off x="822960" y="4892040"/>
            <a:ext cx="10515600" cy="1005840"/>
          </a:xfrm>
          <a:prstGeom prst="rect">
            <a:avLst/>
          </a:prstGeom>
          <a:noFill/>
          <a:ln/>
        </p:spPr>
        <p:txBody>
          <a:bodyPr wrap="square" rtlCol="0" anchor="ctr"/>
          <a:lstStyle/>
          <a:p>
            <a:pPr indent="0" marL="0">
              <a:lnSpc>
                <a:spcPct val="130000"/>
              </a:lnSpc>
              <a:buNone/>
            </a:pPr>
            <a:r>
              <a:rPr lang="en-US" sz="1300" dirty="0">
                <a:solidFill>
                  <a:srgbClr val="3C3C3C"/>
                </a:solidFill>
                <a:latin typeface="Calibri" pitchFamily="34" charset="0"/>
                <a:ea typeface="Calibri" pitchFamily="34" charset="-122"/>
                <a:cs typeface="Calibri" pitchFamily="34" charset="-120"/>
              </a:rPr>
              <a:t>Credit score — not bill size — is the strongest sign of who's going to need more help from us. This is a real, useful number for deciding which customers to bring on, since it tells us who's more likely to need extra support later.</a:t>
            </a:r>
            <a:endParaRPr lang="en-US" sz="1300" dirty="0"/>
          </a:p>
        </p:txBody>
      </p:sp>
      <p:pic>
        <p:nvPicPr>
          <p:cNvPr id="13" name="Image 0" descr="/home/claude/remy_tomorrow/igs_logo.png">    </p:cNvPr>
          <p:cNvPicPr>
            <a:picLocks noChangeAspect="1"/>
          </p:cNvPicPr>
          <p:nvPr/>
        </p:nvPicPr>
        <p:blipFill>
          <a:blip r:embed="rId1"/>
          <a:stretch>
            <a:fillRect/>
          </a:stretch>
        </p:blipFill>
        <p:spPr>
          <a:xfrm>
            <a:off x="457200" y="6473952"/>
            <a:ext cx="777240" cy="202997"/>
          </a:xfrm>
          <a:prstGeom prst="rect">
            <a:avLst/>
          </a:prstGeom>
        </p:spPr>
      </p:pic>
      <p:sp>
        <p:nvSpPr>
          <p:cNvPr id="14" name="Text 10"/>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896112" cy="274320"/>
          </a:xfrm>
          <a:prstGeom prst="roundRect">
            <a:avLst>
              <a:gd name="adj" fmla="val 166667"/>
            </a:avLst>
          </a:prstGeom>
          <a:solidFill>
            <a:srgbClr val="005CB9"/>
          </a:solidFill>
          <a:ln/>
        </p:spPr>
      </p:sp>
      <p:sp>
        <p:nvSpPr>
          <p:cNvPr id="3" name="Text 1"/>
          <p:cNvSpPr/>
          <p:nvPr/>
        </p:nvSpPr>
        <p:spPr>
          <a:xfrm>
            <a:off x="548640" y="365760"/>
            <a:ext cx="896112"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PART 2</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Why We Looked At This</a:t>
            </a:r>
            <a:endParaRPr lang="en-US" sz="2500" dirty="0"/>
          </a:p>
        </p:txBody>
      </p:sp>
      <p:sp>
        <p:nvSpPr>
          <p:cNvPr id="5" name="Text 3"/>
          <p:cNvSpPr/>
          <p:nvPr/>
        </p:nvSpPr>
        <p:spPr>
          <a:xfrm>
            <a:off x="548640" y="1463040"/>
            <a:ext cx="10881360" cy="1828800"/>
          </a:xfrm>
          <a:prstGeom prst="rect">
            <a:avLst/>
          </a:prstGeom>
          <a:noFill/>
          <a:ln/>
        </p:spPr>
        <p:txBody>
          <a:bodyPr wrap="square" rtlCol="0" anchor="ctr"/>
          <a:lstStyle/>
          <a:p>
            <a:pPr indent="0" marL="0">
              <a:lnSpc>
                <a:spcPct val="140000"/>
              </a:lnSpc>
              <a:buNone/>
            </a:pPr>
            <a:r>
              <a:rPr lang="en-US" sz="1600" dirty="0">
                <a:solidFill>
                  <a:srgbClr val="3C3C3C"/>
                </a:solidFill>
                <a:latin typeface="Calibri" pitchFamily="34" charset="0"/>
                <a:ea typeface="Calibri" pitchFamily="34" charset="-122"/>
                <a:cs typeface="Calibri" pitchFamily="34" charset="-120"/>
              </a:rPr>
              <a:t>Every month, some customers turn off their automatic bill payment (“autopay”). The team believed most of these were brand-new customers backing out early — about 38 out of every 100 removals, or 38%. That mattered because if new customers were the problem, the fix would be about how we welcome new customers. We wanted to check: is that actually true? And if not, what IS actually causing people to turn it off?</a:t>
            </a:r>
            <a:endParaRPr lang="en-US" sz="1600" dirty="0"/>
          </a:p>
        </p:txBody>
      </p:sp>
      <p:sp>
        <p:nvSpPr>
          <p:cNvPr id="6" name="Shape 4"/>
          <p:cNvSpPr/>
          <p:nvPr/>
        </p:nvSpPr>
        <p:spPr>
          <a:xfrm>
            <a:off x="548640" y="3657600"/>
            <a:ext cx="11064240" cy="1463040"/>
          </a:xfrm>
          <a:prstGeom prst="roundRect">
            <a:avLst>
              <a:gd name="adj" fmla="val 5000"/>
            </a:avLst>
          </a:prstGeom>
          <a:solidFill>
            <a:srgbClr val="F5F8FA"/>
          </a:solidFill>
          <a:ln/>
        </p:spPr>
      </p:sp>
      <p:sp>
        <p:nvSpPr>
          <p:cNvPr id="7" name="Text 5"/>
          <p:cNvSpPr/>
          <p:nvPr/>
        </p:nvSpPr>
        <p:spPr>
          <a:xfrm>
            <a:off x="822960" y="3840480"/>
            <a:ext cx="3657600" cy="365760"/>
          </a:xfrm>
          <a:prstGeom prst="rect">
            <a:avLst/>
          </a:prstGeom>
          <a:noFill/>
          <a:ln/>
        </p:spPr>
        <p:txBody>
          <a:bodyPr wrap="square" rtlCol="0" anchor="ctr"/>
          <a:lstStyle/>
          <a:p>
            <a:pPr indent="0" marL="0">
              <a:buNone/>
            </a:pPr>
            <a:r>
              <a:rPr lang="en-US" sz="1400" b="1" dirty="0">
                <a:solidFill>
                  <a:srgbClr val="00BB86"/>
                </a:solidFill>
                <a:latin typeface="Calibri" pitchFamily="34" charset="0"/>
                <a:ea typeface="Calibri" pitchFamily="34" charset="-122"/>
                <a:cs typeface="Calibri" pitchFamily="34" charset="-120"/>
              </a:rPr>
              <a:t>In plain terms:</a:t>
            </a:r>
            <a:endParaRPr lang="en-US" sz="1400" dirty="0"/>
          </a:p>
        </p:txBody>
      </p:sp>
      <p:sp>
        <p:nvSpPr>
          <p:cNvPr id="8" name="Text 6"/>
          <p:cNvSpPr/>
          <p:nvPr/>
        </p:nvSpPr>
        <p:spPr>
          <a:xfrm>
            <a:off x="822960" y="4251960"/>
            <a:ext cx="10515600" cy="731520"/>
          </a:xfrm>
          <a:prstGeom prst="rect">
            <a:avLst/>
          </a:prstGeom>
          <a:noFill/>
          <a:ln/>
        </p:spPr>
        <p:txBody>
          <a:bodyPr wrap="square" rtlCol="0" anchor="ctr"/>
          <a:lstStyle/>
          <a:p>
            <a:pPr indent="0" marL="0">
              <a:lnSpc>
                <a:spcPct val="130000"/>
              </a:lnSpc>
              <a:buNone/>
            </a:pPr>
            <a:r>
              <a:rPr lang="en-US" sz="1500" dirty="0">
                <a:solidFill>
                  <a:srgbClr val="3C3C3C"/>
                </a:solidFill>
                <a:latin typeface="Calibri" pitchFamily="34" charset="0"/>
                <a:ea typeface="Calibri" pitchFamily="34" charset="-122"/>
                <a:cs typeface="Calibri" pitchFamily="34" charset="-120"/>
              </a:rPr>
              <a:t>We wanted to know the REAL reasons people turn off autopay — not guess at it — so we fix the actual problem instead of the wrong one.</a:t>
            </a:r>
            <a:endParaRPr lang="en-US" sz="1500" dirty="0"/>
          </a:p>
        </p:txBody>
      </p:sp>
      <p:pic>
        <p:nvPicPr>
          <p:cNvPr id="9" name="Image 0" descr="/home/claude/remy_tomorrow/igs_logo.png">    </p:cNvPr>
          <p:cNvPicPr>
            <a:picLocks noChangeAspect="1"/>
          </p:cNvPicPr>
          <p:nvPr/>
        </p:nvPicPr>
        <p:blipFill>
          <a:blip r:embed="rId1"/>
          <a:stretch>
            <a:fillRect/>
          </a:stretch>
        </p:blipFill>
        <p:spPr>
          <a:xfrm>
            <a:off x="457200" y="6473952"/>
            <a:ext cx="777240" cy="202997"/>
          </a:xfrm>
          <a:prstGeom prst="rect">
            <a:avLst/>
          </a:prstGeom>
        </p:spPr>
      </p:pic>
      <p:sp>
        <p:nvSpPr>
          <p:cNvPr id="10" name="Text 7"/>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144268" cy="274320"/>
          </a:xfrm>
          <a:prstGeom prst="roundRect">
            <a:avLst>
              <a:gd name="adj" fmla="val 166667"/>
            </a:avLst>
          </a:prstGeom>
          <a:solidFill>
            <a:srgbClr val="00BB86"/>
          </a:solidFill>
          <a:ln/>
        </p:spPr>
      </p:sp>
      <p:sp>
        <p:nvSpPr>
          <p:cNvPr id="3" name="Text 1"/>
          <p:cNvSpPr/>
          <p:nvPr/>
        </p:nvSpPr>
        <p:spPr>
          <a:xfrm>
            <a:off x="548640" y="365760"/>
            <a:ext cx="2144268"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PART 2 — THE METHOD</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How We Did This</a:t>
            </a:r>
            <a:endParaRPr lang="en-US" sz="2500" dirty="0"/>
          </a:p>
        </p:txBody>
      </p:sp>
      <p:sp>
        <p:nvSpPr>
          <p:cNvPr id="5" name="Shape 3"/>
          <p:cNvSpPr/>
          <p:nvPr/>
        </p:nvSpPr>
        <p:spPr>
          <a:xfrm>
            <a:off x="548640" y="1554480"/>
            <a:ext cx="502920" cy="502920"/>
          </a:xfrm>
          <a:prstGeom prst="ellipse">
            <a:avLst/>
          </a:prstGeom>
          <a:solidFill>
            <a:srgbClr val="005CB9"/>
          </a:solidFill>
          <a:ln/>
        </p:spPr>
      </p:sp>
      <p:sp>
        <p:nvSpPr>
          <p:cNvPr id="6" name="Text 4"/>
          <p:cNvSpPr/>
          <p:nvPr/>
        </p:nvSpPr>
        <p:spPr>
          <a:xfrm>
            <a:off x="548640" y="155448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234440" y="150876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Looked at every removal, last 6 months</a:t>
            </a:r>
            <a:endParaRPr lang="en-US" sz="1500" dirty="0"/>
          </a:p>
        </p:txBody>
      </p:sp>
      <p:sp>
        <p:nvSpPr>
          <p:cNvPr id="8" name="Text 6"/>
          <p:cNvSpPr/>
          <p:nvPr/>
        </p:nvSpPr>
        <p:spPr>
          <a:xfrm>
            <a:off x="1234440" y="187452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Pulled every single time a customer turned off autopay in the last 6 months — not a guess, the real full record.</a:t>
            </a:r>
            <a:endParaRPr lang="en-US" sz="1250" dirty="0"/>
          </a:p>
        </p:txBody>
      </p:sp>
      <p:sp>
        <p:nvSpPr>
          <p:cNvPr id="9" name="Shape 7"/>
          <p:cNvSpPr/>
          <p:nvPr/>
        </p:nvSpPr>
        <p:spPr>
          <a:xfrm>
            <a:off x="548640" y="2606040"/>
            <a:ext cx="502920" cy="502920"/>
          </a:xfrm>
          <a:prstGeom prst="ellipse">
            <a:avLst/>
          </a:prstGeom>
          <a:solidFill>
            <a:srgbClr val="005CB9"/>
          </a:solidFill>
          <a:ln/>
        </p:spPr>
      </p:sp>
      <p:sp>
        <p:nvSpPr>
          <p:cNvPr id="10" name="Text 8"/>
          <p:cNvSpPr/>
          <p:nvPr/>
        </p:nvSpPr>
        <p:spPr>
          <a:xfrm>
            <a:off x="548640" y="26060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234440" y="256032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Sorted them into two groups</a:t>
            </a:r>
            <a:endParaRPr lang="en-US" sz="1500" dirty="0"/>
          </a:p>
        </p:txBody>
      </p:sp>
      <p:sp>
        <p:nvSpPr>
          <p:cNvPr id="12" name="Text 10"/>
          <p:cNvSpPr/>
          <p:nvPr/>
        </p:nvSpPr>
        <p:spPr>
          <a:xfrm>
            <a:off x="1234440" y="292608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Some were done by the customer themselves online. Some happened during a phone call with an agent.</a:t>
            </a:r>
            <a:endParaRPr lang="en-US" sz="1250" dirty="0"/>
          </a:p>
        </p:txBody>
      </p:sp>
      <p:sp>
        <p:nvSpPr>
          <p:cNvPr id="13" name="Shape 11"/>
          <p:cNvSpPr/>
          <p:nvPr/>
        </p:nvSpPr>
        <p:spPr>
          <a:xfrm>
            <a:off x="548640" y="3657600"/>
            <a:ext cx="502920" cy="502920"/>
          </a:xfrm>
          <a:prstGeom prst="ellipse">
            <a:avLst/>
          </a:prstGeom>
          <a:solidFill>
            <a:srgbClr val="005CB9"/>
          </a:solidFill>
          <a:ln/>
        </p:spPr>
      </p:sp>
      <p:sp>
        <p:nvSpPr>
          <p:cNvPr id="14" name="Text 12"/>
          <p:cNvSpPr/>
          <p:nvPr/>
        </p:nvSpPr>
        <p:spPr>
          <a:xfrm>
            <a:off x="548640" y="36576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234440" y="361188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Read what customers actually said</a:t>
            </a:r>
            <a:endParaRPr lang="en-US" sz="1500" dirty="0"/>
          </a:p>
        </p:txBody>
      </p:sp>
      <p:sp>
        <p:nvSpPr>
          <p:cNvPr id="16" name="Text 14"/>
          <p:cNvSpPr/>
          <p:nvPr/>
        </p:nvSpPr>
        <p:spPr>
          <a:xfrm>
            <a:off x="1234440" y="397764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For the ones with a phone call, we read the agent's written summary of what the customer said — in their own words.</a:t>
            </a:r>
            <a:endParaRPr lang="en-US" sz="1250" dirty="0"/>
          </a:p>
        </p:txBody>
      </p:sp>
      <p:sp>
        <p:nvSpPr>
          <p:cNvPr id="17" name="Shape 15"/>
          <p:cNvSpPr/>
          <p:nvPr/>
        </p:nvSpPr>
        <p:spPr>
          <a:xfrm>
            <a:off x="548640" y="4709160"/>
            <a:ext cx="502920" cy="502920"/>
          </a:xfrm>
          <a:prstGeom prst="ellipse">
            <a:avLst/>
          </a:prstGeom>
          <a:solidFill>
            <a:srgbClr val="005CB9"/>
          </a:solidFill>
          <a:ln/>
        </p:spPr>
      </p:sp>
      <p:sp>
        <p:nvSpPr>
          <p:cNvPr id="18" name="Text 16"/>
          <p:cNvSpPr/>
          <p:nvPr/>
        </p:nvSpPr>
        <p:spPr>
          <a:xfrm>
            <a:off x="548640" y="47091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1234440" y="466344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Checked the timing</a:t>
            </a:r>
            <a:endParaRPr lang="en-US" sz="1500" dirty="0"/>
          </a:p>
        </p:txBody>
      </p:sp>
      <p:sp>
        <p:nvSpPr>
          <p:cNvPr id="20" name="Text 18"/>
          <p:cNvSpPr/>
          <p:nvPr/>
        </p:nvSpPr>
        <p:spPr>
          <a:xfrm>
            <a:off x="1234440" y="502920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We checked whether removals cluster around a specific point in the billing cycle, like right before a bill is due.</a:t>
            </a:r>
            <a:endParaRPr lang="en-US" sz="1250" dirty="0"/>
          </a:p>
        </p:txBody>
      </p:sp>
      <p:sp>
        <p:nvSpPr>
          <p:cNvPr id="21" name="Shape 19"/>
          <p:cNvSpPr/>
          <p:nvPr/>
        </p:nvSpPr>
        <p:spPr>
          <a:xfrm>
            <a:off x="548640" y="5623560"/>
            <a:ext cx="11064240" cy="777240"/>
          </a:xfrm>
          <a:prstGeom prst="roundRect">
            <a:avLst>
              <a:gd name="adj" fmla="val 7059"/>
            </a:avLst>
          </a:prstGeom>
          <a:solidFill>
            <a:srgbClr val="F5F8FA"/>
          </a:solidFill>
          <a:ln/>
        </p:spPr>
      </p:sp>
      <p:sp>
        <p:nvSpPr>
          <p:cNvPr id="22" name="Text 20"/>
          <p:cNvSpPr/>
          <p:nvPr/>
        </p:nvSpPr>
        <p:spPr>
          <a:xfrm>
            <a:off x="822960" y="5742432"/>
            <a:ext cx="10515600" cy="548640"/>
          </a:xfrm>
          <a:prstGeom prst="rect">
            <a:avLst/>
          </a:prstGeom>
          <a:noFill/>
          <a:ln/>
        </p:spPr>
        <p:txBody>
          <a:bodyPr wrap="square" rtlCol="0" anchor="ctr"/>
          <a:lstStyle/>
          <a:p>
            <a:pPr indent="0" marL="0">
              <a:lnSpc>
                <a:spcPct val="120000"/>
              </a:lnSpc>
              <a:buNone/>
            </a:pPr>
            <a:r>
              <a:rPr lang="en-US" sz="1300" b="1" dirty="0">
                <a:solidFill>
                  <a:srgbClr val="004061"/>
                </a:solidFill>
                <a:latin typeface="Calibri" pitchFamily="34" charset="0"/>
                <a:ea typeface="Calibri" pitchFamily="34" charset="-122"/>
                <a:cs typeface="Calibri" pitchFamily="34" charset="-120"/>
              </a:rPr>
              <a:t>Tools used:  </a:t>
            </a:r>
            <a:pPr indent="0" marL="0">
              <a:lnSpc>
                <a:spcPct val="120000"/>
              </a:lnSpc>
              <a:buNone/>
            </a:pPr>
            <a:r>
              <a:rPr lang="en-US" sz="1300" dirty="0">
                <a:solidFill>
                  <a:srgbClr val="3C3C3C"/>
                </a:solidFill>
                <a:latin typeface="Calibri" pitchFamily="34" charset="0"/>
                <a:ea typeface="Calibri" pitchFamily="34" charset="-122"/>
                <a:cs typeface="Calibri" pitchFamily="34" charset="-120"/>
              </a:rPr>
              <a:t>We used SQL — a way of asking our company's databases direct questions — to pull and organize the real records. No outside software or guessing involved.</a:t>
            </a:r>
            <a:endParaRPr lang="en-US" sz="1300" dirty="0"/>
          </a:p>
        </p:txBody>
      </p:sp>
      <p:pic>
        <p:nvPicPr>
          <p:cNvPr id="23" name="Image 0" descr="/home/claude/remy_tomorrow/igs_logo.png">    </p:cNvPr>
          <p:cNvPicPr>
            <a:picLocks noChangeAspect="1"/>
          </p:cNvPicPr>
          <p:nvPr/>
        </p:nvPicPr>
        <p:blipFill>
          <a:blip r:embed="rId1"/>
          <a:stretch>
            <a:fillRect/>
          </a:stretch>
        </p:blipFill>
        <p:spPr>
          <a:xfrm>
            <a:off x="457200" y="6473952"/>
            <a:ext cx="777240" cy="202997"/>
          </a:xfrm>
          <a:prstGeom prst="rect">
            <a:avLst/>
          </a:prstGeom>
        </p:spPr>
      </p:pic>
      <p:sp>
        <p:nvSpPr>
          <p:cNvPr id="24" name="Text 21"/>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84148" cy="274320"/>
          </a:xfrm>
          <a:prstGeom prst="roundRect">
            <a:avLst>
              <a:gd name="adj" fmla="val 166667"/>
            </a:avLst>
          </a:prstGeom>
          <a:solidFill>
            <a:srgbClr val="F4A600"/>
          </a:solidFill>
          <a:ln/>
        </p:spPr>
      </p:sp>
      <p:sp>
        <p:nvSpPr>
          <p:cNvPr id="3" name="Text 1"/>
          <p:cNvSpPr/>
          <p:nvPr/>
        </p:nvSpPr>
        <p:spPr>
          <a:xfrm>
            <a:off x="548640" y="365760"/>
            <a:ext cx="1184148"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FINDING 1</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The Original Belief Was Wrong</a:t>
            </a:r>
            <a:endParaRPr lang="en-US" sz="25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We assumed new customers drove most removals. The real number is much lower.</a:t>
            </a:r>
            <a:endParaRPr lang="en-US" sz="1300" dirty="0"/>
          </a:p>
        </p:txBody>
      </p:sp>
      <p:graphicFrame>
        <p:nvGraphicFramePr>
          <p:cNvPr id="6" name="Chart 0" descr=""/>
          <p:cNvGraphicFramePr/>
          <p:nvPr/>
        </p:nvGraphicFramePr>
        <p:xfrm>
          <a:off x="1371600" y="1691640"/>
          <a:ext cx="9418320" cy="36576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623560"/>
            <a:ext cx="11064240" cy="777240"/>
          </a:xfrm>
          <a:prstGeom prst="roundRect">
            <a:avLst>
              <a:gd name="adj" fmla="val 7059"/>
            </a:avLst>
          </a:prstGeom>
          <a:solidFill>
            <a:srgbClr val="F5F8FA"/>
          </a:solidFill>
          <a:ln/>
        </p:spPr>
      </p:sp>
      <p:sp>
        <p:nvSpPr>
          <p:cNvPr id="8" name="Text 5"/>
          <p:cNvSpPr/>
          <p:nvPr/>
        </p:nvSpPr>
        <p:spPr>
          <a:xfrm>
            <a:off x="822960" y="5742432"/>
            <a:ext cx="10515600" cy="548640"/>
          </a:xfrm>
          <a:prstGeom prst="rect">
            <a:avLst/>
          </a:prstGeom>
          <a:noFill/>
          <a:ln/>
        </p:spPr>
        <p:txBody>
          <a:bodyPr wrap="square" rtlCol="0" anchor="ctr"/>
          <a:lstStyle/>
          <a:p>
            <a:pPr indent="0" marL="0">
              <a:lnSpc>
                <a:spcPct val="120000"/>
              </a:lnSpc>
              <a:buNone/>
            </a:pPr>
            <a:r>
              <a:rPr lang="en-US" sz="1300" dirty="0">
                <a:solidFill>
                  <a:srgbClr val="3C3C3C"/>
                </a:solidFill>
                <a:latin typeface="Calibri" pitchFamily="34" charset="0"/>
                <a:ea typeface="Calibri" pitchFamily="34" charset="-122"/>
                <a:cs typeface="Calibri" pitchFamily="34" charset="-120"/>
              </a:rPr>
              <a:t>In plain terms: it's mostly NOT new customers backing out. Most removals come from long-time customers, for reasons we dig into next.</a:t>
            </a:r>
            <a:endParaRPr lang="en-US" sz="1300" dirty="0"/>
          </a:p>
        </p:txBody>
      </p:sp>
      <p:pic>
        <p:nvPicPr>
          <p:cNvPr id="9" name="Image 0" descr="/home/claude/remy_tomorrow/igs_logo.png">    </p:cNvPr>
          <p:cNvPicPr>
            <a:picLocks noChangeAspect="1"/>
          </p:cNvPicPr>
          <p:nvPr/>
        </p:nvPicPr>
        <p:blipFill>
          <a:blip r:embed="rId2"/>
          <a:stretch>
            <a:fillRect/>
          </a:stretch>
        </p:blipFill>
        <p:spPr>
          <a:xfrm>
            <a:off x="457200" y="6473952"/>
            <a:ext cx="777240" cy="202997"/>
          </a:xfrm>
          <a:prstGeom prst="rect">
            <a:avLst/>
          </a:prstGeom>
        </p:spPr>
      </p:pic>
      <p:sp>
        <p:nvSpPr>
          <p:cNvPr id="10" name="Text 6"/>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84148" cy="274320"/>
          </a:xfrm>
          <a:prstGeom prst="roundRect">
            <a:avLst>
              <a:gd name="adj" fmla="val 166667"/>
            </a:avLst>
          </a:prstGeom>
          <a:solidFill>
            <a:srgbClr val="00BB86"/>
          </a:solidFill>
          <a:ln/>
        </p:spPr>
      </p:sp>
      <p:sp>
        <p:nvSpPr>
          <p:cNvPr id="3" name="Text 1"/>
          <p:cNvSpPr/>
          <p:nvPr/>
        </p:nvSpPr>
        <p:spPr>
          <a:xfrm>
            <a:off x="548640" y="365760"/>
            <a:ext cx="1184148"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FINDING 2</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How People Turn It Off</a:t>
            </a:r>
            <a:endParaRPr lang="en-US" sz="25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Most customers do it themselves online — they don't call us at all</a:t>
            </a:r>
            <a:endParaRPr lang="en-US" sz="1300" dirty="0"/>
          </a:p>
        </p:txBody>
      </p:sp>
      <p:graphicFrame>
        <p:nvGraphicFramePr>
          <p:cNvPr id="6" name="Chart 0" descr=""/>
          <p:cNvGraphicFramePr/>
          <p:nvPr/>
        </p:nvGraphicFramePr>
        <p:xfrm>
          <a:off x="1371600" y="1691640"/>
          <a:ext cx="9418320" cy="36576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623560"/>
            <a:ext cx="11064240" cy="777240"/>
          </a:xfrm>
          <a:prstGeom prst="roundRect">
            <a:avLst>
              <a:gd name="adj" fmla="val 7059"/>
            </a:avLst>
          </a:prstGeom>
          <a:solidFill>
            <a:srgbClr val="F5F8FA"/>
          </a:solidFill>
          <a:ln/>
        </p:spPr>
      </p:sp>
      <p:sp>
        <p:nvSpPr>
          <p:cNvPr id="8" name="Text 5"/>
          <p:cNvSpPr/>
          <p:nvPr/>
        </p:nvSpPr>
        <p:spPr>
          <a:xfrm>
            <a:off x="822960" y="5742432"/>
            <a:ext cx="10515600" cy="548640"/>
          </a:xfrm>
          <a:prstGeom prst="rect">
            <a:avLst/>
          </a:prstGeom>
          <a:noFill/>
          <a:ln/>
        </p:spPr>
        <p:txBody>
          <a:bodyPr wrap="square" rtlCol="0" anchor="ctr"/>
          <a:lstStyle/>
          <a:p>
            <a:pPr indent="0" marL="0">
              <a:lnSpc>
                <a:spcPct val="120000"/>
              </a:lnSpc>
              <a:buNone/>
            </a:pPr>
            <a:r>
              <a:rPr lang="en-US" sz="1300" dirty="0">
                <a:solidFill>
                  <a:srgbClr val="3C3C3C"/>
                </a:solidFill>
                <a:latin typeface="Calibri" pitchFamily="34" charset="0"/>
                <a:ea typeface="Calibri" pitchFamily="34" charset="-122"/>
                <a:cs typeface="Calibri" pitchFamily="34" charset="-120"/>
              </a:rPr>
              <a:t>In plain terms: almost 4 out of 5 people just log in and turn it off themselves — no phone call, no explanation given to us.</a:t>
            </a:r>
            <a:endParaRPr lang="en-US" sz="1300" dirty="0"/>
          </a:p>
        </p:txBody>
      </p:sp>
      <p:pic>
        <p:nvPicPr>
          <p:cNvPr id="9" name="Image 0" descr="/home/claude/remy_tomorrow/igs_logo.png">    </p:cNvPr>
          <p:cNvPicPr>
            <a:picLocks noChangeAspect="1"/>
          </p:cNvPicPr>
          <p:nvPr/>
        </p:nvPicPr>
        <p:blipFill>
          <a:blip r:embed="rId2"/>
          <a:stretch>
            <a:fillRect/>
          </a:stretch>
        </p:blipFill>
        <p:spPr>
          <a:xfrm>
            <a:off x="457200" y="6473952"/>
            <a:ext cx="777240" cy="202997"/>
          </a:xfrm>
          <a:prstGeom prst="rect">
            <a:avLst/>
          </a:prstGeom>
        </p:spPr>
      </p:pic>
      <p:sp>
        <p:nvSpPr>
          <p:cNvPr id="10" name="Text 6"/>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84148" cy="274320"/>
          </a:xfrm>
          <a:prstGeom prst="roundRect">
            <a:avLst>
              <a:gd name="adj" fmla="val 166667"/>
            </a:avLst>
          </a:prstGeom>
          <a:solidFill>
            <a:srgbClr val="005CB9"/>
          </a:solidFill>
          <a:ln/>
        </p:spPr>
      </p:sp>
      <p:sp>
        <p:nvSpPr>
          <p:cNvPr id="3" name="Text 1"/>
          <p:cNvSpPr/>
          <p:nvPr/>
        </p:nvSpPr>
        <p:spPr>
          <a:xfrm>
            <a:off x="548640" y="365760"/>
            <a:ext cx="1184148"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FINDING 3</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When People Turn It Off</a:t>
            </a:r>
            <a:endParaRPr lang="en-US" sz="25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Both groups tend to do it right around when a bill is coming due</a:t>
            </a:r>
            <a:endParaRPr lang="en-US" sz="1300" dirty="0"/>
          </a:p>
        </p:txBody>
      </p:sp>
      <p:graphicFrame>
        <p:nvGraphicFramePr>
          <p:cNvPr id="6" name="Chart 0" descr=""/>
          <p:cNvGraphicFramePr/>
          <p:nvPr/>
        </p:nvGraphicFramePr>
        <p:xfrm>
          <a:off x="1371600" y="1691640"/>
          <a:ext cx="9418320" cy="36576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623560"/>
            <a:ext cx="11064240" cy="777240"/>
          </a:xfrm>
          <a:prstGeom prst="roundRect">
            <a:avLst>
              <a:gd name="adj" fmla="val 7059"/>
            </a:avLst>
          </a:prstGeom>
          <a:solidFill>
            <a:srgbClr val="F5F8FA"/>
          </a:solidFill>
          <a:ln/>
        </p:spPr>
      </p:sp>
      <p:sp>
        <p:nvSpPr>
          <p:cNvPr id="8" name="Text 5"/>
          <p:cNvSpPr/>
          <p:nvPr/>
        </p:nvSpPr>
        <p:spPr>
          <a:xfrm>
            <a:off x="822960" y="5742432"/>
            <a:ext cx="10515600" cy="548640"/>
          </a:xfrm>
          <a:prstGeom prst="rect">
            <a:avLst/>
          </a:prstGeom>
          <a:noFill/>
          <a:ln/>
        </p:spPr>
        <p:txBody>
          <a:bodyPr wrap="square" rtlCol="0" anchor="ctr"/>
          <a:lstStyle/>
          <a:p>
            <a:pPr indent="0" marL="0">
              <a:lnSpc>
                <a:spcPct val="120000"/>
              </a:lnSpc>
              <a:buNone/>
            </a:pPr>
            <a:r>
              <a:rPr lang="en-US" sz="1300" dirty="0">
                <a:solidFill>
                  <a:srgbClr val="3C3C3C"/>
                </a:solidFill>
                <a:latin typeface="Calibri" pitchFamily="34" charset="0"/>
                <a:ea typeface="Calibri" pitchFamily="34" charset="-122"/>
                <a:cs typeface="Calibri" pitchFamily="34" charset="-120"/>
              </a:rPr>
              <a:t>In plain terms: about 2 out of 3 removals happen close to a bill being due — whether it's a phone call or done online. This is a real, repeatable pattern.</a:t>
            </a:r>
            <a:endParaRPr lang="en-US" sz="1300" dirty="0"/>
          </a:p>
        </p:txBody>
      </p:sp>
      <p:pic>
        <p:nvPicPr>
          <p:cNvPr id="9" name="Image 0" descr="/home/claude/remy_tomorrow/igs_logo.png">    </p:cNvPr>
          <p:cNvPicPr>
            <a:picLocks noChangeAspect="1"/>
          </p:cNvPicPr>
          <p:nvPr/>
        </p:nvPicPr>
        <p:blipFill>
          <a:blip r:embed="rId2"/>
          <a:stretch>
            <a:fillRect/>
          </a:stretch>
        </p:blipFill>
        <p:spPr>
          <a:xfrm>
            <a:off x="457200" y="6473952"/>
            <a:ext cx="777240" cy="202997"/>
          </a:xfrm>
          <a:prstGeom prst="rect">
            <a:avLst/>
          </a:prstGeom>
        </p:spPr>
      </p:pic>
      <p:sp>
        <p:nvSpPr>
          <p:cNvPr id="10" name="Text 6"/>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528316" cy="274320"/>
          </a:xfrm>
          <a:prstGeom prst="roundRect">
            <a:avLst>
              <a:gd name="adj" fmla="val 166667"/>
            </a:avLst>
          </a:prstGeom>
          <a:solidFill>
            <a:srgbClr val="F4A600"/>
          </a:solidFill>
          <a:ln/>
        </p:spPr>
      </p:sp>
      <p:sp>
        <p:nvSpPr>
          <p:cNvPr id="3" name="Text 1"/>
          <p:cNvSpPr/>
          <p:nvPr/>
        </p:nvSpPr>
        <p:spPr>
          <a:xfrm>
            <a:off x="548640" y="365760"/>
            <a:ext cx="2528316"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FINDING 4 — THE BIG ONE</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The #1 Reason: A Changed Payment Card</a:t>
            </a:r>
            <a:endParaRPr lang="en-US" sz="25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This wasn't even on our original list of suspects — we found it by reading real calls</a:t>
            </a:r>
            <a:endParaRPr lang="en-US" sz="1300" dirty="0"/>
          </a:p>
        </p:txBody>
      </p:sp>
      <p:graphicFrame>
        <p:nvGraphicFramePr>
          <p:cNvPr id="6" name="Chart 0" descr=""/>
          <p:cNvGraphicFramePr/>
          <p:nvPr/>
        </p:nvGraphicFramePr>
        <p:xfrm>
          <a:off x="548640" y="169164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309360" y="1691640"/>
            <a:ext cx="5349240" cy="3566160"/>
          </a:xfrm>
          <a:prstGeom prst="roundRect">
            <a:avLst>
              <a:gd name="adj" fmla="val 2051"/>
            </a:avLst>
          </a:prstGeom>
          <a:solidFill>
            <a:srgbClr val="F5F8FA"/>
          </a:solidFill>
          <a:ln/>
        </p:spPr>
      </p:sp>
      <p:sp>
        <p:nvSpPr>
          <p:cNvPr id="8" name="Text 5"/>
          <p:cNvSpPr/>
          <p:nvPr/>
        </p:nvSpPr>
        <p:spPr>
          <a:xfrm>
            <a:off x="6537960" y="1920240"/>
            <a:ext cx="4937760" cy="365760"/>
          </a:xfrm>
          <a:prstGeom prst="rect">
            <a:avLst/>
          </a:prstGeom>
          <a:noFill/>
          <a:ln/>
        </p:spPr>
        <p:txBody>
          <a:bodyPr wrap="square" rtlCol="0" anchor="ctr"/>
          <a:lstStyle/>
          <a:p>
            <a:pPr indent="0" marL="0">
              <a:buNone/>
            </a:pPr>
            <a:r>
              <a:rPr lang="en-US" sz="1500" b="1" dirty="0">
                <a:solidFill>
                  <a:srgbClr val="00BB86"/>
                </a:solidFill>
                <a:latin typeface="Calibri" pitchFamily="34" charset="0"/>
                <a:ea typeface="Calibri" pitchFamily="34" charset="-122"/>
                <a:cs typeface="Calibri" pitchFamily="34" charset="-120"/>
              </a:rPr>
              <a:t>But here's the good news:</a:t>
            </a:r>
            <a:endParaRPr lang="en-US" sz="1500" dirty="0"/>
          </a:p>
        </p:txBody>
      </p:sp>
      <p:sp>
        <p:nvSpPr>
          <p:cNvPr id="9" name="Text 6"/>
          <p:cNvSpPr/>
          <p:nvPr/>
        </p:nvSpPr>
        <p:spPr>
          <a:xfrm>
            <a:off x="6537960" y="2377440"/>
            <a:ext cx="4937760" cy="1188720"/>
          </a:xfrm>
          <a:prstGeom prst="rect">
            <a:avLst/>
          </a:prstGeom>
          <a:noFill/>
          <a:ln/>
        </p:spPr>
        <p:txBody>
          <a:bodyPr wrap="square" rtlCol="0" anchor="ctr"/>
          <a:lstStyle/>
          <a:p>
            <a:pPr indent="0" marL="0">
              <a:lnSpc>
                <a:spcPct val="135000"/>
              </a:lnSpc>
              <a:buNone/>
            </a:pPr>
            <a:r>
              <a:rPr lang="en-US" sz="1700" b="1" dirty="0">
                <a:solidFill>
                  <a:srgbClr val="004061"/>
                </a:solidFill>
                <a:latin typeface="Calibri" pitchFamily="34" charset="0"/>
                <a:ea typeface="Calibri" pitchFamily="34" charset="-122"/>
                <a:cs typeface="Calibri" pitchFamily="34" charset="-120"/>
              </a:rPr>
              <a:t>90.5% of these customers turn autopay back ON within 60 days — as soon as they update their new card.</a:t>
            </a:r>
            <a:endParaRPr lang="en-US" sz="1700" dirty="0"/>
          </a:p>
        </p:txBody>
      </p:sp>
      <p:sp>
        <p:nvSpPr>
          <p:cNvPr id="10" name="Text 7"/>
          <p:cNvSpPr/>
          <p:nvPr/>
        </p:nvSpPr>
        <p:spPr>
          <a:xfrm>
            <a:off x="6537960" y="3749040"/>
            <a:ext cx="4937760" cy="1280160"/>
          </a:xfrm>
          <a:prstGeom prst="rect">
            <a:avLst/>
          </a:prstGeom>
          <a:noFill/>
          <a:ln/>
        </p:spPr>
        <p:txBody>
          <a:bodyPr wrap="square" rtlCol="0" anchor="ctr"/>
          <a:lstStyle/>
          <a:p>
            <a:pPr indent="0" marL="0">
              <a:lnSpc>
                <a:spcPct val="130000"/>
              </a:lnSpc>
              <a:buNone/>
            </a:pPr>
            <a:r>
              <a:rPr lang="en-US" sz="1300" dirty="0">
                <a:solidFill>
                  <a:srgbClr val="3C3C3C"/>
                </a:solidFill>
                <a:latin typeface="Calibri" pitchFamily="34" charset="0"/>
                <a:ea typeface="Calibri" pitchFamily="34" charset="-122"/>
                <a:cs typeface="Calibri" pitchFamily="34" charset="-120"/>
              </a:rPr>
              <a:t>This is NOT customers giving up on autopay. It's a normal, temporary pause while they sort out a new card — not a real problem.</a:t>
            </a:r>
            <a:endParaRPr lang="en-US" sz="1300" dirty="0"/>
          </a:p>
        </p:txBody>
      </p:sp>
      <p:sp>
        <p:nvSpPr>
          <p:cNvPr id="11" name="Shape 8"/>
          <p:cNvSpPr/>
          <p:nvPr/>
        </p:nvSpPr>
        <p:spPr>
          <a:xfrm>
            <a:off x="548640" y="5623560"/>
            <a:ext cx="11064240" cy="777240"/>
          </a:xfrm>
          <a:prstGeom prst="roundRect">
            <a:avLst>
              <a:gd name="adj" fmla="val 7059"/>
            </a:avLst>
          </a:prstGeom>
          <a:solidFill>
            <a:srgbClr val="E9F2FF"/>
          </a:solidFill>
          <a:ln/>
        </p:spPr>
      </p:sp>
      <p:sp>
        <p:nvSpPr>
          <p:cNvPr id="12" name="Text 9"/>
          <p:cNvSpPr/>
          <p:nvPr/>
        </p:nvSpPr>
        <p:spPr>
          <a:xfrm>
            <a:off x="822960" y="5742432"/>
            <a:ext cx="10515600" cy="548640"/>
          </a:xfrm>
          <a:prstGeom prst="rect">
            <a:avLst/>
          </a:prstGeom>
          <a:noFill/>
          <a:ln/>
        </p:spPr>
        <p:txBody>
          <a:bodyPr wrap="square" rtlCol="0" anchor="ctr"/>
          <a:lstStyle/>
          <a:p>
            <a:pPr indent="0" marL="0">
              <a:lnSpc>
                <a:spcPct val="120000"/>
              </a:lnSpc>
              <a:buNone/>
            </a:pPr>
            <a:r>
              <a:rPr lang="en-US" sz="1300" dirty="0">
                <a:solidFill>
                  <a:srgbClr val="3C3C3C"/>
                </a:solidFill>
                <a:latin typeface="Calibri" pitchFamily="34" charset="0"/>
                <a:ea typeface="Calibri" pitchFamily="34" charset="-122"/>
                <a:cs typeface="Calibri" pitchFamily="34" charset="-120"/>
              </a:rPr>
              <a:t>In plain terms: the biggest single reason people call about autopay isn't a real complaint — it's just a card update, and almost everyone comes back.</a:t>
            </a:r>
            <a:endParaRPr lang="en-US" sz="1300" dirty="0"/>
          </a:p>
        </p:txBody>
      </p:sp>
      <p:pic>
        <p:nvPicPr>
          <p:cNvPr id="13" name="Image 0" descr="/home/claude/remy_tomorrow/igs_logo.png">    </p:cNvPr>
          <p:cNvPicPr>
            <a:picLocks noChangeAspect="1"/>
          </p:cNvPicPr>
          <p:nvPr/>
        </p:nvPicPr>
        <p:blipFill>
          <a:blip r:embed="rId2"/>
          <a:stretch>
            <a:fillRect/>
          </a:stretch>
        </p:blipFill>
        <p:spPr>
          <a:xfrm>
            <a:off x="457200" y="6473952"/>
            <a:ext cx="777240" cy="202997"/>
          </a:xfrm>
          <a:prstGeom prst="rect">
            <a:avLst/>
          </a:prstGeom>
        </p:spPr>
      </p:pic>
      <p:sp>
        <p:nvSpPr>
          <p:cNvPr id="14" name="Text 10"/>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84148" cy="274320"/>
          </a:xfrm>
          <a:prstGeom prst="roundRect">
            <a:avLst>
              <a:gd name="adj" fmla="val 166667"/>
            </a:avLst>
          </a:prstGeom>
          <a:solidFill>
            <a:srgbClr val="00B9B3"/>
          </a:solidFill>
          <a:ln/>
        </p:spPr>
      </p:sp>
      <p:sp>
        <p:nvSpPr>
          <p:cNvPr id="3" name="Text 1"/>
          <p:cNvSpPr/>
          <p:nvPr/>
        </p:nvSpPr>
        <p:spPr>
          <a:xfrm>
            <a:off x="548640" y="365760"/>
            <a:ext cx="1184148"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FINDING 5</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Checking the Three Original Ideas</a:t>
            </a:r>
            <a:endParaRPr lang="en-US" sz="25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Jonathan flagged three possible reasons earlier — here's what we found for each</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651760"/>
                <a:gridCol w="5486400"/>
                <a:gridCol w="2926080"/>
              </a:tblGrid>
              <a:tr h="77724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Idea We Checked</a:t>
                      </a:r>
                      <a:endParaRPr lang="en-US" sz="12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In Plain English</a:t>
                      </a:r>
                      <a:endParaRPr lang="en-US" sz="12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How Often It Happened</a:t>
                      </a:r>
                      <a:endParaRPr lang="en-US" sz="12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r>
              <a:tr h="777240">
                <a:tc>
                  <a:txBody>
                    <a:bodyPr/>
                    <a:lstStyle/>
                    <a:p>
                      <a:pPr algn="l" indent="0" marL="0">
                        <a:buNone/>
                      </a:pPr>
                      <a:r>
                        <a:rPr lang="en-US" sz="1150" b="1" dirty="0">
                          <a:solidFill>
                            <a:srgbClr val="3C3C3C"/>
                          </a:solidFill>
                          <a:latin typeface="Calibri" pitchFamily="34" charset="0"/>
                          <a:ea typeface="Calibri" pitchFamily="34" charset="-122"/>
                          <a:cs typeface="Calibri" pitchFamily="34" charset="-120"/>
                        </a:rPr>
                        <a:t>Payment date timing</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C3C"/>
                          </a:solidFill>
                          <a:latin typeface="Calibri" pitchFamily="34" charset="0"/>
                          <a:ea typeface="Calibri" pitchFamily="34" charset="-122"/>
                          <a:cs typeface="Calibri" pitchFamily="34" charset="-120"/>
                        </a:rPr>
                        <a:t>The payment gets taken out on a day that doesn't match when the customer gets paid</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C3C"/>
                          </a:solidFill>
                          <a:latin typeface="Calibri" pitchFamily="34" charset="0"/>
                          <a:ea typeface="Calibri" pitchFamily="34" charset="-122"/>
                          <a:cs typeface="Calibri" pitchFamily="34" charset="-120"/>
                        </a:rPr>
                        <a:t>About 1 in 150 calls</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r h="777240">
                <a:tc>
                  <a:txBody>
                    <a:bodyPr/>
                    <a:lstStyle/>
                    <a:p>
                      <a:pPr algn="l" indent="0" marL="0">
                        <a:buNone/>
                      </a:pPr>
                      <a:r>
                        <a:rPr lang="en-US" sz="1150" b="1" dirty="0">
                          <a:solidFill>
                            <a:srgbClr val="3C3C3C"/>
                          </a:solidFill>
                          <a:latin typeface="Calibri" pitchFamily="34" charset="0"/>
                          <a:ea typeface="Calibri" pitchFamily="34" charset="-122"/>
                          <a:cs typeface="Calibri" pitchFamily="34" charset="-120"/>
                        </a:rPr>
                        <a:t>Surprise first-bill fee</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l" indent="0" marL="0">
                        <a:buNone/>
                      </a:pPr>
                      <a:r>
                        <a:rPr lang="en-US" sz="1150" dirty="0">
                          <a:solidFill>
                            <a:srgbClr val="3C3C3C"/>
                          </a:solidFill>
                          <a:latin typeface="Calibri" pitchFamily="34" charset="0"/>
                          <a:ea typeface="Calibri" pitchFamily="34" charset="-122"/>
                          <a:cs typeface="Calibri" pitchFamily="34" charset="-120"/>
                        </a:rPr>
                        <a:t>A new customer gets an unexpected extra charge on their very first bill</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l" indent="0" marL="0">
                        <a:buNone/>
                      </a:pPr>
                      <a:r>
                        <a:rPr lang="en-US" sz="1150" dirty="0">
                          <a:solidFill>
                            <a:srgbClr val="3C3C3C"/>
                          </a:solidFill>
                          <a:latin typeface="Calibri" pitchFamily="34" charset="0"/>
                          <a:ea typeface="Calibri" pitchFamily="34" charset="-122"/>
                          <a:cs typeface="Calibri" pitchFamily="34" charset="-120"/>
                        </a:rPr>
                        <a:t>About 1 in 1,000 calls</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r>
              <a:tr h="777240">
                <a:tc>
                  <a:txBody>
                    <a:bodyPr/>
                    <a:lstStyle/>
                    <a:p>
                      <a:pPr algn="l" indent="0" marL="0">
                        <a:buNone/>
                      </a:pPr>
                      <a:r>
                        <a:rPr lang="en-US" sz="1150" b="1" dirty="0">
                          <a:solidFill>
                            <a:srgbClr val="3C3C3C"/>
                          </a:solidFill>
                          <a:latin typeface="Calibri" pitchFamily="34" charset="0"/>
                          <a:ea typeface="Calibri" pitchFamily="34" charset="-122"/>
                          <a:cs typeface="Calibri" pitchFamily="34" charset="-120"/>
                        </a:rPr>
                        <a:t>Never agreed to autopay</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C3C"/>
                          </a:solidFill>
                          <a:latin typeface="Calibri" pitchFamily="34" charset="0"/>
                          <a:ea typeface="Calibri" pitchFamily="34" charset="-122"/>
                          <a:cs typeface="Calibri" pitchFamily="34" charset="-120"/>
                        </a:rPr>
                        <a:t>Customer says they never signed up for it in the first place</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C3C"/>
                          </a:solidFill>
                          <a:latin typeface="Calibri" pitchFamily="34" charset="0"/>
                          <a:ea typeface="Calibri" pitchFamily="34" charset="-122"/>
                          <a:cs typeface="Calibri" pitchFamily="34" charset="-120"/>
                        </a:rPr>
                        <a:t>About 1 in 1,000 calls</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166360"/>
            <a:ext cx="11064240" cy="1234440"/>
          </a:xfrm>
          <a:prstGeom prst="roundRect">
            <a:avLst>
              <a:gd name="adj" fmla="val 5926"/>
            </a:avLst>
          </a:prstGeom>
          <a:solidFill>
            <a:srgbClr val="F5F8FA"/>
          </a:solidFill>
          <a:ln/>
        </p:spPr>
      </p:sp>
      <p:sp>
        <p:nvSpPr>
          <p:cNvPr id="8" name="Text 5"/>
          <p:cNvSpPr/>
          <p:nvPr/>
        </p:nvSpPr>
        <p:spPr>
          <a:xfrm>
            <a:off x="822960" y="5321808"/>
            <a:ext cx="2743200" cy="320040"/>
          </a:xfrm>
          <a:prstGeom prst="rect">
            <a:avLst/>
          </a:prstGeom>
          <a:noFill/>
          <a:ln/>
        </p:spPr>
        <p:txBody>
          <a:bodyPr wrap="square" rtlCol="0" anchor="ctr"/>
          <a:lstStyle/>
          <a:p>
            <a:pPr indent="0" marL="0">
              <a:buNone/>
            </a:pPr>
            <a:r>
              <a:rPr lang="en-US" sz="1300" b="1" dirty="0">
                <a:solidFill>
                  <a:srgbClr val="004061"/>
                </a:solidFill>
                <a:latin typeface="Calibri" pitchFamily="34" charset="0"/>
                <a:ea typeface="Calibri" pitchFamily="34" charset="-122"/>
                <a:cs typeface="Calibri" pitchFamily="34" charset="-120"/>
              </a:rPr>
              <a:t>In plain terms:</a:t>
            </a:r>
            <a:endParaRPr lang="en-US" sz="1300" dirty="0"/>
          </a:p>
        </p:txBody>
      </p:sp>
      <p:sp>
        <p:nvSpPr>
          <p:cNvPr id="9" name="Text 6"/>
          <p:cNvSpPr/>
          <p:nvPr/>
        </p:nvSpPr>
        <p:spPr>
          <a:xfrm>
            <a:off x="822960" y="5623560"/>
            <a:ext cx="10515600" cy="68580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All three of these are real — they do happen — but they're each quite rare. The card-change finding on the last slide is a much bigger deal than any of these three original guesses.</a:t>
            </a:r>
            <a:endParaRPr lang="en-US" sz="1250" dirty="0"/>
          </a:p>
        </p:txBody>
      </p:sp>
      <p:pic>
        <p:nvPicPr>
          <p:cNvPr id="10" name="Image 0" descr="/home/claude/remy_tomorrow/igs_logo.png">    </p:cNvPr>
          <p:cNvPicPr>
            <a:picLocks noChangeAspect="1"/>
          </p:cNvPicPr>
          <p:nvPr/>
        </p:nvPicPr>
        <p:blipFill>
          <a:blip r:embed="rId1"/>
          <a:stretch>
            <a:fillRect/>
          </a:stretch>
        </p:blipFill>
        <p:spPr>
          <a:xfrm>
            <a:off x="457200" y="6473952"/>
            <a:ext cx="777240" cy="202997"/>
          </a:xfrm>
          <a:prstGeom prst="rect">
            <a:avLst/>
          </a:prstGeom>
        </p:spPr>
      </p:pic>
      <p:sp>
        <p:nvSpPr>
          <p:cNvPr id="11" name="Text 7"/>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rtlCol="0" anchor="ctr"/>
          <a:lstStyle/>
          <a:p>
            <a:pPr indent="0" marL="0">
              <a:buNone/>
            </a:pPr>
            <a:r>
              <a:rPr lang="en-US" sz="2500" b="1" dirty="0">
                <a:solidFill>
                  <a:srgbClr val="004061"/>
                </a:solidFill>
                <a:latin typeface="Calibri" pitchFamily="34" charset="0"/>
                <a:ea typeface="Calibri" pitchFamily="34" charset="-122"/>
                <a:cs typeface="Calibri" pitchFamily="34" charset="-120"/>
              </a:rPr>
              <a:t>Key Findings, All Together</a:t>
            </a:r>
            <a:endParaRPr lang="en-US" sz="2500" dirty="0"/>
          </a:p>
        </p:txBody>
      </p:sp>
      <p:sp>
        <p:nvSpPr>
          <p:cNvPr id="3" name="Shape 1"/>
          <p:cNvSpPr/>
          <p:nvPr/>
        </p:nvSpPr>
        <p:spPr>
          <a:xfrm>
            <a:off x="548640" y="1554480"/>
            <a:ext cx="11064240" cy="795528"/>
          </a:xfrm>
          <a:prstGeom prst="roundRect">
            <a:avLst>
              <a:gd name="adj" fmla="val 6897"/>
            </a:avLst>
          </a:prstGeom>
          <a:solidFill>
            <a:srgbClr val="F5F8FA"/>
          </a:solidFill>
          <a:ln/>
        </p:spPr>
      </p:sp>
      <p:sp>
        <p:nvSpPr>
          <p:cNvPr id="4" name="Shape 2"/>
          <p:cNvSpPr/>
          <p:nvPr/>
        </p:nvSpPr>
        <p:spPr>
          <a:xfrm>
            <a:off x="777240" y="1682496"/>
            <a:ext cx="365760" cy="54864"/>
          </a:xfrm>
          <a:prstGeom prst="rect">
            <a:avLst/>
          </a:prstGeom>
          <a:solidFill>
            <a:srgbClr val="F4A600"/>
          </a:solidFill>
          <a:ln/>
        </p:spPr>
      </p:sp>
      <p:sp>
        <p:nvSpPr>
          <p:cNvPr id="5" name="Text 3"/>
          <p:cNvSpPr/>
          <p:nvPr/>
        </p:nvSpPr>
        <p:spPr>
          <a:xfrm>
            <a:off x="777240" y="1792224"/>
            <a:ext cx="10607040" cy="320040"/>
          </a:xfrm>
          <a:prstGeom prst="rect">
            <a:avLst/>
          </a:prstGeom>
          <a:noFill/>
          <a:ln/>
        </p:spPr>
        <p:txBody>
          <a:bodyPr wrap="square" rtlCol="0" anchor="ctr"/>
          <a:lstStyle/>
          <a:p>
            <a:pPr indent="0" marL="0">
              <a:buNone/>
            </a:pPr>
            <a:r>
              <a:rPr lang="en-US" sz="1350" b="1" dirty="0">
                <a:solidFill>
                  <a:srgbClr val="004061"/>
                </a:solidFill>
                <a:latin typeface="Calibri" pitchFamily="34" charset="0"/>
                <a:ea typeface="Calibri" pitchFamily="34" charset="-122"/>
                <a:cs typeface="Calibri" pitchFamily="34" charset="-120"/>
              </a:rPr>
              <a:t>Credit score predicts who needs more help</a:t>
            </a:r>
            <a:endParaRPr lang="en-US" sz="1350" dirty="0"/>
          </a:p>
        </p:txBody>
      </p:sp>
      <p:sp>
        <p:nvSpPr>
          <p:cNvPr id="6" name="Text 4"/>
          <p:cNvSpPr/>
          <p:nvPr/>
        </p:nvSpPr>
        <p:spPr>
          <a:xfrm>
            <a:off x="777240" y="2084832"/>
            <a:ext cx="10607040" cy="320040"/>
          </a:xfrm>
          <a:prstGeom prst="rect">
            <a:avLst/>
          </a:prstGeom>
          <a:noFill/>
          <a:ln/>
        </p:spPr>
        <p:txBody>
          <a:bodyPr wrap="square" rtlCol="0" anchor="ctr"/>
          <a:lstStyle/>
          <a:p>
            <a:pPr indent="0" marL="0">
              <a:buNone/>
            </a:pPr>
            <a:r>
              <a:rPr lang="en-US" sz="1100" dirty="0">
                <a:solidFill>
                  <a:srgbClr val="3C3C3C"/>
                </a:solidFill>
                <a:latin typeface="Calibri" pitchFamily="34" charset="0"/>
                <a:ea typeface="Calibri" pitchFamily="34" charset="-122"/>
                <a:cs typeface="Calibri" pitchFamily="34" charset="-120"/>
              </a:rPr>
              <a:t>Lower-credit customers call 2.6–3 times more often than higher-credit customers, at every bill size.</a:t>
            </a:r>
            <a:endParaRPr lang="en-US" sz="1100" dirty="0"/>
          </a:p>
        </p:txBody>
      </p:sp>
      <p:sp>
        <p:nvSpPr>
          <p:cNvPr id="7" name="Shape 5"/>
          <p:cNvSpPr/>
          <p:nvPr/>
        </p:nvSpPr>
        <p:spPr>
          <a:xfrm>
            <a:off x="548640" y="2487168"/>
            <a:ext cx="11064240" cy="795528"/>
          </a:xfrm>
          <a:prstGeom prst="roundRect">
            <a:avLst>
              <a:gd name="adj" fmla="val 6897"/>
            </a:avLst>
          </a:prstGeom>
          <a:solidFill>
            <a:srgbClr val="F5F8FA"/>
          </a:solidFill>
          <a:ln/>
        </p:spPr>
      </p:sp>
      <p:sp>
        <p:nvSpPr>
          <p:cNvPr id="8" name="Shape 6"/>
          <p:cNvSpPr/>
          <p:nvPr/>
        </p:nvSpPr>
        <p:spPr>
          <a:xfrm>
            <a:off x="777240" y="2615184"/>
            <a:ext cx="365760" cy="54864"/>
          </a:xfrm>
          <a:prstGeom prst="rect">
            <a:avLst/>
          </a:prstGeom>
          <a:solidFill>
            <a:srgbClr val="00BB86"/>
          </a:solidFill>
          <a:ln/>
        </p:spPr>
      </p:sp>
      <p:sp>
        <p:nvSpPr>
          <p:cNvPr id="9" name="Text 7"/>
          <p:cNvSpPr/>
          <p:nvPr/>
        </p:nvSpPr>
        <p:spPr>
          <a:xfrm>
            <a:off x="777240" y="2724912"/>
            <a:ext cx="10607040" cy="320040"/>
          </a:xfrm>
          <a:prstGeom prst="rect">
            <a:avLst/>
          </a:prstGeom>
          <a:noFill/>
          <a:ln/>
        </p:spPr>
        <p:txBody>
          <a:bodyPr wrap="square" rtlCol="0" anchor="ctr"/>
          <a:lstStyle/>
          <a:p>
            <a:pPr indent="0" marL="0">
              <a:buNone/>
            </a:pPr>
            <a:r>
              <a:rPr lang="en-US" sz="1350" b="1" dirty="0">
                <a:solidFill>
                  <a:srgbClr val="004061"/>
                </a:solidFill>
                <a:latin typeface="Calibri" pitchFamily="34" charset="0"/>
                <a:ea typeface="Calibri" pitchFamily="34" charset="-122"/>
                <a:cs typeface="Calibri" pitchFamily="34" charset="-120"/>
              </a:rPr>
              <a:t>The old autopay belief was wrong — in a good way</a:t>
            </a:r>
            <a:endParaRPr lang="en-US" sz="1350" dirty="0"/>
          </a:p>
        </p:txBody>
      </p:sp>
      <p:sp>
        <p:nvSpPr>
          <p:cNvPr id="10" name="Text 8"/>
          <p:cNvSpPr/>
          <p:nvPr/>
        </p:nvSpPr>
        <p:spPr>
          <a:xfrm>
            <a:off x="777240" y="3017520"/>
            <a:ext cx="10607040" cy="320040"/>
          </a:xfrm>
          <a:prstGeom prst="rect">
            <a:avLst/>
          </a:prstGeom>
          <a:noFill/>
          <a:ln/>
        </p:spPr>
        <p:txBody>
          <a:bodyPr wrap="square" rtlCol="0" anchor="ctr"/>
          <a:lstStyle/>
          <a:p>
            <a:pPr indent="0" marL="0">
              <a:buNone/>
            </a:pPr>
            <a:r>
              <a:rPr lang="en-US" sz="1100" dirty="0">
                <a:solidFill>
                  <a:srgbClr val="3C3C3C"/>
                </a:solidFill>
                <a:latin typeface="Calibri" pitchFamily="34" charset="0"/>
                <a:ea typeface="Calibri" pitchFamily="34" charset="-122"/>
                <a:cs typeface="Calibri" pitchFamily="34" charset="-120"/>
              </a:rPr>
              <a:t>Only 15.2% of removals are new customers, not the assumed 38%.</a:t>
            </a:r>
            <a:endParaRPr lang="en-US" sz="1100" dirty="0"/>
          </a:p>
        </p:txBody>
      </p:sp>
      <p:sp>
        <p:nvSpPr>
          <p:cNvPr id="11" name="Shape 9"/>
          <p:cNvSpPr/>
          <p:nvPr/>
        </p:nvSpPr>
        <p:spPr>
          <a:xfrm>
            <a:off x="548640" y="3419856"/>
            <a:ext cx="11064240" cy="795528"/>
          </a:xfrm>
          <a:prstGeom prst="roundRect">
            <a:avLst>
              <a:gd name="adj" fmla="val 6897"/>
            </a:avLst>
          </a:prstGeom>
          <a:solidFill>
            <a:srgbClr val="F5F8FA"/>
          </a:solidFill>
          <a:ln/>
        </p:spPr>
      </p:sp>
      <p:sp>
        <p:nvSpPr>
          <p:cNvPr id="12" name="Shape 10"/>
          <p:cNvSpPr/>
          <p:nvPr/>
        </p:nvSpPr>
        <p:spPr>
          <a:xfrm>
            <a:off x="777240" y="3547872"/>
            <a:ext cx="365760" cy="54864"/>
          </a:xfrm>
          <a:prstGeom prst="rect">
            <a:avLst/>
          </a:prstGeom>
          <a:solidFill>
            <a:srgbClr val="005CB9"/>
          </a:solidFill>
          <a:ln/>
        </p:spPr>
      </p:sp>
      <p:sp>
        <p:nvSpPr>
          <p:cNvPr id="13" name="Text 11"/>
          <p:cNvSpPr/>
          <p:nvPr/>
        </p:nvSpPr>
        <p:spPr>
          <a:xfrm>
            <a:off x="777240" y="3657600"/>
            <a:ext cx="10607040" cy="320040"/>
          </a:xfrm>
          <a:prstGeom prst="rect">
            <a:avLst/>
          </a:prstGeom>
          <a:noFill/>
          <a:ln/>
        </p:spPr>
        <p:txBody>
          <a:bodyPr wrap="square" rtlCol="0" anchor="ctr"/>
          <a:lstStyle/>
          <a:p>
            <a:pPr indent="0" marL="0">
              <a:buNone/>
            </a:pPr>
            <a:r>
              <a:rPr lang="en-US" sz="1350" b="1" dirty="0">
                <a:solidFill>
                  <a:srgbClr val="004061"/>
                </a:solidFill>
                <a:latin typeface="Calibri" pitchFamily="34" charset="0"/>
                <a:ea typeface="Calibri" pitchFamily="34" charset="-122"/>
                <a:cs typeface="Calibri" pitchFamily="34" charset="-120"/>
              </a:rPr>
              <a:t>Most people never call us at all</a:t>
            </a:r>
            <a:endParaRPr lang="en-US" sz="1350" dirty="0"/>
          </a:p>
        </p:txBody>
      </p:sp>
      <p:sp>
        <p:nvSpPr>
          <p:cNvPr id="14" name="Text 12"/>
          <p:cNvSpPr/>
          <p:nvPr/>
        </p:nvSpPr>
        <p:spPr>
          <a:xfrm>
            <a:off x="777240" y="3950208"/>
            <a:ext cx="10607040" cy="320040"/>
          </a:xfrm>
          <a:prstGeom prst="rect">
            <a:avLst/>
          </a:prstGeom>
          <a:noFill/>
          <a:ln/>
        </p:spPr>
        <p:txBody>
          <a:bodyPr wrap="square" rtlCol="0" anchor="ctr"/>
          <a:lstStyle/>
          <a:p>
            <a:pPr indent="0" marL="0">
              <a:buNone/>
            </a:pPr>
            <a:r>
              <a:rPr lang="en-US" sz="1100" dirty="0">
                <a:solidFill>
                  <a:srgbClr val="3C3C3C"/>
                </a:solidFill>
                <a:latin typeface="Calibri" pitchFamily="34" charset="0"/>
                <a:ea typeface="Calibri" pitchFamily="34" charset="-122"/>
                <a:cs typeface="Calibri" pitchFamily="34" charset="-120"/>
              </a:rPr>
              <a:t>78% of autopay removals happen quietly online, with no phone call or explanation.</a:t>
            </a:r>
            <a:endParaRPr lang="en-US" sz="1100" dirty="0"/>
          </a:p>
        </p:txBody>
      </p:sp>
      <p:sp>
        <p:nvSpPr>
          <p:cNvPr id="15" name="Shape 13"/>
          <p:cNvSpPr/>
          <p:nvPr/>
        </p:nvSpPr>
        <p:spPr>
          <a:xfrm>
            <a:off x="548640" y="4352544"/>
            <a:ext cx="11064240" cy="795528"/>
          </a:xfrm>
          <a:prstGeom prst="roundRect">
            <a:avLst>
              <a:gd name="adj" fmla="val 6897"/>
            </a:avLst>
          </a:prstGeom>
          <a:solidFill>
            <a:srgbClr val="F5F8FA"/>
          </a:solidFill>
          <a:ln/>
        </p:spPr>
      </p:sp>
      <p:sp>
        <p:nvSpPr>
          <p:cNvPr id="16" name="Shape 14"/>
          <p:cNvSpPr/>
          <p:nvPr/>
        </p:nvSpPr>
        <p:spPr>
          <a:xfrm>
            <a:off x="777240" y="4480560"/>
            <a:ext cx="365760" cy="54864"/>
          </a:xfrm>
          <a:prstGeom prst="rect">
            <a:avLst/>
          </a:prstGeom>
          <a:solidFill>
            <a:srgbClr val="00B9B3"/>
          </a:solidFill>
          <a:ln/>
        </p:spPr>
      </p:sp>
      <p:sp>
        <p:nvSpPr>
          <p:cNvPr id="17" name="Text 15"/>
          <p:cNvSpPr/>
          <p:nvPr/>
        </p:nvSpPr>
        <p:spPr>
          <a:xfrm>
            <a:off x="777240" y="4590288"/>
            <a:ext cx="10607040" cy="320040"/>
          </a:xfrm>
          <a:prstGeom prst="rect">
            <a:avLst/>
          </a:prstGeom>
          <a:noFill/>
          <a:ln/>
        </p:spPr>
        <p:txBody>
          <a:bodyPr wrap="square" rtlCol="0" anchor="ctr"/>
          <a:lstStyle/>
          <a:p>
            <a:pPr indent="0" marL="0">
              <a:buNone/>
            </a:pPr>
            <a:r>
              <a:rPr lang="en-US" sz="1350" b="1" dirty="0">
                <a:solidFill>
                  <a:srgbClr val="004061"/>
                </a:solidFill>
                <a:latin typeface="Calibri" pitchFamily="34" charset="0"/>
                <a:ea typeface="Calibri" pitchFamily="34" charset="-122"/>
                <a:cs typeface="Calibri" pitchFamily="34" charset="-120"/>
              </a:rPr>
              <a:t>The real #1 autopay reason isn't a complaint</a:t>
            </a:r>
            <a:endParaRPr lang="en-US" sz="1350" dirty="0"/>
          </a:p>
        </p:txBody>
      </p:sp>
      <p:sp>
        <p:nvSpPr>
          <p:cNvPr id="18" name="Text 16"/>
          <p:cNvSpPr/>
          <p:nvPr/>
        </p:nvSpPr>
        <p:spPr>
          <a:xfrm>
            <a:off x="777240" y="4882896"/>
            <a:ext cx="10607040" cy="320040"/>
          </a:xfrm>
          <a:prstGeom prst="rect">
            <a:avLst/>
          </a:prstGeom>
          <a:noFill/>
          <a:ln/>
        </p:spPr>
        <p:txBody>
          <a:bodyPr wrap="square" rtlCol="0" anchor="ctr"/>
          <a:lstStyle/>
          <a:p>
            <a:pPr indent="0" marL="0">
              <a:buNone/>
            </a:pPr>
            <a:r>
              <a:rPr lang="en-US" sz="1100" dirty="0">
                <a:solidFill>
                  <a:srgbClr val="3C3C3C"/>
                </a:solidFill>
                <a:latin typeface="Calibri" pitchFamily="34" charset="0"/>
                <a:ea typeface="Calibri" pitchFamily="34" charset="-122"/>
                <a:cs typeface="Calibri" pitchFamily="34" charset="-120"/>
              </a:rPr>
              <a:t>38% of phone-call removals are just a card update — and 90.5% turn autopay back on within 60 days.</a:t>
            </a:r>
            <a:endParaRPr lang="en-US" sz="1100" dirty="0"/>
          </a:p>
        </p:txBody>
      </p:sp>
      <p:sp>
        <p:nvSpPr>
          <p:cNvPr id="19" name="Shape 17"/>
          <p:cNvSpPr/>
          <p:nvPr/>
        </p:nvSpPr>
        <p:spPr>
          <a:xfrm>
            <a:off x="548640" y="5285232"/>
            <a:ext cx="11064240" cy="795528"/>
          </a:xfrm>
          <a:prstGeom prst="roundRect">
            <a:avLst>
              <a:gd name="adj" fmla="val 6897"/>
            </a:avLst>
          </a:prstGeom>
          <a:solidFill>
            <a:srgbClr val="F5F8FA"/>
          </a:solidFill>
          <a:ln/>
        </p:spPr>
      </p:sp>
      <p:sp>
        <p:nvSpPr>
          <p:cNvPr id="20" name="Shape 18"/>
          <p:cNvSpPr/>
          <p:nvPr/>
        </p:nvSpPr>
        <p:spPr>
          <a:xfrm>
            <a:off x="777240" y="5413248"/>
            <a:ext cx="365760" cy="54864"/>
          </a:xfrm>
          <a:prstGeom prst="rect">
            <a:avLst/>
          </a:prstGeom>
          <a:solidFill>
            <a:srgbClr val="44546A"/>
          </a:solidFill>
          <a:ln/>
        </p:spPr>
      </p:sp>
      <p:sp>
        <p:nvSpPr>
          <p:cNvPr id="21" name="Text 19"/>
          <p:cNvSpPr/>
          <p:nvPr/>
        </p:nvSpPr>
        <p:spPr>
          <a:xfrm>
            <a:off x="777240" y="5522976"/>
            <a:ext cx="10607040" cy="320040"/>
          </a:xfrm>
          <a:prstGeom prst="rect">
            <a:avLst/>
          </a:prstGeom>
          <a:noFill/>
          <a:ln/>
        </p:spPr>
        <p:txBody>
          <a:bodyPr wrap="square" rtlCol="0" anchor="ctr"/>
          <a:lstStyle/>
          <a:p>
            <a:pPr indent="0" marL="0">
              <a:buNone/>
            </a:pPr>
            <a:r>
              <a:rPr lang="en-US" sz="1350" b="1" dirty="0">
                <a:solidFill>
                  <a:srgbClr val="004061"/>
                </a:solidFill>
                <a:latin typeface="Calibri" pitchFamily="34" charset="0"/>
                <a:ea typeface="Calibri" pitchFamily="34" charset="-122"/>
                <a:cs typeface="Calibri" pitchFamily="34" charset="-120"/>
              </a:rPr>
              <a:t>The three original autopay guesses are real, but rare</a:t>
            </a:r>
            <a:endParaRPr lang="en-US" sz="1350" dirty="0"/>
          </a:p>
        </p:txBody>
      </p:sp>
      <p:sp>
        <p:nvSpPr>
          <p:cNvPr id="22" name="Text 20"/>
          <p:cNvSpPr/>
          <p:nvPr/>
        </p:nvSpPr>
        <p:spPr>
          <a:xfrm>
            <a:off x="777240" y="5815584"/>
            <a:ext cx="10607040" cy="320040"/>
          </a:xfrm>
          <a:prstGeom prst="rect">
            <a:avLst/>
          </a:prstGeom>
          <a:noFill/>
          <a:ln/>
        </p:spPr>
        <p:txBody>
          <a:bodyPr wrap="square" rtlCol="0" anchor="ctr"/>
          <a:lstStyle/>
          <a:p>
            <a:pPr indent="0" marL="0">
              <a:buNone/>
            </a:pPr>
            <a:r>
              <a:rPr lang="en-US" sz="1100" dirty="0">
                <a:solidFill>
                  <a:srgbClr val="3C3C3C"/>
                </a:solidFill>
                <a:latin typeface="Calibri" pitchFamily="34" charset="0"/>
                <a:ea typeface="Calibri" pitchFamily="34" charset="-122"/>
                <a:cs typeface="Calibri" pitchFamily="34" charset="-120"/>
              </a:rPr>
              <a:t>Payment timing, surprise fees, and consent disputes each account for less than 1% of calls.</a:t>
            </a:r>
            <a:endParaRPr lang="en-US" sz="1100" dirty="0"/>
          </a:p>
        </p:txBody>
      </p:sp>
      <p:pic>
        <p:nvPicPr>
          <p:cNvPr id="23" name="Image 0" descr="/home/claude/remy_tomorrow/igs_logo.png">    </p:cNvPr>
          <p:cNvPicPr>
            <a:picLocks noChangeAspect="1"/>
          </p:cNvPicPr>
          <p:nvPr/>
        </p:nvPicPr>
        <p:blipFill>
          <a:blip r:embed="rId1"/>
          <a:stretch>
            <a:fillRect/>
          </a:stretch>
        </p:blipFill>
        <p:spPr>
          <a:xfrm>
            <a:off x="457200" y="6473952"/>
            <a:ext cx="777240" cy="202997"/>
          </a:xfrm>
          <a:prstGeom prst="rect">
            <a:avLst/>
          </a:prstGeom>
        </p:spPr>
      </p:pic>
      <p:sp>
        <p:nvSpPr>
          <p:cNvPr id="24" name="Text 21"/>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4061"/>
        </a:solidFill>
      </p:bgPr>
    </p:bg>
    <p:spTree>
      <p:nvGrpSpPr>
        <p:cNvPr id="1" name=""/>
        <p:cNvGrpSpPr/>
        <p:nvPr/>
      </p:nvGrpSpPr>
      <p:grpSpPr>
        <a:xfrm>
          <a:off x="0" y="0"/>
          <a:ext cx="0" cy="0"/>
          <a:chOff x="0" y="0"/>
          <a:chExt cx="0" cy="0"/>
        </a:xfrm>
      </p:grpSpPr>
      <p:pic>
        <p:nvPicPr>
          <p:cNvPr id="2" name="Image 0" descr="/home/claude/remy_tomorrow/igs_logo.png">    </p:cNvPr>
          <p:cNvPicPr>
            <a:picLocks noChangeAspect="1"/>
          </p:cNvPicPr>
          <p:nvPr/>
        </p:nvPicPr>
        <p:blipFill>
          <a:blip r:embed="rId1"/>
          <a:stretch>
            <a:fillRect/>
          </a:stretch>
        </p:blipFill>
        <p:spPr>
          <a:xfrm>
            <a:off x="640080" y="457200"/>
            <a:ext cx="1280160" cy="333756"/>
          </a:xfrm>
          <a:prstGeom prst="rect">
            <a:avLst/>
          </a:prstGeom>
        </p:spPr>
      </p:pic>
      <p:sp>
        <p:nvSpPr>
          <p:cNvPr id="3" name="Text 0"/>
          <p:cNvSpPr/>
          <p:nvPr/>
        </p:nvSpPr>
        <p:spPr>
          <a:xfrm>
            <a:off x="640080" y="1005840"/>
            <a:ext cx="9144000" cy="640080"/>
          </a:xfrm>
          <a:prstGeom prst="rect">
            <a:avLst/>
          </a:prstGeom>
          <a:noFill/>
          <a:ln/>
        </p:spPr>
        <p:txBody>
          <a:bodyPr wrap="square" rtlCol="0" anchor="ctr"/>
          <a:lstStyle/>
          <a:p>
            <a:pPr indent="0" marL="0">
              <a:buNone/>
            </a:pPr>
            <a:r>
              <a:rPr lang="en-US" sz="2800" b="1" spc="100" kern="0" dirty="0">
                <a:solidFill>
                  <a:srgbClr val="FFFFFF"/>
                </a:solidFill>
                <a:latin typeface="Calibri" pitchFamily="34" charset="0"/>
                <a:ea typeface="Calibri" pitchFamily="34" charset="-122"/>
                <a:cs typeface="Calibri" pitchFamily="34" charset="-120"/>
              </a:rPr>
              <a:t>NEXT STEPS</a:t>
            </a:r>
            <a:endParaRPr lang="en-US" sz="2800" dirty="0"/>
          </a:p>
        </p:txBody>
      </p:sp>
      <p:sp>
        <p:nvSpPr>
          <p:cNvPr id="4" name="Text 1"/>
          <p:cNvSpPr/>
          <p:nvPr/>
        </p:nvSpPr>
        <p:spPr>
          <a:xfrm>
            <a:off x="640080" y="1600200"/>
            <a:ext cx="9144000" cy="365760"/>
          </a:xfrm>
          <a:prstGeom prst="rect">
            <a:avLst/>
          </a:prstGeom>
          <a:noFill/>
          <a:ln/>
        </p:spPr>
        <p:txBody>
          <a:bodyPr wrap="square" rtlCol="0" anchor="ctr"/>
          <a:lstStyle/>
          <a:p>
            <a:pPr indent="0" marL="0">
              <a:buNone/>
            </a:pPr>
            <a:r>
              <a:rPr lang="en-US" sz="1400" dirty="0">
                <a:solidFill>
                  <a:srgbClr val="BFD9F0"/>
                </a:solidFill>
                <a:latin typeface="Calibri" pitchFamily="34" charset="0"/>
                <a:ea typeface="Calibri" pitchFamily="34" charset="-122"/>
                <a:cs typeface="Calibri" pitchFamily="34" charset="-120"/>
              </a:rPr>
              <a:t>What we'd do with this</a:t>
            </a:r>
            <a:endParaRPr lang="en-US" sz="1400" dirty="0"/>
          </a:p>
        </p:txBody>
      </p:sp>
      <p:sp>
        <p:nvSpPr>
          <p:cNvPr id="5" name="Shape 2"/>
          <p:cNvSpPr/>
          <p:nvPr/>
        </p:nvSpPr>
        <p:spPr>
          <a:xfrm>
            <a:off x="640080" y="2404872"/>
            <a:ext cx="365760" cy="365760"/>
          </a:xfrm>
          <a:prstGeom prst="ellipse">
            <a:avLst/>
          </a:prstGeom>
          <a:solidFill>
            <a:srgbClr val="F4A600"/>
          </a:solidFill>
          <a:ln/>
        </p:spPr>
      </p:sp>
      <p:sp>
        <p:nvSpPr>
          <p:cNvPr id="6" name="Text 3"/>
          <p:cNvSpPr/>
          <p:nvPr/>
        </p:nvSpPr>
        <p:spPr>
          <a:xfrm>
            <a:off x="1143000" y="2350008"/>
            <a:ext cx="103327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Use the credit-quality signal in onboarding decisions</a:t>
            </a:r>
            <a:endParaRPr lang="en-US" sz="1400" dirty="0"/>
          </a:p>
        </p:txBody>
      </p:sp>
      <p:sp>
        <p:nvSpPr>
          <p:cNvPr id="7" name="Text 4"/>
          <p:cNvSpPr/>
          <p:nvPr/>
        </p:nvSpPr>
        <p:spPr>
          <a:xfrm>
            <a:off x="1143000" y="2706624"/>
            <a:ext cx="10332720" cy="457200"/>
          </a:xfrm>
          <a:prstGeom prst="rect">
            <a:avLst/>
          </a:prstGeom>
          <a:noFill/>
          <a:ln/>
        </p:spPr>
        <p:txBody>
          <a:bodyPr wrap="square" rtlCol="0" anchor="ctr"/>
          <a:lstStyle/>
          <a:p>
            <a:pPr indent="0" marL="0">
              <a:lnSpc>
                <a:spcPct val="120000"/>
              </a:lnSpc>
              <a:buNone/>
            </a:pPr>
            <a:r>
              <a:rPr lang="en-US" sz="1150" dirty="0">
                <a:solidFill>
                  <a:srgbClr val="AFC2D4"/>
                </a:solidFill>
                <a:latin typeface="Calibri" pitchFamily="34" charset="0"/>
                <a:ea typeface="Calibri" pitchFamily="34" charset="-122"/>
                <a:cs typeface="Calibri" pitchFamily="34" charset="-120"/>
              </a:rPr>
              <a:t>It's now a real, measurable number for the cost-to-serve conversation — not just a hunch.</a:t>
            </a:r>
            <a:endParaRPr lang="en-US" sz="1150" dirty="0"/>
          </a:p>
        </p:txBody>
      </p:sp>
      <p:sp>
        <p:nvSpPr>
          <p:cNvPr id="8" name="Shape 5"/>
          <p:cNvSpPr/>
          <p:nvPr/>
        </p:nvSpPr>
        <p:spPr>
          <a:xfrm>
            <a:off x="640080" y="3364992"/>
            <a:ext cx="365760" cy="365760"/>
          </a:xfrm>
          <a:prstGeom prst="ellipse">
            <a:avLst/>
          </a:prstGeom>
          <a:solidFill>
            <a:srgbClr val="00BB86"/>
          </a:solidFill>
          <a:ln/>
        </p:spPr>
      </p:sp>
      <p:sp>
        <p:nvSpPr>
          <p:cNvPr id="9" name="Text 6"/>
          <p:cNvSpPr/>
          <p:nvPr/>
        </p:nvSpPr>
        <p:spPr>
          <a:xfrm>
            <a:off x="1143000" y="3310128"/>
            <a:ext cx="103327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Stop worrying about new-customer churn from autopay</a:t>
            </a:r>
            <a:endParaRPr lang="en-US" sz="1400" dirty="0"/>
          </a:p>
        </p:txBody>
      </p:sp>
      <p:sp>
        <p:nvSpPr>
          <p:cNvPr id="10" name="Text 7"/>
          <p:cNvSpPr/>
          <p:nvPr/>
        </p:nvSpPr>
        <p:spPr>
          <a:xfrm>
            <a:off x="1143000" y="3666744"/>
            <a:ext cx="10332720" cy="457200"/>
          </a:xfrm>
          <a:prstGeom prst="rect">
            <a:avLst/>
          </a:prstGeom>
          <a:noFill/>
          <a:ln/>
        </p:spPr>
        <p:txBody>
          <a:bodyPr wrap="square" rtlCol="0" anchor="ctr"/>
          <a:lstStyle/>
          <a:p>
            <a:pPr indent="0" marL="0">
              <a:lnSpc>
                <a:spcPct val="120000"/>
              </a:lnSpc>
              <a:buNone/>
            </a:pPr>
            <a:r>
              <a:rPr lang="en-US" sz="1150" dirty="0">
                <a:solidFill>
                  <a:srgbClr val="AFC2D4"/>
                </a:solidFill>
                <a:latin typeface="Calibri" pitchFamily="34" charset="0"/>
                <a:ea typeface="Calibri" pitchFamily="34" charset="-122"/>
                <a:cs typeface="Calibri" pitchFamily="34" charset="-120"/>
              </a:rPr>
              <a:t>The real number (15.2%) is much lower than assumed — this isn't the problem it was thought to be.</a:t>
            </a:r>
            <a:endParaRPr lang="en-US" sz="1150" dirty="0"/>
          </a:p>
        </p:txBody>
      </p:sp>
      <p:sp>
        <p:nvSpPr>
          <p:cNvPr id="11" name="Shape 8"/>
          <p:cNvSpPr/>
          <p:nvPr/>
        </p:nvSpPr>
        <p:spPr>
          <a:xfrm>
            <a:off x="640080" y="4325112"/>
            <a:ext cx="365760" cy="365760"/>
          </a:xfrm>
          <a:prstGeom prst="ellipse">
            <a:avLst/>
          </a:prstGeom>
          <a:solidFill>
            <a:srgbClr val="005CB9"/>
          </a:solidFill>
          <a:ln/>
        </p:spPr>
      </p:sp>
      <p:sp>
        <p:nvSpPr>
          <p:cNvPr id="12" name="Text 9"/>
          <p:cNvSpPr/>
          <p:nvPr/>
        </p:nvSpPr>
        <p:spPr>
          <a:xfrm>
            <a:off x="1143000" y="4270248"/>
            <a:ext cx="103327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Consider a friendly reminder before a card expires</a:t>
            </a:r>
            <a:endParaRPr lang="en-US" sz="1400" dirty="0"/>
          </a:p>
        </p:txBody>
      </p:sp>
      <p:sp>
        <p:nvSpPr>
          <p:cNvPr id="13" name="Text 10"/>
          <p:cNvSpPr/>
          <p:nvPr/>
        </p:nvSpPr>
        <p:spPr>
          <a:xfrm>
            <a:off x="1143000" y="4626864"/>
            <a:ext cx="10332720" cy="457200"/>
          </a:xfrm>
          <a:prstGeom prst="rect">
            <a:avLst/>
          </a:prstGeom>
          <a:noFill/>
          <a:ln/>
        </p:spPr>
        <p:txBody>
          <a:bodyPr wrap="square" rtlCol="0" anchor="ctr"/>
          <a:lstStyle/>
          <a:p>
            <a:pPr indent="0" marL="0">
              <a:lnSpc>
                <a:spcPct val="120000"/>
              </a:lnSpc>
              <a:buNone/>
            </a:pPr>
            <a:r>
              <a:rPr lang="en-US" sz="1150" dirty="0">
                <a:solidFill>
                  <a:srgbClr val="AFC2D4"/>
                </a:solidFill>
                <a:latin typeface="Calibri" pitchFamily="34" charset="0"/>
                <a:ea typeface="Calibri" pitchFamily="34" charset="-122"/>
                <a:cs typeface="Calibri" pitchFamily="34" charset="-120"/>
              </a:rPr>
              <a:t>Since 38% of autopay calls are card-related, a heads-up before expiration could reduce these calls entirely.</a:t>
            </a:r>
            <a:endParaRPr lang="en-US" sz="1150" dirty="0"/>
          </a:p>
        </p:txBody>
      </p:sp>
      <p:sp>
        <p:nvSpPr>
          <p:cNvPr id="14" name="Shape 11"/>
          <p:cNvSpPr/>
          <p:nvPr/>
        </p:nvSpPr>
        <p:spPr>
          <a:xfrm>
            <a:off x="640080" y="5285232"/>
            <a:ext cx="365760" cy="365760"/>
          </a:xfrm>
          <a:prstGeom prst="ellipse">
            <a:avLst/>
          </a:prstGeom>
          <a:solidFill>
            <a:srgbClr val="00B9B3"/>
          </a:solidFill>
          <a:ln/>
        </p:spPr>
      </p:sp>
      <p:sp>
        <p:nvSpPr>
          <p:cNvPr id="15" name="Text 12"/>
          <p:cNvSpPr/>
          <p:nvPr/>
        </p:nvSpPr>
        <p:spPr>
          <a:xfrm>
            <a:off x="1143000" y="5230368"/>
            <a:ext cx="103327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Loop in the Ops team on the consent question</a:t>
            </a:r>
            <a:endParaRPr lang="en-US" sz="1400" dirty="0"/>
          </a:p>
        </p:txBody>
      </p:sp>
      <p:sp>
        <p:nvSpPr>
          <p:cNvPr id="16" name="Text 13"/>
          <p:cNvSpPr/>
          <p:nvPr/>
        </p:nvSpPr>
        <p:spPr>
          <a:xfrm>
            <a:off x="1143000" y="5586984"/>
            <a:ext cx="10332720" cy="457200"/>
          </a:xfrm>
          <a:prstGeom prst="rect">
            <a:avLst/>
          </a:prstGeom>
          <a:noFill/>
          <a:ln/>
        </p:spPr>
        <p:txBody>
          <a:bodyPr wrap="square" rtlCol="0" anchor="ctr"/>
          <a:lstStyle/>
          <a:p>
            <a:pPr indent="0" marL="0">
              <a:lnSpc>
                <a:spcPct val="120000"/>
              </a:lnSpc>
              <a:buNone/>
            </a:pPr>
            <a:r>
              <a:rPr lang="en-US" sz="1150" dirty="0">
                <a:solidFill>
                  <a:srgbClr val="AFC2D4"/>
                </a:solidFill>
                <a:latin typeface="Calibri" pitchFamily="34" charset="0"/>
                <a:ea typeface="Calibri" pitchFamily="34" charset="-122"/>
                <a:cs typeface="Calibri" pitchFamily="34" charset="-120"/>
              </a:rPr>
              <a:t>Rare, but still worth a quick conversation on why it happens at all.</a:t>
            </a:r>
            <a:endParaRPr lang="en-US" sz="1150" dirty="0"/>
          </a:p>
        </p:txBody>
      </p:sp>
      <p:pic>
        <p:nvPicPr>
          <p:cNvPr id="17" name="Image 1" descr="/home/claude/remy_tomorrow/igs_logo.png">    </p:cNvPr>
          <p:cNvPicPr>
            <a:picLocks noChangeAspect="1"/>
          </p:cNvPicPr>
          <p:nvPr/>
        </p:nvPicPr>
        <p:blipFill>
          <a:blip r:embed="rId2"/>
          <a:stretch>
            <a:fillRect/>
          </a:stretch>
        </p:blipFill>
        <p:spPr>
          <a:xfrm>
            <a:off x="457200" y="6473952"/>
            <a:ext cx="777240" cy="202997"/>
          </a:xfrm>
          <a:prstGeom prst="rect">
            <a:avLst/>
          </a:prstGeom>
        </p:spPr>
      </p:pic>
      <p:sp>
        <p:nvSpPr>
          <p:cNvPr id="18" name="Text 14"/>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2026-08-04T15:11:04Z</dcterms:created>
  <dcterms:modified xsi:type="dcterms:W3CDTF">2026-08-04T15:11:04Z</dcterms:modified>
</cp:coreProperties>
</file>