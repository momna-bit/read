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3A5C"/>
                </a:solidFill>
                <a:latin typeface="Arial"/>
              </a:defRPr>
            </a:pPr>
            <a:r>
              <a:rPr sz="1300" b="0" i="0" u="none" strike="noStrike">
                <a:solidFill>
                  <a:srgbClr val="1A3A5C"/>
                </a:solidFill>
                <a:latin typeface="Arial"/>
              </a:rPr>
              <a:t>Active Customer Count Growth (Sample Dates)</a:t>
            </a:r>
          </a:p>
        </c:rich>
      </c:tx>
      <c:layout/>
      <c:overlay val="0"/>
    </c:title>
    <c:autoTitleDeleted val="0"/>
    <c:plotArea>
      <c:layout/>
      <c:barChart>
        <c:barDir val="col"/>
        <c:grouping val="clustered"/>
        <c:varyColors val="0"/>
        <c:ser>
          <c:idx val="0"/>
          <c:order val="0"/>
          <c:tx>
            <c:strRef>
              <c:f>Sheet1!$B$1</c:f>
              <c:strCache>
                <c:ptCount val="1"/>
                <c:pt idx="0">
                  <c:v>Active Customers</c:v>
                </c:pt>
              </c:strCache>
            </c:strRef>
          </c:tx>
          <c:spPr>
            <a:solidFill>
              <a:srgbClr val="3D8B8B"/>
            </a:solidFill>
            <a:effectLst/>
          </c:spPr>
          <c:invertIfNegative val="0"/>
          <c:dLbls>
            <c:numFmt formatCode="#,##0" sourceLinked="0"/>
            <c:txPr>
              <a:bodyPr/>
              <a:lstStyle/>
              <a:p>
                <a:pPr>
                  <a:defRPr b="0" i="0" strike="noStrike" sz="1000" u="none">
                    <a:solidFill>
                      <a:srgbClr val="1A3A5C"/>
                    </a:solidFill>
                    <a:latin typeface="Arial"/>
                  </a:defRPr>
                </a:pPr>
              </a:p>
            </c:txPr>
            <c:showLegendKey val="0"/>
            <c:showVal val="1"/>
            <c:showCatName val="0"/>
            <c:showSerName val="0"/>
            <c:showPercent val="0"/>
            <c:showBubbleSize val="0"/>
            <c:showLeaderLines val="0"/>
          </c:dLbls>
          <c:cat>
            <c:multiLvlStrRef>
              <c:f>Sheet1!$A$2:$A$5</c:f>
              <c:multiLvlStrCache>
                <c:ptCount val="4"/>
                <c:lvl>
                  <c:pt idx="0">
                    <c:v>2023</c:v>
                  </c:pt>
                  <c:pt idx="1">
                    <c:v>2024</c:v>
                  </c:pt>
                  <c:pt idx="2">
                    <c:v>2025</c:v>
                  </c:pt>
                  <c:pt idx="3">
                    <c:v>2026</c:v>
                  </c:pt>
                </c:lvl>
              </c:multiLvlStrCache>
            </c:multiLvlStrRef>
          </c:cat>
          <c:val>
            <c:numRef>
              <c:f>Sheet1!$B$2:$B$5</c:f>
              <c:numCache>
                <c:formatCode>General</c:formatCode>
                <c:ptCount val="4"/>
                <c:pt idx="0">
                  <c:v>482214</c:v>
                </c:pt>
                <c:pt idx="1">
                  <c:v>585688</c:v>
                </c:pt>
                <c:pt idx="2">
                  <c:v>626361</c:v>
                </c:pt>
                <c:pt idx="3">
                  <c:v>642534</c:v>
                </c:pt>
              </c:numCache>
            </c:numRef>
          </c:val>
        </c:ser>
        <c:dLbls>
          <c:numFmt formatCode="#,##0" sourceLinked="0"/>
          <c:txPr>
            <a:bodyPr/>
            <a:lstStyle/>
            <a:p>
              <a:pPr>
                <a:defRPr b="0" i="0" strike="noStrike" sz="1000" u="none">
                  <a:solidFill>
                    <a:srgbClr val="1A3A5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444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822960" y="1920240"/>
            <a:ext cx="10515600" cy="457200"/>
          </a:xfrm>
          <a:prstGeom prst="rect">
            <a:avLst/>
          </a:prstGeom>
          <a:noFill/>
          <a:ln/>
        </p:spPr>
        <p:txBody>
          <a:bodyPr wrap="square" rtlCol="0" anchor="ctr"/>
          <a:lstStyle/>
          <a:p>
            <a:pPr indent="0" marL="0">
              <a:buNone/>
            </a:pPr>
            <a:r>
              <a:rPr lang="en-US" sz="1500" b="1" spc="200" kern="0" dirty="0">
                <a:solidFill>
                  <a:srgbClr val="9FC1E0"/>
                </a:solidFill>
              </a:rPr>
              <a:t>TASK 4  ·  TEXAS RESIDENTIAL CARE</a:t>
            </a:r>
            <a:endParaRPr lang="en-US" sz="1500" dirty="0"/>
          </a:p>
        </p:txBody>
      </p:sp>
      <p:sp>
        <p:nvSpPr>
          <p:cNvPr id="3" name="Text 1"/>
          <p:cNvSpPr/>
          <p:nvPr/>
        </p:nvSpPr>
        <p:spPr>
          <a:xfrm>
            <a:off x="822960" y="2377440"/>
            <a:ext cx="10515600" cy="1005840"/>
          </a:xfrm>
          <a:prstGeom prst="rect">
            <a:avLst/>
          </a:prstGeom>
          <a:noFill/>
          <a:ln/>
        </p:spPr>
        <p:txBody>
          <a:bodyPr wrap="square" rtlCol="0" anchor="ctr"/>
          <a:lstStyle/>
          <a:p>
            <a:pPr indent="0" marL="0">
              <a:buNone/>
            </a:pPr>
            <a:r>
              <a:rPr lang="en-US" sz="4200" b="1" dirty="0">
                <a:solidFill>
                  <a:srgbClr val="FFFFFF"/>
                </a:solidFill>
              </a:rPr>
              <a:t>Baseline Forecasting Dataset</a:t>
            </a:r>
            <a:endParaRPr lang="en-US" sz="4200" dirty="0"/>
          </a:p>
        </p:txBody>
      </p:sp>
      <p:sp>
        <p:nvSpPr>
          <p:cNvPr id="4" name="Text 2"/>
          <p:cNvSpPr/>
          <p:nvPr/>
        </p:nvSpPr>
        <p:spPr>
          <a:xfrm>
            <a:off x="822960" y="3429000"/>
            <a:ext cx="10058400" cy="457200"/>
          </a:xfrm>
          <a:prstGeom prst="rect">
            <a:avLst/>
          </a:prstGeom>
          <a:noFill/>
          <a:ln/>
        </p:spPr>
        <p:txBody>
          <a:bodyPr wrap="square" rtlCol="0" anchor="ctr"/>
          <a:lstStyle/>
          <a:p>
            <a:pPr indent="0" marL="0">
              <a:buNone/>
            </a:pPr>
            <a:r>
              <a:rPr lang="en-US" sz="1700" dirty="0">
                <a:solidFill>
                  <a:srgbClr val="D6E4F0"/>
                </a:solidFill>
              </a:rPr>
              <a:t>A corrected, validated daily dataset — the input layer for future forecasting work</a:t>
            </a:r>
            <a:endParaRPr lang="en-US" sz="1700" dirty="0"/>
          </a:p>
        </p:txBody>
      </p:sp>
      <p:sp>
        <p:nvSpPr>
          <p:cNvPr id="5" name="Shape 3"/>
          <p:cNvSpPr/>
          <p:nvPr/>
        </p:nvSpPr>
        <p:spPr>
          <a:xfrm>
            <a:off x="822960" y="4114800"/>
            <a:ext cx="2011680" cy="0"/>
          </a:xfrm>
          <a:prstGeom prst="line">
            <a:avLst/>
          </a:prstGeom>
          <a:noFill/>
          <a:ln w="38100">
            <a:solidFill>
              <a:srgbClr val="3D8B8B"/>
            </a:solidFill>
            <a:prstDash val="solid"/>
          </a:ln>
        </p:spPr>
      </p:sp>
      <p:sp>
        <p:nvSpPr>
          <p:cNvPr id="6" name="Text 4"/>
          <p:cNvSpPr/>
          <p:nvPr/>
        </p:nvSpPr>
        <p:spPr>
          <a:xfrm>
            <a:off x="822960" y="5989320"/>
            <a:ext cx="7315200" cy="365760"/>
          </a:xfrm>
          <a:prstGeom prst="rect">
            <a:avLst/>
          </a:prstGeom>
          <a:noFill/>
          <a:ln/>
        </p:spPr>
        <p:txBody>
          <a:bodyPr wrap="square" rtlCol="0" anchor="ctr"/>
          <a:lstStyle/>
          <a:p>
            <a:pPr indent="0" marL="0">
              <a:buNone/>
            </a:pPr>
            <a:r>
              <a:rPr lang="en-US" sz="1200" dirty="0">
                <a:solidFill>
                  <a:srgbClr val="9FC1E0"/>
                </a:solidFill>
              </a:rPr>
              <a:t>Momna Ali  ·  Associate Data Scientist  ·  South Mass Market &amp; Canada</a:t>
            </a:r>
            <a:endParaRPr lang="en-US" sz="1200" dirty="0"/>
          </a:p>
        </p:txBody>
      </p:sp>
      <p:sp>
        <p:nvSpPr>
          <p:cNvPr id="7" name="Text 5"/>
          <p:cNvSpPr/>
          <p:nvPr/>
        </p:nvSpPr>
        <p:spPr>
          <a:xfrm>
            <a:off x="822960" y="6263640"/>
            <a:ext cx="7315200" cy="320040"/>
          </a:xfrm>
          <a:prstGeom prst="rect">
            <a:avLst/>
          </a:prstGeom>
          <a:noFill/>
          <a:ln/>
        </p:spPr>
        <p:txBody>
          <a:bodyPr wrap="square" rtlCol="0" anchor="ctr"/>
          <a:lstStyle/>
          <a:p>
            <a:pPr indent="0" marL="0">
              <a:buNone/>
            </a:pPr>
            <a:r>
              <a:rPr lang="en-US" sz="1200" dirty="0">
                <a:solidFill>
                  <a:srgbClr val="9FC1E0"/>
                </a:solidFill>
              </a:rPr>
              <a:t>Prepared for Jonathan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What Was Built</a:t>
            </a:r>
            <a:endParaRPr lang="en-US" sz="2700" dirty="0"/>
          </a:p>
        </p:txBody>
      </p:sp>
      <p:sp>
        <p:nvSpPr>
          <p:cNvPr id="4" name="Shape 2"/>
          <p:cNvSpPr/>
          <p:nvPr/>
        </p:nvSpPr>
        <p:spPr>
          <a:xfrm>
            <a:off x="548640" y="1600200"/>
            <a:ext cx="11064240" cy="841248"/>
          </a:xfrm>
          <a:prstGeom prst="roundRect">
            <a:avLst>
              <a:gd name="adj" fmla="val 7609"/>
            </a:avLst>
          </a:prstGeom>
          <a:solidFill>
            <a:srgbClr val="F5F6F7"/>
          </a:solidFill>
          <a:ln w="12700">
            <a:solidFill>
              <a:srgbClr val="E3E6E9"/>
            </a:solidFill>
            <a:prstDash val="solid"/>
          </a:ln>
        </p:spPr>
      </p:sp>
      <p:sp>
        <p:nvSpPr>
          <p:cNvPr id="5" name="Shape 3"/>
          <p:cNvSpPr/>
          <p:nvPr/>
        </p:nvSpPr>
        <p:spPr>
          <a:xfrm>
            <a:off x="731520" y="1856232"/>
            <a:ext cx="329184" cy="329184"/>
          </a:xfrm>
          <a:prstGeom prst="ellipse">
            <a:avLst/>
          </a:prstGeom>
          <a:solidFill>
            <a:srgbClr val="3E8E5A"/>
          </a:solidFill>
          <a:ln/>
        </p:spPr>
      </p:sp>
      <p:sp>
        <p:nvSpPr>
          <p:cNvPr id="6" name="Text 4"/>
          <p:cNvSpPr/>
          <p:nvPr/>
        </p:nvSpPr>
        <p:spPr>
          <a:xfrm>
            <a:off x="731520" y="1856232"/>
            <a:ext cx="329184" cy="329184"/>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7" name="Text 5"/>
          <p:cNvSpPr/>
          <p:nvPr/>
        </p:nvSpPr>
        <p:spPr>
          <a:xfrm>
            <a:off x="1234440" y="1673352"/>
            <a:ext cx="3200400" cy="694944"/>
          </a:xfrm>
          <a:prstGeom prst="rect">
            <a:avLst/>
          </a:prstGeom>
          <a:noFill/>
          <a:ln/>
        </p:spPr>
        <p:txBody>
          <a:bodyPr wrap="square" rtlCol="0" anchor="ctr"/>
          <a:lstStyle/>
          <a:p>
            <a:pPr indent="0" marL="0">
              <a:buNone/>
            </a:pPr>
            <a:r>
              <a:rPr lang="en-US" sz="1300" b="1" dirty="0">
                <a:solidFill>
                  <a:srgbClr val="1A3A5C"/>
                </a:solidFill>
              </a:rPr>
              <a:t>End-to-end pipeline</a:t>
            </a:r>
            <a:endParaRPr lang="en-US" sz="1300" dirty="0"/>
          </a:p>
        </p:txBody>
      </p:sp>
      <p:sp>
        <p:nvSpPr>
          <p:cNvPr id="8" name="Text 6"/>
          <p:cNvSpPr/>
          <p:nvPr/>
        </p:nvSpPr>
        <p:spPr>
          <a:xfrm>
            <a:off x="4572000" y="1673352"/>
            <a:ext cx="6858000" cy="694944"/>
          </a:xfrm>
          <a:prstGeom prst="rect">
            <a:avLst/>
          </a:prstGeom>
          <a:noFill/>
          <a:ln/>
        </p:spPr>
        <p:txBody>
          <a:bodyPr wrap="square" rtlCol="0" anchor="ctr"/>
          <a:lstStyle/>
          <a:p>
            <a:pPr indent="0" marL="0">
              <a:buNone/>
            </a:pPr>
            <a:r>
              <a:rPr lang="en-US" sz="1100" dirty="0">
                <a:solidFill>
                  <a:srgbClr val="444444"/>
                </a:solidFill>
              </a:rPr>
              <a:t>All five original corrections now run as one connected query producing one row per day, not standalone pieces.</a:t>
            </a:r>
            <a:endParaRPr lang="en-US" sz="1100" dirty="0"/>
          </a:p>
        </p:txBody>
      </p:sp>
      <p:sp>
        <p:nvSpPr>
          <p:cNvPr id="9" name="Shape 7"/>
          <p:cNvSpPr/>
          <p:nvPr/>
        </p:nvSpPr>
        <p:spPr>
          <a:xfrm>
            <a:off x="548640" y="2514600"/>
            <a:ext cx="11064240" cy="841248"/>
          </a:xfrm>
          <a:prstGeom prst="roundRect">
            <a:avLst>
              <a:gd name="adj" fmla="val 7609"/>
            </a:avLst>
          </a:prstGeom>
          <a:solidFill>
            <a:srgbClr val="F5F6F7"/>
          </a:solidFill>
          <a:ln w="12700">
            <a:solidFill>
              <a:srgbClr val="E3E6E9"/>
            </a:solidFill>
            <a:prstDash val="solid"/>
          </a:ln>
        </p:spPr>
      </p:sp>
      <p:sp>
        <p:nvSpPr>
          <p:cNvPr id="10" name="Shape 8"/>
          <p:cNvSpPr/>
          <p:nvPr/>
        </p:nvSpPr>
        <p:spPr>
          <a:xfrm>
            <a:off x="731520" y="2770632"/>
            <a:ext cx="329184" cy="329184"/>
          </a:xfrm>
          <a:prstGeom prst="ellipse">
            <a:avLst/>
          </a:prstGeom>
          <a:solidFill>
            <a:srgbClr val="3E8E5A"/>
          </a:solidFill>
          <a:ln/>
        </p:spPr>
      </p:sp>
      <p:sp>
        <p:nvSpPr>
          <p:cNvPr id="11" name="Text 9"/>
          <p:cNvSpPr/>
          <p:nvPr/>
        </p:nvSpPr>
        <p:spPr>
          <a:xfrm>
            <a:off x="731520" y="2770632"/>
            <a:ext cx="329184" cy="329184"/>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12" name="Text 10"/>
          <p:cNvSpPr/>
          <p:nvPr/>
        </p:nvSpPr>
        <p:spPr>
          <a:xfrm>
            <a:off x="1234440" y="2587752"/>
            <a:ext cx="3200400" cy="694944"/>
          </a:xfrm>
          <a:prstGeom prst="rect">
            <a:avLst/>
          </a:prstGeom>
          <a:noFill/>
          <a:ln/>
        </p:spPr>
        <p:txBody>
          <a:bodyPr wrap="square" rtlCol="0" anchor="ctr"/>
          <a:lstStyle/>
          <a:p>
            <a:pPr indent="0" marL="0">
              <a:buNone/>
            </a:pPr>
            <a:r>
              <a:rPr lang="en-US" sz="1300" b="1" dirty="0">
                <a:solidFill>
                  <a:srgbClr val="1A3A5C"/>
                </a:solidFill>
              </a:rPr>
              <a:t>Active customer count</a:t>
            </a:r>
            <a:endParaRPr lang="en-US" sz="1300" dirty="0"/>
          </a:p>
        </p:txBody>
      </p:sp>
      <p:sp>
        <p:nvSpPr>
          <p:cNvPr id="13" name="Text 11"/>
          <p:cNvSpPr/>
          <p:nvPr/>
        </p:nvSpPr>
        <p:spPr>
          <a:xfrm>
            <a:off x="4572000" y="2587752"/>
            <a:ext cx="6858000" cy="694944"/>
          </a:xfrm>
          <a:prstGeom prst="rect">
            <a:avLst/>
          </a:prstGeom>
          <a:noFill/>
          <a:ln/>
        </p:spPr>
        <p:txBody>
          <a:bodyPr wrap="square" rtlCol="0" anchor="ctr"/>
          <a:lstStyle/>
          <a:p>
            <a:pPr indent="0" marL="0">
              <a:buNone/>
            </a:pPr>
            <a:r>
              <a:rPr lang="en-US" sz="1100" dirty="0">
                <a:solidFill>
                  <a:srgbClr val="444444"/>
                </a:solidFill>
              </a:rPr>
              <a:t>Added via an event-based net-change calculation (enrollment/cancellation dates), avoiding a slow per-day join against millions of rows.</a:t>
            </a:r>
            <a:endParaRPr lang="en-US" sz="1100" dirty="0"/>
          </a:p>
        </p:txBody>
      </p:sp>
      <p:sp>
        <p:nvSpPr>
          <p:cNvPr id="14" name="Shape 12"/>
          <p:cNvSpPr/>
          <p:nvPr/>
        </p:nvSpPr>
        <p:spPr>
          <a:xfrm>
            <a:off x="548640" y="3429000"/>
            <a:ext cx="11064240" cy="841248"/>
          </a:xfrm>
          <a:prstGeom prst="roundRect">
            <a:avLst>
              <a:gd name="adj" fmla="val 7609"/>
            </a:avLst>
          </a:prstGeom>
          <a:solidFill>
            <a:srgbClr val="F5F6F7"/>
          </a:solidFill>
          <a:ln w="12700">
            <a:solidFill>
              <a:srgbClr val="E3E6E9"/>
            </a:solidFill>
            <a:prstDash val="solid"/>
          </a:ln>
        </p:spPr>
      </p:sp>
      <p:sp>
        <p:nvSpPr>
          <p:cNvPr id="15" name="Shape 13"/>
          <p:cNvSpPr/>
          <p:nvPr/>
        </p:nvSpPr>
        <p:spPr>
          <a:xfrm>
            <a:off x="731520" y="3685032"/>
            <a:ext cx="329184" cy="329184"/>
          </a:xfrm>
          <a:prstGeom prst="ellipse">
            <a:avLst/>
          </a:prstGeom>
          <a:solidFill>
            <a:srgbClr val="3E8E5A"/>
          </a:solidFill>
          <a:ln/>
        </p:spPr>
      </p:sp>
      <p:sp>
        <p:nvSpPr>
          <p:cNvPr id="16" name="Text 14"/>
          <p:cNvSpPr/>
          <p:nvPr/>
        </p:nvSpPr>
        <p:spPr>
          <a:xfrm>
            <a:off x="731520" y="3685032"/>
            <a:ext cx="329184" cy="329184"/>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17" name="Text 15"/>
          <p:cNvSpPr/>
          <p:nvPr/>
        </p:nvSpPr>
        <p:spPr>
          <a:xfrm>
            <a:off x="1234440" y="3502152"/>
            <a:ext cx="3200400" cy="694944"/>
          </a:xfrm>
          <a:prstGeom prst="rect">
            <a:avLst/>
          </a:prstGeom>
          <a:noFill/>
          <a:ln/>
        </p:spPr>
        <p:txBody>
          <a:bodyPr wrap="square" rtlCol="0" anchor="ctr"/>
          <a:lstStyle/>
          <a:p>
            <a:pPr indent="0" marL="0">
              <a:buNone/>
            </a:pPr>
            <a:r>
              <a:rPr lang="en-US" sz="1300" b="1" dirty="0">
                <a:solidFill>
                  <a:srgbClr val="1A3A5C"/>
                </a:solidFill>
              </a:rPr>
              <a:t>Queue reclassification</a:t>
            </a:r>
            <a:endParaRPr lang="en-US" sz="1300" dirty="0"/>
          </a:p>
        </p:txBody>
      </p:sp>
      <p:sp>
        <p:nvSpPr>
          <p:cNvPr id="18" name="Text 16"/>
          <p:cNvSpPr/>
          <p:nvPr/>
        </p:nvSpPr>
        <p:spPr>
          <a:xfrm>
            <a:off x="4572000" y="3502152"/>
            <a:ext cx="6858000" cy="694944"/>
          </a:xfrm>
          <a:prstGeom prst="rect">
            <a:avLst/>
          </a:prstGeom>
          <a:noFill/>
          <a:ln/>
        </p:spPr>
        <p:txBody>
          <a:bodyPr wrap="square" rtlCol="0" anchor="ctr"/>
          <a:lstStyle/>
          <a:p>
            <a:pPr indent="0" marL="0">
              <a:buNone/>
            </a:pPr>
            <a:r>
              <a:rPr lang="en-US" sz="1100" dirty="0">
                <a:solidFill>
                  <a:srgbClr val="444444"/>
                </a:solidFill>
              </a:rPr>
              <a:t>Applied Jonathan's confirmed list — retail-partner/hotline queues treated as Texas; compliance and legacy queues excluded entirely.</a:t>
            </a:r>
            <a:endParaRPr lang="en-US" sz="1100" dirty="0"/>
          </a:p>
        </p:txBody>
      </p:sp>
      <p:sp>
        <p:nvSpPr>
          <p:cNvPr id="19" name="Shape 17"/>
          <p:cNvSpPr/>
          <p:nvPr/>
        </p:nvSpPr>
        <p:spPr>
          <a:xfrm>
            <a:off x="548640" y="4343400"/>
            <a:ext cx="11064240" cy="841248"/>
          </a:xfrm>
          <a:prstGeom prst="roundRect">
            <a:avLst>
              <a:gd name="adj" fmla="val 7609"/>
            </a:avLst>
          </a:prstGeom>
          <a:solidFill>
            <a:srgbClr val="F5F6F7"/>
          </a:solidFill>
          <a:ln w="12700">
            <a:solidFill>
              <a:srgbClr val="E3E6E9"/>
            </a:solidFill>
            <a:prstDash val="solid"/>
          </a:ln>
        </p:spPr>
      </p:sp>
      <p:sp>
        <p:nvSpPr>
          <p:cNvPr id="20" name="Shape 18"/>
          <p:cNvSpPr/>
          <p:nvPr/>
        </p:nvSpPr>
        <p:spPr>
          <a:xfrm>
            <a:off x="731520" y="4599432"/>
            <a:ext cx="329184" cy="329184"/>
          </a:xfrm>
          <a:prstGeom prst="ellipse">
            <a:avLst/>
          </a:prstGeom>
          <a:solidFill>
            <a:srgbClr val="3E8E5A"/>
          </a:solidFill>
          <a:ln/>
        </p:spPr>
      </p:sp>
      <p:sp>
        <p:nvSpPr>
          <p:cNvPr id="21" name="Text 19"/>
          <p:cNvSpPr/>
          <p:nvPr/>
        </p:nvSpPr>
        <p:spPr>
          <a:xfrm>
            <a:off x="731520" y="4599432"/>
            <a:ext cx="329184" cy="329184"/>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22" name="Text 20"/>
          <p:cNvSpPr/>
          <p:nvPr/>
        </p:nvSpPr>
        <p:spPr>
          <a:xfrm>
            <a:off x="1234440" y="4416552"/>
            <a:ext cx="3200400" cy="694944"/>
          </a:xfrm>
          <a:prstGeom prst="rect">
            <a:avLst/>
          </a:prstGeom>
          <a:noFill/>
          <a:ln/>
        </p:spPr>
        <p:txBody>
          <a:bodyPr wrap="square" rtlCol="0" anchor="ctr"/>
          <a:lstStyle/>
          <a:p>
            <a:pPr indent="0" marL="0">
              <a:buNone/>
            </a:pPr>
            <a:r>
              <a:rPr lang="en-US" sz="1300" b="1" dirty="0">
                <a:solidFill>
                  <a:srgbClr val="1A3A5C"/>
                </a:solidFill>
              </a:rPr>
              <a:t>Full history covered</a:t>
            </a:r>
            <a:endParaRPr lang="en-US" sz="1300" dirty="0"/>
          </a:p>
        </p:txBody>
      </p:sp>
      <p:sp>
        <p:nvSpPr>
          <p:cNvPr id="23" name="Text 21"/>
          <p:cNvSpPr/>
          <p:nvPr/>
        </p:nvSpPr>
        <p:spPr>
          <a:xfrm>
            <a:off x="4572000" y="4416552"/>
            <a:ext cx="6858000" cy="694944"/>
          </a:xfrm>
          <a:prstGeom prst="rect">
            <a:avLst/>
          </a:prstGeom>
          <a:noFill/>
          <a:ln/>
        </p:spPr>
        <p:txBody>
          <a:bodyPr wrap="square" rtlCol="0" anchor="ctr"/>
          <a:lstStyle/>
          <a:p>
            <a:pPr indent="0" marL="0">
              <a:buNone/>
            </a:pPr>
            <a:r>
              <a:rPr lang="en-US" sz="1100" dirty="0">
                <a:solidFill>
                  <a:srgbClr val="444444"/>
                </a:solidFill>
              </a:rPr>
              <a:t>One row per day from July 2022 through today — not just a sample window.</a:t>
            </a:r>
            <a:endParaRPr lang="en-US" sz="1100" dirty="0"/>
          </a:p>
        </p:txBody>
      </p:sp>
      <p:sp>
        <p:nvSpPr>
          <p:cNvPr id="24" name="Shape 22"/>
          <p:cNvSpPr/>
          <p:nvPr/>
        </p:nvSpPr>
        <p:spPr>
          <a:xfrm>
            <a:off x="548640" y="5257800"/>
            <a:ext cx="11064240" cy="841248"/>
          </a:xfrm>
          <a:prstGeom prst="roundRect">
            <a:avLst>
              <a:gd name="adj" fmla="val 7609"/>
            </a:avLst>
          </a:prstGeom>
          <a:solidFill>
            <a:srgbClr val="F5F6F7"/>
          </a:solidFill>
          <a:ln w="12700">
            <a:solidFill>
              <a:srgbClr val="E3E6E9"/>
            </a:solidFill>
            <a:prstDash val="solid"/>
          </a:ln>
        </p:spPr>
      </p:sp>
      <p:sp>
        <p:nvSpPr>
          <p:cNvPr id="25" name="Shape 23"/>
          <p:cNvSpPr/>
          <p:nvPr/>
        </p:nvSpPr>
        <p:spPr>
          <a:xfrm>
            <a:off x="731520" y="5513832"/>
            <a:ext cx="329184" cy="329184"/>
          </a:xfrm>
          <a:prstGeom prst="ellipse">
            <a:avLst/>
          </a:prstGeom>
          <a:solidFill>
            <a:srgbClr val="3E8E5A"/>
          </a:solidFill>
          <a:ln/>
        </p:spPr>
      </p:sp>
      <p:sp>
        <p:nvSpPr>
          <p:cNvPr id="26" name="Text 24"/>
          <p:cNvSpPr/>
          <p:nvPr/>
        </p:nvSpPr>
        <p:spPr>
          <a:xfrm>
            <a:off x="731520" y="5513832"/>
            <a:ext cx="329184" cy="329184"/>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27" name="Text 25"/>
          <p:cNvSpPr/>
          <p:nvPr/>
        </p:nvSpPr>
        <p:spPr>
          <a:xfrm>
            <a:off x="1234440" y="5330952"/>
            <a:ext cx="3200400" cy="694944"/>
          </a:xfrm>
          <a:prstGeom prst="rect">
            <a:avLst/>
          </a:prstGeom>
          <a:noFill/>
          <a:ln/>
        </p:spPr>
        <p:txBody>
          <a:bodyPr wrap="square" rtlCol="0" anchor="ctr"/>
          <a:lstStyle/>
          <a:p>
            <a:pPr indent="0" marL="0">
              <a:buNone/>
            </a:pPr>
            <a:r>
              <a:rPr lang="en-US" sz="1300" b="1" dirty="0">
                <a:solidFill>
                  <a:srgbClr val="1A3A5C"/>
                </a:solidFill>
              </a:rPr>
              <a:t>Validated across four years</a:t>
            </a:r>
            <a:endParaRPr lang="en-US" sz="1300" dirty="0"/>
          </a:p>
        </p:txBody>
      </p:sp>
      <p:sp>
        <p:nvSpPr>
          <p:cNvPr id="28" name="Text 26"/>
          <p:cNvSpPr/>
          <p:nvPr/>
        </p:nvSpPr>
        <p:spPr>
          <a:xfrm>
            <a:off x="4572000" y="5330952"/>
            <a:ext cx="6858000" cy="694944"/>
          </a:xfrm>
          <a:prstGeom prst="rect">
            <a:avLst/>
          </a:prstGeom>
          <a:noFill/>
          <a:ln/>
        </p:spPr>
        <p:txBody>
          <a:bodyPr wrap="square" rtlCol="0" anchor="ctr"/>
          <a:lstStyle/>
          <a:p>
            <a:pPr indent="0" marL="0">
              <a:buNone/>
            </a:pPr>
            <a:r>
              <a:rPr lang="en-US" sz="1100" dirty="0">
                <a:solidFill>
                  <a:srgbClr val="444444"/>
                </a:solidFill>
              </a:rPr>
              <a:t>Spot-checked from 2023 through July 2026, not just the original test window.</a:t>
            </a:r>
            <a:endParaRPr lang="en-US" sz="1100" dirty="0"/>
          </a:p>
        </p:txBody>
      </p:sp>
      <p:sp>
        <p:nvSpPr>
          <p:cNvPr id="29" name="Text 27"/>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30" name="Text 28"/>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FINDINGS</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Past-Due Filter &amp; Containment Rate</a:t>
            </a:r>
            <a:endParaRPr lang="en-US" sz="2700" dirty="0"/>
          </a:p>
        </p:txBody>
      </p:sp>
      <p:sp>
        <p:nvSpPr>
          <p:cNvPr id="4" name="Shape 2"/>
          <p:cNvSpPr/>
          <p:nvPr/>
        </p:nvSpPr>
        <p:spPr>
          <a:xfrm>
            <a:off x="548640" y="1463040"/>
            <a:ext cx="11064240" cy="2286000"/>
          </a:xfrm>
          <a:prstGeom prst="roundRect">
            <a:avLst>
              <a:gd name="adj" fmla="val 3200"/>
            </a:avLst>
          </a:prstGeom>
          <a:solidFill>
            <a:srgbClr val="F5F6F7"/>
          </a:solidFill>
          <a:ln w="12700">
            <a:solidFill>
              <a:srgbClr val="E3E6E9"/>
            </a:solidFill>
            <a:prstDash val="solid"/>
          </a:ln>
        </p:spPr>
      </p:sp>
      <p:sp>
        <p:nvSpPr>
          <p:cNvPr id="5" name="Text 3"/>
          <p:cNvSpPr/>
          <p:nvPr/>
        </p:nvSpPr>
        <p:spPr>
          <a:xfrm>
            <a:off x="822960" y="1600200"/>
            <a:ext cx="10515600" cy="320040"/>
          </a:xfrm>
          <a:prstGeom prst="rect">
            <a:avLst/>
          </a:prstGeom>
          <a:noFill/>
          <a:ln/>
        </p:spPr>
        <p:txBody>
          <a:bodyPr wrap="square" rtlCol="0" anchor="ctr"/>
          <a:lstStyle/>
          <a:p>
            <a:pPr indent="0" marL="0">
              <a:buNone/>
            </a:pPr>
            <a:r>
              <a:rPr lang="en-US" sz="1500" b="1" dirty="0">
                <a:solidFill>
                  <a:srgbClr val="1A3A5C"/>
                </a:solidFill>
              </a:rPr>
              <a:t>Past-due active-status filter</a:t>
            </a:r>
            <a:endParaRPr lang="en-US" sz="1500" dirty="0"/>
          </a:p>
        </p:txBody>
      </p:sp>
      <p:sp>
        <p:nvSpPr>
          <p:cNvPr id="6" name="Text 4"/>
          <p:cNvSpPr/>
          <p:nvPr/>
        </p:nvSpPr>
        <p:spPr>
          <a:xfrm>
            <a:off x="822960" y="1965960"/>
            <a:ext cx="10515600" cy="914400"/>
          </a:xfrm>
          <a:prstGeom prst="rect">
            <a:avLst/>
          </a:prstGeom>
          <a:noFill/>
          <a:ln/>
        </p:spPr>
        <p:txBody>
          <a:bodyPr wrap="square" rtlCol="0" anchor="ctr"/>
          <a:lstStyle/>
          <a:p>
            <a:pPr indent="0" marL="0">
              <a:buNone/>
            </a:pPr>
            <a:r>
              <a:rPr lang="en-US" sz="1150" dirty="0">
                <a:solidFill>
                  <a:srgbClr val="444444"/>
                </a:solidFill>
              </a:rPr>
              <a:t>The active-status filter consistently removes 33–38% of past-due records every single day tested. Those records were inactive, pre-flow, or non-Texas-residential accounts inflating the original count — not real past-due exposure. This held true across every day checked in July 2022 and remains consistent through 2026.</a:t>
            </a:r>
            <a:endParaRPr lang="en-US" sz="1150" dirty="0"/>
          </a:p>
        </p:txBody>
      </p:sp>
      <p:sp>
        <p:nvSpPr>
          <p:cNvPr id="7" name="Text 5"/>
          <p:cNvSpPr/>
          <p:nvPr/>
        </p:nvSpPr>
        <p:spPr>
          <a:xfrm>
            <a:off x="822960" y="2926080"/>
            <a:ext cx="10515600" cy="548640"/>
          </a:xfrm>
          <a:prstGeom prst="rect">
            <a:avLst/>
          </a:prstGeom>
          <a:noFill/>
          <a:ln/>
        </p:spPr>
        <p:txBody>
          <a:bodyPr wrap="square" rtlCol="0" anchor="ctr"/>
          <a:lstStyle/>
          <a:p>
            <a:pPr indent="0" marL="0">
              <a:buNone/>
            </a:pPr>
            <a:r>
              <a:rPr lang="en-US" sz="1100" i="1" dirty="0">
                <a:solidFill>
                  <a:srgbClr val="2C5F8A"/>
                </a:solidFill>
              </a:rPr>
              <a:t>Talking point: roughly a third of past-due records in the original dataset were overstating real risk.</a:t>
            </a:r>
            <a:endParaRPr lang="en-US" sz="1100" dirty="0"/>
          </a:p>
        </p:txBody>
      </p:sp>
      <p:sp>
        <p:nvSpPr>
          <p:cNvPr id="8" name="Shape 6"/>
          <p:cNvSpPr/>
          <p:nvPr/>
        </p:nvSpPr>
        <p:spPr>
          <a:xfrm>
            <a:off x="548640" y="3931920"/>
            <a:ext cx="11064240" cy="2286000"/>
          </a:xfrm>
          <a:prstGeom prst="roundRect">
            <a:avLst>
              <a:gd name="adj" fmla="val 3200"/>
            </a:avLst>
          </a:prstGeom>
          <a:solidFill>
            <a:srgbClr val="F5F6F7"/>
          </a:solidFill>
          <a:ln w="12700">
            <a:solidFill>
              <a:srgbClr val="E3E6E9"/>
            </a:solidFill>
            <a:prstDash val="solid"/>
          </a:ln>
        </p:spPr>
      </p:sp>
      <p:sp>
        <p:nvSpPr>
          <p:cNvPr id="9" name="Text 7"/>
          <p:cNvSpPr/>
          <p:nvPr/>
        </p:nvSpPr>
        <p:spPr>
          <a:xfrm>
            <a:off x="822960" y="4069080"/>
            <a:ext cx="10515600" cy="320040"/>
          </a:xfrm>
          <a:prstGeom prst="rect">
            <a:avLst/>
          </a:prstGeom>
          <a:noFill/>
          <a:ln/>
        </p:spPr>
        <p:txBody>
          <a:bodyPr wrap="square" rtlCol="0" anchor="ctr"/>
          <a:lstStyle/>
          <a:p>
            <a:pPr indent="0" marL="0">
              <a:buNone/>
            </a:pPr>
            <a:r>
              <a:rPr lang="en-US" sz="1500" b="1" dirty="0">
                <a:solidFill>
                  <a:srgbClr val="1A3A5C"/>
                </a:solidFill>
              </a:rPr>
              <a:t>Containment rate</a:t>
            </a:r>
            <a:endParaRPr lang="en-US" sz="1500" dirty="0"/>
          </a:p>
        </p:txBody>
      </p:sp>
      <p:sp>
        <p:nvSpPr>
          <p:cNvPr id="10" name="Text 8"/>
          <p:cNvSpPr/>
          <p:nvPr/>
        </p:nvSpPr>
        <p:spPr>
          <a:xfrm>
            <a:off x="822960" y="4434840"/>
            <a:ext cx="10515600" cy="914400"/>
          </a:xfrm>
          <a:prstGeom prst="rect">
            <a:avLst/>
          </a:prstGeom>
          <a:noFill/>
          <a:ln/>
        </p:spPr>
        <p:txBody>
          <a:bodyPr wrap="square" rtlCol="0" anchor="ctr"/>
          <a:lstStyle/>
          <a:p>
            <a:pPr indent="0" marL="0">
              <a:buNone/>
            </a:pPr>
            <a:r>
              <a:rPr lang="en-US" sz="1150" dirty="0">
                <a:solidFill>
                  <a:srgbClr val="444444"/>
                </a:solidFill>
              </a:rPr>
              <a:t>Rebuilt using the real definition: verified calls with zero queue time, divided by all verified-or-queued inbound calls. Sundays consistently show 100% containment — a strong sanity check, since no live agents are staffed that day. This pattern holds not just in the original test month but across every year from 2022 through 2026.</a:t>
            </a:r>
            <a:endParaRPr lang="en-US" sz="1150" dirty="0"/>
          </a:p>
        </p:txBody>
      </p:sp>
      <p:sp>
        <p:nvSpPr>
          <p:cNvPr id="11" name="Text 9"/>
          <p:cNvSpPr/>
          <p:nvPr/>
        </p:nvSpPr>
        <p:spPr>
          <a:xfrm>
            <a:off x="822960" y="5394960"/>
            <a:ext cx="10515600" cy="548640"/>
          </a:xfrm>
          <a:prstGeom prst="rect">
            <a:avLst/>
          </a:prstGeom>
          <a:noFill/>
          <a:ln/>
        </p:spPr>
        <p:txBody>
          <a:bodyPr wrap="square" rtlCol="0" anchor="ctr"/>
          <a:lstStyle/>
          <a:p>
            <a:pPr indent="0" marL="0">
              <a:buNone/>
            </a:pPr>
            <a:r>
              <a:rPr lang="en-US" sz="1100" i="1" dirty="0">
                <a:solidFill>
                  <a:srgbClr val="2C5F8A"/>
                </a:solidFill>
              </a:rPr>
              <a:t>Talking point: containment rate now reflects reality, not an inflated or misdefined number.</a:t>
            </a:r>
            <a:endParaRPr lang="en-US" sz="1100" dirty="0"/>
          </a:p>
        </p:txBody>
      </p:sp>
      <p:sp>
        <p:nvSpPr>
          <p:cNvPr id="12" name="Text 10"/>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13" name="Text 11"/>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DATA DISCOVERY</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Alberta Queue Data Has a Timeline Gap</a:t>
            </a:r>
            <a:endParaRPr lang="en-US" sz="2700" dirty="0"/>
          </a:p>
        </p:txBody>
      </p:sp>
      <p:sp>
        <p:nvSpPr>
          <p:cNvPr id="4" name="Shape 2"/>
          <p:cNvSpPr/>
          <p:nvPr/>
        </p:nvSpPr>
        <p:spPr>
          <a:xfrm>
            <a:off x="914400" y="2103120"/>
            <a:ext cx="9875520" cy="0"/>
          </a:xfrm>
          <a:prstGeom prst="line">
            <a:avLst/>
          </a:prstGeom>
          <a:noFill/>
          <a:ln w="38100">
            <a:solidFill>
              <a:srgbClr val="D0D5D9"/>
            </a:solidFill>
            <a:prstDash val="solid"/>
          </a:ln>
        </p:spPr>
      </p:sp>
      <p:sp>
        <p:nvSpPr>
          <p:cNvPr id="5" name="Shape 3"/>
          <p:cNvSpPr/>
          <p:nvPr/>
        </p:nvSpPr>
        <p:spPr>
          <a:xfrm>
            <a:off x="832104" y="2020824"/>
            <a:ext cx="164592" cy="164592"/>
          </a:xfrm>
          <a:prstGeom prst="ellipse">
            <a:avLst/>
          </a:prstGeom>
          <a:solidFill>
            <a:srgbClr val="B0B7BD"/>
          </a:solidFill>
          <a:ln/>
        </p:spPr>
      </p:sp>
      <p:sp>
        <p:nvSpPr>
          <p:cNvPr id="6" name="Text 4"/>
          <p:cNvSpPr/>
          <p:nvPr/>
        </p:nvSpPr>
        <p:spPr>
          <a:xfrm>
            <a:off x="91440" y="2240280"/>
            <a:ext cx="1645920" cy="274320"/>
          </a:xfrm>
          <a:prstGeom prst="rect">
            <a:avLst/>
          </a:prstGeom>
          <a:noFill/>
          <a:ln/>
        </p:spPr>
        <p:txBody>
          <a:bodyPr wrap="square" rtlCol="0" anchor="ctr"/>
          <a:lstStyle/>
          <a:p>
            <a:pPr algn="ctr" indent="0" marL="0">
              <a:buNone/>
            </a:pPr>
            <a:r>
              <a:rPr lang="en-US" sz="1200" b="1" dirty="0">
                <a:solidFill>
                  <a:srgbClr val="1A3A5C"/>
                </a:solidFill>
              </a:rPr>
              <a:t>Jul 2022</a:t>
            </a:r>
            <a:endParaRPr lang="en-US" sz="1200" dirty="0"/>
          </a:p>
        </p:txBody>
      </p:sp>
      <p:sp>
        <p:nvSpPr>
          <p:cNvPr id="7" name="Text 5"/>
          <p:cNvSpPr/>
          <p:nvPr/>
        </p:nvSpPr>
        <p:spPr>
          <a:xfrm>
            <a:off x="91440" y="2542032"/>
            <a:ext cx="1645920" cy="548640"/>
          </a:xfrm>
          <a:prstGeom prst="rect">
            <a:avLst/>
          </a:prstGeom>
          <a:noFill/>
          <a:ln/>
        </p:spPr>
        <p:txBody>
          <a:bodyPr wrap="square" rtlCol="0" anchor="ctr"/>
          <a:lstStyle/>
          <a:p>
            <a:pPr algn="ctr" indent="0" marL="0">
              <a:buNone/>
            </a:pPr>
            <a:r>
              <a:rPr lang="en-US" sz="1000" dirty="0">
                <a:solidFill>
                  <a:srgbClr val="444444"/>
                </a:solidFill>
              </a:rPr>
              <a:t>Dataset starts</a:t>
            </a:r>
            <a:endParaRPr lang="en-US" sz="1000" dirty="0"/>
          </a:p>
        </p:txBody>
      </p:sp>
      <p:sp>
        <p:nvSpPr>
          <p:cNvPr id="8" name="Shape 6"/>
          <p:cNvSpPr/>
          <p:nvPr/>
        </p:nvSpPr>
        <p:spPr>
          <a:xfrm>
            <a:off x="5769864" y="2020824"/>
            <a:ext cx="164592" cy="164592"/>
          </a:xfrm>
          <a:prstGeom prst="ellipse">
            <a:avLst/>
          </a:prstGeom>
          <a:solidFill>
            <a:srgbClr val="3D8B8B"/>
          </a:solidFill>
          <a:ln/>
        </p:spPr>
      </p:sp>
      <p:sp>
        <p:nvSpPr>
          <p:cNvPr id="9" name="Text 7"/>
          <p:cNvSpPr/>
          <p:nvPr/>
        </p:nvSpPr>
        <p:spPr>
          <a:xfrm>
            <a:off x="5029200" y="2240280"/>
            <a:ext cx="1645920" cy="274320"/>
          </a:xfrm>
          <a:prstGeom prst="rect">
            <a:avLst/>
          </a:prstGeom>
          <a:noFill/>
          <a:ln/>
        </p:spPr>
        <p:txBody>
          <a:bodyPr wrap="square" rtlCol="0" anchor="ctr"/>
          <a:lstStyle/>
          <a:p>
            <a:pPr algn="ctr" indent="0" marL="0">
              <a:buNone/>
            </a:pPr>
            <a:r>
              <a:rPr lang="en-US" sz="1200" b="1" dirty="0">
                <a:solidFill>
                  <a:srgbClr val="1A3A5C"/>
                </a:solidFill>
              </a:rPr>
              <a:t>Mar 20, 2024</a:t>
            </a:r>
            <a:endParaRPr lang="en-US" sz="1200" dirty="0"/>
          </a:p>
        </p:txBody>
      </p:sp>
      <p:sp>
        <p:nvSpPr>
          <p:cNvPr id="10" name="Text 8"/>
          <p:cNvSpPr/>
          <p:nvPr/>
        </p:nvSpPr>
        <p:spPr>
          <a:xfrm>
            <a:off x="5029200" y="2542032"/>
            <a:ext cx="1645920" cy="548640"/>
          </a:xfrm>
          <a:prstGeom prst="rect">
            <a:avLst/>
          </a:prstGeom>
          <a:noFill/>
          <a:ln/>
        </p:spPr>
        <p:txBody>
          <a:bodyPr wrap="square" rtlCol="0" anchor="ctr"/>
          <a:lstStyle/>
          <a:p>
            <a:pPr algn="ctr" indent="0" marL="0">
              <a:buNone/>
            </a:pPr>
            <a:r>
              <a:rPr lang="en-US" sz="1000" dirty="0">
                <a:solidFill>
                  <a:srgbClr val="444444"/>
                </a:solidFill>
              </a:rPr>
              <a:t>Alberta queues</a:t>
            </a:r>
            <a:endParaRPr lang="en-US" sz="1000" dirty="0"/>
          </a:p>
          <a:p>
            <a:pPr algn="ctr" indent="0" marL="0">
              <a:buNone/>
            </a:pPr>
            <a:r>
              <a:rPr lang="en-US" sz="1000" dirty="0">
                <a:solidFill>
                  <a:srgbClr val="444444"/>
                </a:solidFill>
              </a:rPr>
              <a:t>go live</a:t>
            </a:r>
            <a:endParaRPr lang="en-US" sz="1000" dirty="0"/>
          </a:p>
        </p:txBody>
      </p:sp>
      <p:sp>
        <p:nvSpPr>
          <p:cNvPr id="11" name="Shape 9"/>
          <p:cNvSpPr/>
          <p:nvPr/>
        </p:nvSpPr>
        <p:spPr>
          <a:xfrm>
            <a:off x="10707624" y="2020824"/>
            <a:ext cx="164592" cy="164592"/>
          </a:xfrm>
          <a:prstGeom prst="ellipse">
            <a:avLst/>
          </a:prstGeom>
          <a:solidFill>
            <a:srgbClr val="1A3A5C"/>
          </a:solidFill>
          <a:ln/>
        </p:spPr>
      </p:sp>
      <p:sp>
        <p:nvSpPr>
          <p:cNvPr id="12" name="Text 10"/>
          <p:cNvSpPr/>
          <p:nvPr/>
        </p:nvSpPr>
        <p:spPr>
          <a:xfrm>
            <a:off x="9966960" y="2240280"/>
            <a:ext cx="1645920" cy="274320"/>
          </a:xfrm>
          <a:prstGeom prst="rect">
            <a:avLst/>
          </a:prstGeom>
          <a:noFill/>
          <a:ln/>
        </p:spPr>
        <p:txBody>
          <a:bodyPr wrap="square" rtlCol="0" anchor="ctr"/>
          <a:lstStyle/>
          <a:p>
            <a:pPr algn="ctr" indent="0" marL="0">
              <a:buNone/>
            </a:pPr>
            <a:r>
              <a:rPr lang="en-US" sz="1200" b="1" dirty="0">
                <a:solidFill>
                  <a:srgbClr val="1A3A5C"/>
                </a:solidFill>
              </a:rPr>
              <a:t>Jul 2026</a:t>
            </a:r>
            <a:endParaRPr lang="en-US" sz="1200" dirty="0"/>
          </a:p>
        </p:txBody>
      </p:sp>
      <p:sp>
        <p:nvSpPr>
          <p:cNvPr id="13" name="Text 11"/>
          <p:cNvSpPr/>
          <p:nvPr/>
        </p:nvSpPr>
        <p:spPr>
          <a:xfrm>
            <a:off x="9966960" y="2542032"/>
            <a:ext cx="1645920" cy="548640"/>
          </a:xfrm>
          <a:prstGeom prst="rect">
            <a:avLst/>
          </a:prstGeom>
          <a:noFill/>
          <a:ln/>
        </p:spPr>
        <p:txBody>
          <a:bodyPr wrap="square" rtlCol="0" anchor="ctr"/>
          <a:lstStyle/>
          <a:p>
            <a:pPr algn="ctr" indent="0" marL="0">
              <a:buNone/>
            </a:pPr>
            <a:r>
              <a:rPr lang="en-US" sz="1000" dirty="0">
                <a:solidFill>
                  <a:srgbClr val="444444"/>
                </a:solidFill>
              </a:rPr>
              <a:t>Present</a:t>
            </a:r>
            <a:endParaRPr lang="en-US" sz="1000" dirty="0"/>
          </a:p>
        </p:txBody>
      </p:sp>
      <p:sp>
        <p:nvSpPr>
          <p:cNvPr id="14" name="Shape 12"/>
          <p:cNvSpPr/>
          <p:nvPr/>
        </p:nvSpPr>
        <p:spPr>
          <a:xfrm>
            <a:off x="914400" y="1600200"/>
            <a:ext cx="4937760" cy="365760"/>
          </a:xfrm>
          <a:prstGeom prst="roundRect">
            <a:avLst>
              <a:gd name="adj" fmla="val 10000"/>
            </a:avLst>
          </a:prstGeom>
          <a:solidFill>
            <a:srgbClr val="F0DDC7"/>
          </a:solidFill>
          <a:ln/>
        </p:spPr>
      </p:sp>
      <p:sp>
        <p:nvSpPr>
          <p:cNvPr id="15" name="Text 13"/>
          <p:cNvSpPr/>
          <p:nvPr/>
        </p:nvSpPr>
        <p:spPr>
          <a:xfrm>
            <a:off x="914400" y="1618488"/>
            <a:ext cx="4937760" cy="329184"/>
          </a:xfrm>
          <a:prstGeom prst="rect">
            <a:avLst/>
          </a:prstGeom>
          <a:noFill/>
          <a:ln/>
        </p:spPr>
        <p:txBody>
          <a:bodyPr wrap="square" rtlCol="0" anchor="ctr"/>
          <a:lstStyle/>
          <a:p>
            <a:pPr algn="ctr" indent="0" marL="0">
              <a:buNone/>
            </a:pPr>
            <a:r>
              <a:rPr lang="en-US" sz="1000" b="1" dirty="0">
                <a:solidFill>
                  <a:srgbClr val="B8860B"/>
                </a:solidFill>
              </a:rPr>
              <a:t>No Alberta queue activity in this window</a:t>
            </a:r>
            <a:endParaRPr lang="en-US" sz="1000" dirty="0"/>
          </a:p>
        </p:txBody>
      </p:sp>
      <p:sp>
        <p:nvSpPr>
          <p:cNvPr id="16" name="Shape 14"/>
          <p:cNvSpPr/>
          <p:nvPr/>
        </p:nvSpPr>
        <p:spPr>
          <a:xfrm>
            <a:off x="548640" y="3291840"/>
            <a:ext cx="10881360" cy="1463040"/>
          </a:xfrm>
          <a:prstGeom prst="roundRect">
            <a:avLst>
              <a:gd name="adj" fmla="val 5000"/>
            </a:avLst>
          </a:prstGeom>
          <a:solidFill>
            <a:srgbClr val="F5F6F7"/>
          </a:solidFill>
          <a:ln w="12700">
            <a:solidFill>
              <a:srgbClr val="E3E6E9"/>
            </a:solidFill>
            <a:prstDash val="solid"/>
          </a:ln>
        </p:spPr>
      </p:sp>
      <p:sp>
        <p:nvSpPr>
          <p:cNvPr id="17" name="Text 15"/>
          <p:cNvSpPr/>
          <p:nvPr/>
        </p:nvSpPr>
        <p:spPr>
          <a:xfrm>
            <a:off x="822960" y="3429000"/>
            <a:ext cx="10332720" cy="320040"/>
          </a:xfrm>
          <a:prstGeom prst="rect">
            <a:avLst/>
          </a:prstGeom>
          <a:noFill/>
          <a:ln/>
        </p:spPr>
        <p:txBody>
          <a:bodyPr wrap="square" rtlCol="0" anchor="ctr"/>
          <a:lstStyle/>
          <a:p>
            <a:pPr indent="0" marL="0">
              <a:buNone/>
            </a:pPr>
            <a:r>
              <a:rPr lang="en-US" sz="1400" b="1" dirty="0">
                <a:solidFill>
                  <a:srgbClr val="1A3A5C"/>
                </a:solidFill>
              </a:rPr>
              <a:t>What we found</a:t>
            </a:r>
            <a:endParaRPr lang="en-US" sz="1400" dirty="0"/>
          </a:p>
        </p:txBody>
      </p:sp>
      <p:sp>
        <p:nvSpPr>
          <p:cNvPr id="18" name="Text 16"/>
          <p:cNvSpPr/>
          <p:nvPr/>
        </p:nvSpPr>
        <p:spPr>
          <a:xfrm>
            <a:off x="822960" y="3749040"/>
            <a:ext cx="10332720" cy="914400"/>
          </a:xfrm>
          <a:prstGeom prst="rect">
            <a:avLst/>
          </a:prstGeom>
          <a:noFill/>
          <a:ln/>
        </p:spPr>
        <p:txBody>
          <a:bodyPr wrap="square" rtlCol="0" anchor="ctr"/>
          <a:lstStyle/>
          <a:p>
            <a:pPr indent="0" marL="0">
              <a:buNone/>
            </a:pPr>
            <a:r>
              <a:rPr lang="en-US" sz="1150" dirty="0">
                <a:solidFill>
                  <a:srgbClr val="444444"/>
                </a:solidFill>
              </a:rPr>
              <a:t>Alberta queue data doesn't exist in the system until March 20, 2024. Before that, Alberta shows zero calls not because there was no Alberta volume, but because the data simply wasn't captured yet under distinct queue names. Prior to March 2024, Care handled North markets (including US North) together, with different queue naming.</a:t>
            </a:r>
            <a:endParaRPr lang="en-US" sz="1150" dirty="0"/>
          </a:p>
        </p:txBody>
      </p:sp>
      <p:sp>
        <p:nvSpPr>
          <p:cNvPr id="19" name="Shape 17"/>
          <p:cNvSpPr/>
          <p:nvPr/>
        </p:nvSpPr>
        <p:spPr>
          <a:xfrm>
            <a:off x="548640" y="4937760"/>
            <a:ext cx="10881360" cy="1280160"/>
          </a:xfrm>
          <a:prstGeom prst="roundRect">
            <a:avLst>
              <a:gd name="adj" fmla="val 5714"/>
            </a:avLst>
          </a:prstGeom>
          <a:solidFill>
            <a:srgbClr val="EAF2EC"/>
          </a:solidFill>
          <a:ln/>
        </p:spPr>
      </p:sp>
      <p:sp>
        <p:nvSpPr>
          <p:cNvPr id="20" name="Text 18"/>
          <p:cNvSpPr/>
          <p:nvPr/>
        </p:nvSpPr>
        <p:spPr>
          <a:xfrm>
            <a:off x="822960" y="5029200"/>
            <a:ext cx="10332720" cy="1097280"/>
          </a:xfrm>
          <a:prstGeom prst="rect">
            <a:avLst/>
          </a:prstGeom>
          <a:noFill/>
          <a:ln/>
        </p:spPr>
        <p:txBody>
          <a:bodyPr wrap="square" rtlCol="0" anchor="ctr"/>
          <a:lstStyle/>
          <a:p>
            <a:pPr indent="0" marL="0">
              <a:buNone/>
            </a:pPr>
            <a:r>
              <a:rPr lang="en-US" sz="1150" b="1" dirty="0">
                <a:solidFill>
                  <a:srgbClr val="3E8E5A"/>
                </a:solidFill>
              </a:rPr>
              <a:t>Resolution: an explicit AlbertaDataAvailability flag was added so this gap is never mistaken for a real zero-volume signal. Jonathan confirmed Alberta volume is low enough that no backfill is needed — isolating to Texas queues is sufficient.</a:t>
            </a:r>
            <a:endParaRPr lang="en-US" sz="1150" dirty="0"/>
          </a:p>
        </p:txBody>
      </p:sp>
      <p:sp>
        <p:nvSpPr>
          <p:cNvPr id="21" name="Text 19"/>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22" name="Text 20"/>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FINDINGS</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Transfer Combining &amp; Language Reliability</a:t>
            </a:r>
            <a:endParaRPr lang="en-US" sz="2700" dirty="0"/>
          </a:p>
        </p:txBody>
      </p:sp>
      <p:sp>
        <p:nvSpPr>
          <p:cNvPr id="4" name="Shape 2"/>
          <p:cNvSpPr/>
          <p:nvPr/>
        </p:nvSpPr>
        <p:spPr>
          <a:xfrm>
            <a:off x="548640" y="1463040"/>
            <a:ext cx="11064240" cy="1920240"/>
          </a:xfrm>
          <a:prstGeom prst="roundRect">
            <a:avLst>
              <a:gd name="adj" fmla="val 3810"/>
            </a:avLst>
          </a:prstGeom>
          <a:solidFill>
            <a:srgbClr val="F5F6F7"/>
          </a:solidFill>
          <a:ln w="12700">
            <a:solidFill>
              <a:srgbClr val="E3E6E9"/>
            </a:solidFill>
            <a:prstDash val="solid"/>
          </a:ln>
        </p:spPr>
      </p:sp>
      <p:sp>
        <p:nvSpPr>
          <p:cNvPr id="5" name="Text 3"/>
          <p:cNvSpPr/>
          <p:nvPr/>
        </p:nvSpPr>
        <p:spPr>
          <a:xfrm>
            <a:off x="822960" y="1600200"/>
            <a:ext cx="10515600" cy="320040"/>
          </a:xfrm>
          <a:prstGeom prst="rect">
            <a:avLst/>
          </a:prstGeom>
          <a:noFill/>
          <a:ln/>
        </p:spPr>
        <p:txBody>
          <a:bodyPr wrap="square" rtlCol="0" anchor="ctr"/>
          <a:lstStyle/>
          <a:p>
            <a:pPr indent="0" marL="0">
              <a:buNone/>
            </a:pPr>
            <a:r>
              <a:rPr lang="en-US" sz="1500" b="1" dirty="0">
                <a:solidFill>
                  <a:srgbClr val="1A3A5C"/>
                </a:solidFill>
              </a:rPr>
              <a:t>Transfer combining</a:t>
            </a:r>
            <a:endParaRPr lang="en-US" sz="1500" dirty="0"/>
          </a:p>
        </p:txBody>
      </p:sp>
      <p:sp>
        <p:nvSpPr>
          <p:cNvPr id="6" name="Text 4"/>
          <p:cNvSpPr/>
          <p:nvPr/>
        </p:nvSpPr>
        <p:spPr>
          <a:xfrm>
            <a:off x="822960" y="1965960"/>
            <a:ext cx="10515600" cy="914400"/>
          </a:xfrm>
          <a:prstGeom prst="rect">
            <a:avLst/>
          </a:prstGeom>
          <a:noFill/>
          <a:ln/>
        </p:spPr>
        <p:txBody>
          <a:bodyPr wrap="square" rtlCol="0" anchor="ctr"/>
          <a:lstStyle/>
          <a:p>
            <a:pPr indent="0" marL="0">
              <a:buNone/>
            </a:pPr>
            <a:r>
              <a:rPr lang="en-US" sz="1150" dirty="0">
                <a:solidFill>
                  <a:srgbClr val="444444"/>
                </a:solidFill>
              </a:rPr>
              <a:t>Regular and escalation-queue transfers are now combined without double-counting. The combined total is consistently lower than the two counted separately and summed — confirming calls transferred through both paths aren't counted twice. Sundays correctly show zero transfers, consistent with no live agents that day.</a:t>
            </a:r>
            <a:endParaRPr lang="en-US" sz="1150" dirty="0"/>
          </a:p>
        </p:txBody>
      </p:sp>
      <p:sp>
        <p:nvSpPr>
          <p:cNvPr id="7" name="Shape 5"/>
          <p:cNvSpPr/>
          <p:nvPr/>
        </p:nvSpPr>
        <p:spPr>
          <a:xfrm>
            <a:off x="548640" y="3566160"/>
            <a:ext cx="11064240" cy="2651760"/>
          </a:xfrm>
          <a:prstGeom prst="roundRect">
            <a:avLst>
              <a:gd name="adj" fmla="val 2759"/>
            </a:avLst>
          </a:prstGeom>
          <a:solidFill>
            <a:srgbClr val="F5F6F7"/>
          </a:solidFill>
          <a:ln w="12700">
            <a:solidFill>
              <a:srgbClr val="E3E6E9"/>
            </a:solidFill>
            <a:prstDash val="solid"/>
          </a:ln>
        </p:spPr>
      </p:sp>
      <p:sp>
        <p:nvSpPr>
          <p:cNvPr id="8" name="Text 6"/>
          <p:cNvSpPr/>
          <p:nvPr/>
        </p:nvSpPr>
        <p:spPr>
          <a:xfrm>
            <a:off x="822960" y="3703320"/>
            <a:ext cx="10515600" cy="320040"/>
          </a:xfrm>
          <a:prstGeom prst="rect">
            <a:avLst/>
          </a:prstGeom>
          <a:noFill/>
          <a:ln/>
        </p:spPr>
        <p:txBody>
          <a:bodyPr wrap="square" rtlCol="0" anchor="ctr"/>
          <a:lstStyle/>
          <a:p>
            <a:pPr indent="0" marL="0">
              <a:buNone/>
            </a:pPr>
            <a:r>
              <a:rPr lang="en-US" sz="1500" b="1" dirty="0">
                <a:solidFill>
                  <a:srgbClr val="1A3A5C"/>
                </a:solidFill>
              </a:rPr>
              <a:t>Language field reliability</a:t>
            </a:r>
            <a:endParaRPr lang="en-US" sz="1500" dirty="0"/>
          </a:p>
        </p:txBody>
      </p:sp>
      <p:sp>
        <p:nvSpPr>
          <p:cNvPr id="9" name="Text 7"/>
          <p:cNvSpPr/>
          <p:nvPr/>
        </p:nvSpPr>
        <p:spPr>
          <a:xfrm>
            <a:off x="822960" y="4069080"/>
            <a:ext cx="10515600" cy="1005840"/>
          </a:xfrm>
          <a:prstGeom prst="rect">
            <a:avLst/>
          </a:prstGeom>
          <a:noFill/>
          <a:ln/>
        </p:spPr>
        <p:txBody>
          <a:bodyPr wrap="square" rtlCol="0" anchor="ctr"/>
          <a:lstStyle/>
          <a:p>
            <a:pPr indent="0" marL="0">
              <a:buNone/>
            </a:pPr>
            <a:r>
              <a:rPr lang="en-US" sz="1150" dirty="0">
                <a:solidFill>
                  <a:srgbClr val="444444"/>
                </a:solidFill>
              </a:rPr>
              <a:t>Only about 28% of Care calls carry a reliable queue-based language tag (ENG/SPA). The remaining 72% route through queues — escalation, advanced handling, retail hotlines — with no language indicator at all. The account-level Language field defaults to English for unverified callers, so it isn't trustworthy either. Neither source alone is reliable at scale.</a:t>
            </a:r>
            <a:endParaRPr lang="en-US" sz="1150" dirty="0"/>
          </a:p>
        </p:txBody>
      </p:sp>
      <p:sp>
        <p:nvSpPr>
          <p:cNvPr id="10" name="Text 8"/>
          <p:cNvSpPr/>
          <p:nvPr/>
        </p:nvSpPr>
        <p:spPr>
          <a:xfrm>
            <a:off x="822960" y="5212080"/>
            <a:ext cx="10515600" cy="822960"/>
          </a:xfrm>
          <a:prstGeom prst="rect">
            <a:avLst/>
          </a:prstGeom>
          <a:noFill/>
          <a:ln/>
        </p:spPr>
        <p:txBody>
          <a:bodyPr wrap="square" rtlCol="0" anchor="ctr"/>
          <a:lstStyle/>
          <a:p>
            <a:pPr indent="0" marL="0">
              <a:buNone/>
            </a:pPr>
            <a:r>
              <a:rPr lang="en-US" sz="1100" i="1" dirty="0">
                <a:solidFill>
                  <a:srgbClr val="B8860B"/>
                </a:solidFill>
              </a:rPr>
              <a:t>Not used in this dataset directly, but documented since future analysis touching language should account for this gap.</a:t>
            </a:r>
            <a:endParaRPr lang="en-US" sz="1100" dirty="0"/>
          </a:p>
        </p:txBody>
      </p:sp>
      <p:sp>
        <p:nvSpPr>
          <p:cNvPr id="11" name="Text 9"/>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12" name="Text 10"/>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SUMMARY</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Key Findings at a Glance</a:t>
            </a:r>
            <a:endParaRPr lang="en-US" sz="2700" dirty="0"/>
          </a:p>
        </p:txBody>
      </p:sp>
      <p:sp>
        <p:nvSpPr>
          <p:cNvPr id="4" name="Shape 2"/>
          <p:cNvSpPr/>
          <p:nvPr/>
        </p:nvSpPr>
        <p:spPr>
          <a:xfrm>
            <a:off x="548640" y="1600200"/>
            <a:ext cx="11064240" cy="868680"/>
          </a:xfrm>
          <a:prstGeom prst="roundRect">
            <a:avLst>
              <a:gd name="adj" fmla="val 7368"/>
            </a:avLst>
          </a:prstGeom>
          <a:solidFill>
            <a:srgbClr val="F5F6F7"/>
          </a:solidFill>
          <a:ln w="12700">
            <a:solidFill>
              <a:srgbClr val="E3E6E9"/>
            </a:solidFill>
            <a:prstDash val="solid"/>
          </a:ln>
        </p:spPr>
      </p:sp>
      <p:sp>
        <p:nvSpPr>
          <p:cNvPr id="5" name="Text 3"/>
          <p:cNvSpPr/>
          <p:nvPr/>
        </p:nvSpPr>
        <p:spPr>
          <a:xfrm>
            <a:off x="822960" y="1691640"/>
            <a:ext cx="2926080" cy="685800"/>
          </a:xfrm>
          <a:prstGeom prst="rect">
            <a:avLst/>
          </a:prstGeom>
          <a:noFill/>
          <a:ln/>
        </p:spPr>
        <p:txBody>
          <a:bodyPr wrap="square" rtlCol="0" anchor="ctr"/>
          <a:lstStyle/>
          <a:p>
            <a:pPr indent="0" marL="0">
              <a:buNone/>
            </a:pPr>
            <a:r>
              <a:rPr lang="en-US" sz="1300" b="1" dirty="0">
                <a:solidFill>
                  <a:srgbClr val="1A3A5C"/>
                </a:solidFill>
              </a:rPr>
              <a:t>Active customer growth</a:t>
            </a:r>
            <a:endParaRPr lang="en-US" sz="1300" dirty="0"/>
          </a:p>
        </p:txBody>
      </p:sp>
      <p:sp>
        <p:nvSpPr>
          <p:cNvPr id="6" name="Shape 4"/>
          <p:cNvSpPr/>
          <p:nvPr/>
        </p:nvSpPr>
        <p:spPr>
          <a:xfrm>
            <a:off x="3886200" y="1709928"/>
            <a:ext cx="0" cy="649224"/>
          </a:xfrm>
          <a:prstGeom prst="line">
            <a:avLst/>
          </a:prstGeom>
          <a:noFill/>
          <a:ln w="12700">
            <a:solidFill>
              <a:srgbClr val="D0D5D9"/>
            </a:solidFill>
            <a:prstDash val="solid"/>
          </a:ln>
        </p:spPr>
      </p:sp>
      <p:sp>
        <p:nvSpPr>
          <p:cNvPr id="7" name="Text 5"/>
          <p:cNvSpPr/>
          <p:nvPr/>
        </p:nvSpPr>
        <p:spPr>
          <a:xfrm>
            <a:off x="4114800" y="1691640"/>
            <a:ext cx="7315200" cy="685800"/>
          </a:xfrm>
          <a:prstGeom prst="rect">
            <a:avLst/>
          </a:prstGeom>
          <a:noFill/>
          <a:ln/>
        </p:spPr>
        <p:txBody>
          <a:bodyPr wrap="square" rtlCol="0" anchor="ctr"/>
          <a:lstStyle/>
          <a:p>
            <a:pPr indent="0" marL="0">
              <a:buNone/>
            </a:pPr>
            <a:r>
              <a:rPr lang="en-US" sz="1100" dirty="0">
                <a:solidFill>
                  <a:srgbClr val="444444"/>
                </a:solidFill>
              </a:rPr>
              <a:t>427,540 active Texas-residential customers on July 1, 2022, growing steadily to 642,534 by July 2026 — consistent with the independently confirmed 640,860 total from Task 3.</a:t>
            </a:r>
            <a:endParaRPr lang="en-US" sz="1100" dirty="0"/>
          </a:p>
        </p:txBody>
      </p:sp>
      <p:sp>
        <p:nvSpPr>
          <p:cNvPr id="8" name="Shape 6"/>
          <p:cNvSpPr/>
          <p:nvPr/>
        </p:nvSpPr>
        <p:spPr>
          <a:xfrm>
            <a:off x="548640" y="2560320"/>
            <a:ext cx="11064240" cy="868680"/>
          </a:xfrm>
          <a:prstGeom prst="roundRect">
            <a:avLst>
              <a:gd name="adj" fmla="val 7368"/>
            </a:avLst>
          </a:prstGeom>
          <a:solidFill>
            <a:srgbClr val="F5F6F7"/>
          </a:solidFill>
          <a:ln w="12700">
            <a:solidFill>
              <a:srgbClr val="E3E6E9"/>
            </a:solidFill>
            <a:prstDash val="solid"/>
          </a:ln>
        </p:spPr>
      </p:sp>
      <p:sp>
        <p:nvSpPr>
          <p:cNvPr id="9" name="Text 7"/>
          <p:cNvSpPr/>
          <p:nvPr/>
        </p:nvSpPr>
        <p:spPr>
          <a:xfrm>
            <a:off x="822960" y="2651760"/>
            <a:ext cx="2926080" cy="685800"/>
          </a:xfrm>
          <a:prstGeom prst="rect">
            <a:avLst/>
          </a:prstGeom>
          <a:noFill/>
          <a:ln/>
        </p:spPr>
        <p:txBody>
          <a:bodyPr wrap="square" rtlCol="0" anchor="ctr"/>
          <a:lstStyle/>
          <a:p>
            <a:pPr indent="0" marL="0">
              <a:buNone/>
            </a:pPr>
            <a:r>
              <a:rPr lang="en-US" sz="1300" b="1" dirty="0">
                <a:solidFill>
                  <a:srgbClr val="1A3A5C"/>
                </a:solidFill>
              </a:rPr>
              <a:t>Alberta cutoff confirmed at scale</a:t>
            </a:r>
            <a:endParaRPr lang="en-US" sz="1300" dirty="0"/>
          </a:p>
        </p:txBody>
      </p:sp>
      <p:sp>
        <p:nvSpPr>
          <p:cNvPr id="10" name="Shape 8"/>
          <p:cNvSpPr/>
          <p:nvPr/>
        </p:nvSpPr>
        <p:spPr>
          <a:xfrm>
            <a:off x="3886200" y="2670048"/>
            <a:ext cx="0" cy="649224"/>
          </a:xfrm>
          <a:prstGeom prst="line">
            <a:avLst/>
          </a:prstGeom>
          <a:noFill/>
          <a:ln w="12700">
            <a:solidFill>
              <a:srgbClr val="D0D5D9"/>
            </a:solidFill>
            <a:prstDash val="solid"/>
          </a:ln>
        </p:spPr>
      </p:sp>
      <p:sp>
        <p:nvSpPr>
          <p:cNvPr id="11" name="Text 9"/>
          <p:cNvSpPr/>
          <p:nvPr/>
        </p:nvSpPr>
        <p:spPr>
          <a:xfrm>
            <a:off x="4114800" y="2651760"/>
            <a:ext cx="7315200" cy="685800"/>
          </a:xfrm>
          <a:prstGeom prst="rect">
            <a:avLst/>
          </a:prstGeom>
          <a:noFill/>
          <a:ln/>
        </p:spPr>
        <p:txBody>
          <a:bodyPr wrap="square" rtlCol="0" anchor="ctr"/>
          <a:lstStyle/>
          <a:p>
            <a:pPr indent="0" marL="0">
              <a:buNone/>
            </a:pPr>
            <a:r>
              <a:rPr lang="en-US" sz="1100" dirty="0">
                <a:solidFill>
                  <a:srgbClr val="444444"/>
                </a:solidFill>
              </a:rPr>
              <a:t>AlbertaDataAvailability correctly flips from “not yet available” to “available” precisely at March 20, 2024, across every year tested.</a:t>
            </a:r>
            <a:endParaRPr lang="en-US" sz="1100" dirty="0"/>
          </a:p>
        </p:txBody>
      </p:sp>
      <p:sp>
        <p:nvSpPr>
          <p:cNvPr id="12" name="Shape 10"/>
          <p:cNvSpPr/>
          <p:nvPr/>
        </p:nvSpPr>
        <p:spPr>
          <a:xfrm>
            <a:off x="548640" y="3520440"/>
            <a:ext cx="11064240" cy="868680"/>
          </a:xfrm>
          <a:prstGeom prst="roundRect">
            <a:avLst>
              <a:gd name="adj" fmla="val 7368"/>
            </a:avLst>
          </a:prstGeom>
          <a:solidFill>
            <a:srgbClr val="F5F6F7"/>
          </a:solidFill>
          <a:ln w="12700">
            <a:solidFill>
              <a:srgbClr val="E3E6E9"/>
            </a:solidFill>
            <a:prstDash val="solid"/>
          </a:ln>
        </p:spPr>
      </p:sp>
      <p:sp>
        <p:nvSpPr>
          <p:cNvPr id="13" name="Text 11"/>
          <p:cNvSpPr/>
          <p:nvPr/>
        </p:nvSpPr>
        <p:spPr>
          <a:xfrm>
            <a:off x="822960" y="3611880"/>
            <a:ext cx="2926080" cy="685800"/>
          </a:xfrm>
          <a:prstGeom prst="rect">
            <a:avLst/>
          </a:prstGeom>
          <a:noFill/>
          <a:ln/>
        </p:spPr>
        <p:txBody>
          <a:bodyPr wrap="square" rtlCol="0" anchor="ctr"/>
          <a:lstStyle/>
          <a:p>
            <a:pPr indent="0" marL="0">
              <a:buNone/>
            </a:pPr>
            <a:r>
              <a:rPr lang="en-US" sz="1300" b="1" dirty="0">
                <a:solidFill>
                  <a:srgbClr val="1A3A5C"/>
                </a:solidFill>
              </a:rPr>
              <a:t>Holiday flag accurate throughout</a:t>
            </a:r>
            <a:endParaRPr lang="en-US" sz="1300" dirty="0"/>
          </a:p>
        </p:txBody>
      </p:sp>
      <p:sp>
        <p:nvSpPr>
          <p:cNvPr id="14" name="Shape 12"/>
          <p:cNvSpPr/>
          <p:nvPr/>
        </p:nvSpPr>
        <p:spPr>
          <a:xfrm>
            <a:off x="3886200" y="3630168"/>
            <a:ext cx="0" cy="649224"/>
          </a:xfrm>
          <a:prstGeom prst="line">
            <a:avLst/>
          </a:prstGeom>
          <a:noFill/>
          <a:ln w="12700">
            <a:solidFill>
              <a:srgbClr val="D0D5D9"/>
            </a:solidFill>
            <a:prstDash val="solid"/>
          </a:ln>
        </p:spPr>
      </p:sp>
      <p:sp>
        <p:nvSpPr>
          <p:cNvPr id="15" name="Text 13"/>
          <p:cNvSpPr/>
          <p:nvPr/>
        </p:nvSpPr>
        <p:spPr>
          <a:xfrm>
            <a:off x="4114800" y="3611880"/>
            <a:ext cx="7315200" cy="685800"/>
          </a:xfrm>
          <a:prstGeom prst="rect">
            <a:avLst/>
          </a:prstGeom>
          <a:noFill/>
          <a:ln/>
        </p:spPr>
        <p:txBody>
          <a:bodyPr wrap="square" rtlCol="0" anchor="ctr"/>
          <a:lstStyle/>
          <a:p>
            <a:pPr indent="0" marL="0">
              <a:buNone/>
            </a:pPr>
            <a:r>
              <a:rPr lang="en-US" sz="1100" dirty="0">
                <a:solidFill>
                  <a:srgbClr val="444444"/>
                </a:solidFill>
              </a:rPr>
              <a:t>July 4, Dec 25, and Jan 1 correctly flag as holidays every year from 2022 through 2026.</a:t>
            </a:r>
            <a:endParaRPr lang="en-US" sz="1100" dirty="0"/>
          </a:p>
        </p:txBody>
      </p:sp>
      <p:sp>
        <p:nvSpPr>
          <p:cNvPr id="16" name="Shape 14"/>
          <p:cNvSpPr/>
          <p:nvPr/>
        </p:nvSpPr>
        <p:spPr>
          <a:xfrm>
            <a:off x="548640" y="4480560"/>
            <a:ext cx="11064240" cy="868680"/>
          </a:xfrm>
          <a:prstGeom prst="roundRect">
            <a:avLst>
              <a:gd name="adj" fmla="val 7368"/>
            </a:avLst>
          </a:prstGeom>
          <a:solidFill>
            <a:srgbClr val="F5F6F7"/>
          </a:solidFill>
          <a:ln w="12700">
            <a:solidFill>
              <a:srgbClr val="E3E6E9"/>
            </a:solidFill>
            <a:prstDash val="solid"/>
          </a:ln>
        </p:spPr>
      </p:sp>
      <p:sp>
        <p:nvSpPr>
          <p:cNvPr id="17" name="Text 15"/>
          <p:cNvSpPr/>
          <p:nvPr/>
        </p:nvSpPr>
        <p:spPr>
          <a:xfrm>
            <a:off x="822960" y="4572000"/>
            <a:ext cx="2926080" cy="685800"/>
          </a:xfrm>
          <a:prstGeom prst="rect">
            <a:avLst/>
          </a:prstGeom>
          <a:noFill/>
          <a:ln/>
        </p:spPr>
        <p:txBody>
          <a:bodyPr wrap="square" rtlCol="0" anchor="ctr"/>
          <a:lstStyle/>
          <a:p>
            <a:pPr indent="0" marL="0">
              <a:buNone/>
            </a:pPr>
            <a:r>
              <a:rPr lang="en-US" sz="1300" b="1" dirty="0">
                <a:solidFill>
                  <a:srgbClr val="1A3A5C"/>
                </a:solidFill>
              </a:rPr>
              <a:t>Sunday pattern holds across the timeline</a:t>
            </a:r>
            <a:endParaRPr lang="en-US" sz="1300" dirty="0"/>
          </a:p>
        </p:txBody>
      </p:sp>
      <p:sp>
        <p:nvSpPr>
          <p:cNvPr id="18" name="Shape 16"/>
          <p:cNvSpPr/>
          <p:nvPr/>
        </p:nvSpPr>
        <p:spPr>
          <a:xfrm>
            <a:off x="3886200" y="4590288"/>
            <a:ext cx="0" cy="649224"/>
          </a:xfrm>
          <a:prstGeom prst="line">
            <a:avLst/>
          </a:prstGeom>
          <a:noFill/>
          <a:ln w="12700">
            <a:solidFill>
              <a:srgbClr val="D0D5D9"/>
            </a:solidFill>
            <a:prstDash val="solid"/>
          </a:ln>
        </p:spPr>
      </p:sp>
      <p:sp>
        <p:nvSpPr>
          <p:cNvPr id="19" name="Text 17"/>
          <p:cNvSpPr/>
          <p:nvPr/>
        </p:nvSpPr>
        <p:spPr>
          <a:xfrm>
            <a:off x="4114800" y="4572000"/>
            <a:ext cx="7315200" cy="685800"/>
          </a:xfrm>
          <a:prstGeom prst="rect">
            <a:avLst/>
          </a:prstGeom>
          <a:noFill/>
          <a:ln/>
        </p:spPr>
        <p:txBody>
          <a:bodyPr wrap="square" rtlCol="0" anchor="ctr"/>
          <a:lstStyle/>
          <a:p>
            <a:pPr indent="0" marL="0">
              <a:buNone/>
            </a:pPr>
            <a:r>
              <a:rPr lang="en-US" sz="1100" dirty="0">
                <a:solidFill>
                  <a:srgbClr val="444444"/>
                </a:solidFill>
              </a:rPr>
              <a:t>100% containment and zero transfers on Sundays remain consistent from 2022 through 2026, not just in the original test month.</a:t>
            </a:r>
            <a:endParaRPr lang="en-US" sz="1100" dirty="0"/>
          </a:p>
        </p:txBody>
      </p:sp>
      <p:sp>
        <p:nvSpPr>
          <p:cNvPr id="20" name="Shape 18"/>
          <p:cNvSpPr/>
          <p:nvPr/>
        </p:nvSpPr>
        <p:spPr>
          <a:xfrm>
            <a:off x="548640" y="5440680"/>
            <a:ext cx="11064240" cy="868680"/>
          </a:xfrm>
          <a:prstGeom prst="roundRect">
            <a:avLst>
              <a:gd name="adj" fmla="val 7368"/>
            </a:avLst>
          </a:prstGeom>
          <a:solidFill>
            <a:srgbClr val="F5F6F7"/>
          </a:solidFill>
          <a:ln w="12700">
            <a:solidFill>
              <a:srgbClr val="E3E6E9"/>
            </a:solidFill>
            <a:prstDash val="solid"/>
          </a:ln>
        </p:spPr>
      </p:sp>
      <p:sp>
        <p:nvSpPr>
          <p:cNvPr id="21" name="Text 19"/>
          <p:cNvSpPr/>
          <p:nvPr/>
        </p:nvSpPr>
        <p:spPr>
          <a:xfrm>
            <a:off x="822960" y="5532120"/>
            <a:ext cx="2926080" cy="685800"/>
          </a:xfrm>
          <a:prstGeom prst="rect">
            <a:avLst/>
          </a:prstGeom>
          <a:noFill/>
          <a:ln/>
        </p:spPr>
        <p:txBody>
          <a:bodyPr wrap="square" rtlCol="0" anchor="ctr"/>
          <a:lstStyle/>
          <a:p>
            <a:pPr indent="0" marL="0">
              <a:buNone/>
            </a:pPr>
            <a:r>
              <a:rPr lang="en-US" sz="1300" b="1" dirty="0">
                <a:solidFill>
                  <a:srgbClr val="1A3A5C"/>
                </a:solidFill>
              </a:rPr>
              <a:t>No breakage across 4 years of data</a:t>
            </a:r>
            <a:endParaRPr lang="en-US" sz="1300" dirty="0"/>
          </a:p>
        </p:txBody>
      </p:sp>
      <p:sp>
        <p:nvSpPr>
          <p:cNvPr id="22" name="Shape 20"/>
          <p:cNvSpPr/>
          <p:nvPr/>
        </p:nvSpPr>
        <p:spPr>
          <a:xfrm>
            <a:off x="3886200" y="5550408"/>
            <a:ext cx="0" cy="649224"/>
          </a:xfrm>
          <a:prstGeom prst="line">
            <a:avLst/>
          </a:prstGeom>
          <a:noFill/>
          <a:ln w="12700">
            <a:solidFill>
              <a:srgbClr val="D0D5D9"/>
            </a:solidFill>
            <a:prstDash val="solid"/>
          </a:ln>
        </p:spPr>
      </p:sp>
      <p:sp>
        <p:nvSpPr>
          <p:cNvPr id="23" name="Text 21"/>
          <p:cNvSpPr/>
          <p:nvPr/>
        </p:nvSpPr>
        <p:spPr>
          <a:xfrm>
            <a:off x="4114800" y="5532120"/>
            <a:ext cx="7315200" cy="685800"/>
          </a:xfrm>
          <a:prstGeom prst="rect">
            <a:avLst/>
          </a:prstGeom>
          <a:noFill/>
          <a:ln/>
        </p:spPr>
        <p:txBody>
          <a:bodyPr wrap="square" rtlCol="0" anchor="ctr"/>
          <a:lstStyle/>
          <a:p>
            <a:pPr indent="0" marL="0">
              <a:buNone/>
            </a:pPr>
            <a:r>
              <a:rPr lang="en-US" sz="1100" dirty="0">
                <a:solidFill>
                  <a:srgbClr val="444444"/>
                </a:solidFill>
              </a:rPr>
              <a:t>Spot-checks across 2023–2026 show no NULL/broken rows or unexpected anomalies.</a:t>
            </a:r>
            <a:endParaRPr lang="en-US" sz="1100" dirty="0"/>
          </a:p>
        </p:txBody>
      </p:sp>
      <p:sp>
        <p:nvSpPr>
          <p:cNvPr id="24" name="Text 22"/>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25" name="Text 23"/>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Spot-Checked Across Four Years</a:t>
            </a:r>
            <a:endParaRPr lang="en-US" sz="2700" dirty="0"/>
          </a:p>
        </p:txBody>
      </p:sp>
      <p:graphicFrame>
        <p:nvGraphicFramePr>
          <p:cNvPr id="4" name="Chart 0" descr=""/>
          <p:cNvGraphicFramePr/>
          <p:nvPr/>
        </p:nvGraphicFramePr>
        <p:xfrm>
          <a:off x="548640" y="1463040"/>
          <a:ext cx="5760720" cy="33832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583680" y="1463040"/>
            <a:ext cx="5029200" cy="1554480"/>
          </a:xfrm>
          <a:prstGeom prst="roundRect">
            <a:avLst>
              <a:gd name="adj" fmla="val 4706"/>
            </a:avLst>
          </a:prstGeom>
          <a:solidFill>
            <a:srgbClr val="F5F6F7"/>
          </a:solidFill>
          <a:ln w="12700">
            <a:solidFill>
              <a:srgbClr val="E3E6E9"/>
            </a:solidFill>
            <a:prstDash val="solid"/>
          </a:ln>
        </p:spPr>
      </p:sp>
      <p:sp>
        <p:nvSpPr>
          <p:cNvPr id="6" name="Text 3"/>
          <p:cNvSpPr/>
          <p:nvPr/>
        </p:nvSpPr>
        <p:spPr>
          <a:xfrm>
            <a:off x="6858000" y="1600200"/>
            <a:ext cx="4480560" cy="320040"/>
          </a:xfrm>
          <a:prstGeom prst="rect">
            <a:avLst/>
          </a:prstGeom>
          <a:noFill/>
          <a:ln/>
        </p:spPr>
        <p:txBody>
          <a:bodyPr wrap="square" rtlCol="0" anchor="ctr"/>
          <a:lstStyle/>
          <a:p>
            <a:pPr indent="0" marL="0">
              <a:buNone/>
            </a:pPr>
            <a:r>
              <a:rPr lang="en-US" sz="1400" b="1" dirty="0">
                <a:solidFill>
                  <a:srgbClr val="1A3A5C"/>
                </a:solidFill>
              </a:rPr>
              <a:t>Cross-validation</a:t>
            </a:r>
            <a:endParaRPr lang="en-US" sz="1400" dirty="0"/>
          </a:p>
        </p:txBody>
      </p:sp>
      <p:sp>
        <p:nvSpPr>
          <p:cNvPr id="7" name="Text 4"/>
          <p:cNvSpPr/>
          <p:nvPr/>
        </p:nvSpPr>
        <p:spPr>
          <a:xfrm>
            <a:off x="6858000" y="1920240"/>
            <a:ext cx="4480560" cy="1005840"/>
          </a:xfrm>
          <a:prstGeom prst="rect">
            <a:avLst/>
          </a:prstGeom>
          <a:noFill/>
          <a:ln/>
        </p:spPr>
        <p:txBody>
          <a:bodyPr wrap="square" rtlCol="0" anchor="ctr"/>
          <a:lstStyle/>
          <a:p>
            <a:pPr indent="0" marL="0">
              <a:buNone/>
            </a:pPr>
            <a:r>
              <a:rPr lang="en-US" sz="1100" dirty="0">
                <a:solidFill>
                  <a:srgbClr val="444444"/>
                </a:solidFill>
              </a:rPr>
              <a:t>The July 2026 active count (642,534) lines up almost exactly with the 640,860 total independently confirmed in Task 3 — strong signal this number is trustworthy.</a:t>
            </a:r>
            <a:endParaRPr lang="en-US" sz="1100" dirty="0"/>
          </a:p>
        </p:txBody>
      </p:sp>
      <p:sp>
        <p:nvSpPr>
          <p:cNvPr id="8" name="Shape 5"/>
          <p:cNvSpPr/>
          <p:nvPr/>
        </p:nvSpPr>
        <p:spPr>
          <a:xfrm>
            <a:off x="6583680" y="3200400"/>
            <a:ext cx="5029200" cy="1554480"/>
          </a:xfrm>
          <a:prstGeom prst="roundRect">
            <a:avLst>
              <a:gd name="adj" fmla="val 4706"/>
            </a:avLst>
          </a:prstGeom>
          <a:solidFill>
            <a:srgbClr val="F5F6F7"/>
          </a:solidFill>
          <a:ln w="12700">
            <a:solidFill>
              <a:srgbClr val="E3E6E9"/>
            </a:solidFill>
            <a:prstDash val="solid"/>
          </a:ln>
        </p:spPr>
      </p:sp>
      <p:sp>
        <p:nvSpPr>
          <p:cNvPr id="9" name="Text 6"/>
          <p:cNvSpPr/>
          <p:nvPr/>
        </p:nvSpPr>
        <p:spPr>
          <a:xfrm>
            <a:off x="6858000" y="3337560"/>
            <a:ext cx="4480560" cy="320040"/>
          </a:xfrm>
          <a:prstGeom prst="rect">
            <a:avLst/>
          </a:prstGeom>
          <a:noFill/>
          <a:ln/>
        </p:spPr>
        <p:txBody>
          <a:bodyPr wrap="square" rtlCol="0" anchor="ctr"/>
          <a:lstStyle/>
          <a:p>
            <a:pPr indent="0" marL="0">
              <a:buNone/>
            </a:pPr>
            <a:r>
              <a:rPr lang="en-US" sz="1400" b="1" dirty="0">
                <a:solidFill>
                  <a:srgbClr val="1A3A5C"/>
                </a:solidFill>
              </a:rPr>
              <a:t>Alberta cutoff</a:t>
            </a:r>
            <a:endParaRPr lang="en-US" sz="1400" dirty="0"/>
          </a:p>
        </p:txBody>
      </p:sp>
      <p:sp>
        <p:nvSpPr>
          <p:cNvPr id="10" name="Text 7"/>
          <p:cNvSpPr/>
          <p:nvPr/>
        </p:nvSpPr>
        <p:spPr>
          <a:xfrm>
            <a:off x="6858000" y="3657600"/>
            <a:ext cx="4480560" cy="1005840"/>
          </a:xfrm>
          <a:prstGeom prst="rect">
            <a:avLst/>
          </a:prstGeom>
          <a:noFill/>
          <a:ln/>
        </p:spPr>
        <p:txBody>
          <a:bodyPr wrap="square" rtlCol="0" anchor="ctr"/>
          <a:lstStyle/>
          <a:p>
            <a:pPr indent="0" marL="0">
              <a:buNone/>
            </a:pPr>
            <a:r>
              <a:rPr lang="en-US" sz="1100" dirty="0">
                <a:solidFill>
                  <a:srgbClr val="444444"/>
                </a:solidFill>
              </a:rPr>
              <a:t>Every date before March 20, 2024 correctly shows “not yet available”; every date after correctly shows “available” — confirmed across 2023–2026, not just near the cutoff itself.</a:t>
            </a:r>
            <a:endParaRPr lang="en-US" sz="1100" dirty="0"/>
          </a:p>
        </p:txBody>
      </p:sp>
      <p:sp>
        <p:nvSpPr>
          <p:cNvPr id="11" name="Shape 8"/>
          <p:cNvSpPr/>
          <p:nvPr/>
        </p:nvSpPr>
        <p:spPr>
          <a:xfrm>
            <a:off x="6583680" y="4937760"/>
            <a:ext cx="5029200" cy="914400"/>
          </a:xfrm>
          <a:prstGeom prst="roundRect">
            <a:avLst>
              <a:gd name="adj" fmla="val 8000"/>
            </a:avLst>
          </a:prstGeom>
          <a:solidFill>
            <a:srgbClr val="EAF2EC"/>
          </a:solidFill>
          <a:ln/>
        </p:spPr>
      </p:sp>
      <p:sp>
        <p:nvSpPr>
          <p:cNvPr id="12" name="Text 9"/>
          <p:cNvSpPr/>
          <p:nvPr/>
        </p:nvSpPr>
        <p:spPr>
          <a:xfrm>
            <a:off x="6858000" y="5029200"/>
            <a:ext cx="4480560" cy="731520"/>
          </a:xfrm>
          <a:prstGeom prst="rect">
            <a:avLst/>
          </a:prstGeom>
          <a:noFill/>
          <a:ln/>
        </p:spPr>
        <p:txBody>
          <a:bodyPr wrap="square" rtlCol="0" anchor="ctr"/>
          <a:lstStyle/>
          <a:p>
            <a:pPr indent="0" marL="0">
              <a:buNone/>
            </a:pPr>
            <a:r>
              <a:rPr lang="en-US" sz="1200" b="1" dirty="0">
                <a:solidFill>
                  <a:srgbClr val="3E8E5A"/>
                </a:solidFill>
              </a:rPr>
              <a:t>Dataset is ready to serve as the forecasting model's input.</a:t>
            </a:r>
            <a:endParaRPr lang="en-US" sz="1200" dirty="0"/>
          </a:p>
        </p:txBody>
      </p:sp>
      <p:sp>
        <p:nvSpPr>
          <p:cNvPr id="13" name="Text 10"/>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14" name="Text 11"/>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7315200" cy="320040"/>
          </a:xfrm>
          <a:prstGeom prst="rect">
            <a:avLst/>
          </a:prstGeom>
          <a:noFill/>
          <a:ln/>
        </p:spPr>
        <p:txBody>
          <a:bodyPr wrap="square" rtlCol="0" anchor="ctr"/>
          <a:lstStyle/>
          <a:p>
            <a:pPr indent="0" marL="0">
              <a:buNone/>
            </a:pPr>
            <a:r>
              <a:rPr lang="en-US" sz="1200" b="1" spc="100" kern="0" dirty="0">
                <a:solidFill>
                  <a:srgbClr val="2C5F8A"/>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548640" y="594360"/>
            <a:ext cx="10789920" cy="640080"/>
          </a:xfrm>
          <a:prstGeom prst="rect">
            <a:avLst/>
          </a:prstGeom>
          <a:noFill/>
          <a:ln/>
        </p:spPr>
        <p:txBody>
          <a:bodyPr wrap="square" rtlCol="0" anchor="ctr"/>
          <a:lstStyle/>
          <a:p>
            <a:pPr indent="0" marL="0">
              <a:buNone/>
            </a:pPr>
            <a:r>
              <a:rPr lang="en-US" sz="2700" b="1" dirty="0">
                <a:solidFill>
                  <a:srgbClr val="1A3A5C"/>
                </a:solidFill>
                <a:latin typeface="Calibri" pitchFamily="34" charset="0"/>
                <a:ea typeface="Calibri" pitchFamily="34" charset="-122"/>
                <a:cs typeface="Calibri" pitchFamily="34" charset="-120"/>
              </a:rPr>
              <a:t>Where This Goes From Here</a:t>
            </a:r>
            <a:endParaRPr lang="en-US" sz="2700" dirty="0"/>
          </a:p>
        </p:txBody>
      </p:sp>
      <p:sp>
        <p:nvSpPr>
          <p:cNvPr id="4" name="Shape 2"/>
          <p:cNvSpPr/>
          <p:nvPr/>
        </p:nvSpPr>
        <p:spPr>
          <a:xfrm>
            <a:off x="548640" y="1810512"/>
            <a:ext cx="146304" cy="146304"/>
          </a:xfrm>
          <a:prstGeom prst="ellipse">
            <a:avLst/>
          </a:prstGeom>
          <a:solidFill>
            <a:srgbClr val="3D8B8B"/>
          </a:solidFill>
          <a:ln/>
        </p:spPr>
      </p:sp>
      <p:sp>
        <p:nvSpPr>
          <p:cNvPr id="5" name="Text 3"/>
          <p:cNvSpPr/>
          <p:nvPr/>
        </p:nvSpPr>
        <p:spPr>
          <a:xfrm>
            <a:off x="914400" y="1645920"/>
            <a:ext cx="10515600" cy="822960"/>
          </a:xfrm>
          <a:prstGeom prst="rect">
            <a:avLst/>
          </a:prstGeom>
          <a:noFill/>
          <a:ln/>
        </p:spPr>
        <p:txBody>
          <a:bodyPr wrap="square" rtlCol="0" anchor="t"/>
          <a:lstStyle/>
          <a:p>
            <a:pPr indent="0" marL="0">
              <a:buNone/>
            </a:pPr>
            <a:r>
              <a:rPr lang="en-US" sz="1400" dirty="0">
                <a:solidFill>
                  <a:srgbClr val="444444"/>
                </a:solidFill>
              </a:rPr>
              <a:t>This corrected dataset now feeds directly into the longer-term call forecast — no further changes needed here to start that work.</a:t>
            </a:r>
            <a:endParaRPr lang="en-US" sz="1400" dirty="0"/>
          </a:p>
        </p:txBody>
      </p:sp>
      <p:sp>
        <p:nvSpPr>
          <p:cNvPr id="6" name="Shape 4"/>
          <p:cNvSpPr/>
          <p:nvPr/>
        </p:nvSpPr>
        <p:spPr>
          <a:xfrm>
            <a:off x="548640" y="2862072"/>
            <a:ext cx="146304" cy="146304"/>
          </a:xfrm>
          <a:prstGeom prst="ellipse">
            <a:avLst/>
          </a:prstGeom>
          <a:solidFill>
            <a:srgbClr val="3D8B8B"/>
          </a:solidFill>
          <a:ln/>
        </p:spPr>
      </p:sp>
      <p:sp>
        <p:nvSpPr>
          <p:cNvPr id="7" name="Text 5"/>
          <p:cNvSpPr/>
          <p:nvPr/>
        </p:nvSpPr>
        <p:spPr>
          <a:xfrm>
            <a:off x="914400" y="2697480"/>
            <a:ext cx="10515600" cy="822960"/>
          </a:xfrm>
          <a:prstGeom prst="rect">
            <a:avLst/>
          </a:prstGeom>
          <a:noFill/>
          <a:ln/>
        </p:spPr>
        <p:txBody>
          <a:bodyPr wrap="square" rtlCol="0" anchor="t"/>
          <a:lstStyle/>
          <a:p>
            <a:pPr indent="0" marL="0">
              <a:buNone/>
            </a:pPr>
            <a:r>
              <a:rPr lang="en-US" sz="1400" dirty="0">
                <a:solidFill>
                  <a:srgbClr val="444444"/>
                </a:solidFill>
              </a:rPr>
              <a:t>Push the finalized SQL to GitHub as the single source of truth for this pipeline.</a:t>
            </a:r>
            <a:endParaRPr lang="en-US" sz="1400" dirty="0"/>
          </a:p>
        </p:txBody>
      </p:sp>
      <p:sp>
        <p:nvSpPr>
          <p:cNvPr id="8" name="Shape 6"/>
          <p:cNvSpPr/>
          <p:nvPr/>
        </p:nvSpPr>
        <p:spPr>
          <a:xfrm>
            <a:off x="548640" y="3913632"/>
            <a:ext cx="146304" cy="146304"/>
          </a:xfrm>
          <a:prstGeom prst="ellipse">
            <a:avLst/>
          </a:prstGeom>
          <a:solidFill>
            <a:srgbClr val="3D8B8B"/>
          </a:solidFill>
          <a:ln/>
        </p:spPr>
      </p:sp>
      <p:sp>
        <p:nvSpPr>
          <p:cNvPr id="9" name="Text 7"/>
          <p:cNvSpPr/>
          <p:nvPr/>
        </p:nvSpPr>
        <p:spPr>
          <a:xfrm>
            <a:off x="914400" y="3749040"/>
            <a:ext cx="10515600" cy="822960"/>
          </a:xfrm>
          <a:prstGeom prst="rect">
            <a:avLst/>
          </a:prstGeom>
          <a:noFill/>
          <a:ln/>
        </p:spPr>
        <p:txBody>
          <a:bodyPr wrap="square" rtlCol="0" anchor="t"/>
          <a:lstStyle/>
          <a:p>
            <a:pPr indent="0" marL="0">
              <a:buNone/>
            </a:pPr>
            <a:r>
              <a:rPr lang="en-US" sz="1400" dirty="0">
                <a:solidFill>
                  <a:srgbClr val="444444"/>
                </a:solidFill>
              </a:rPr>
              <a:t>Revisit if new queues appear in the future — the reclassification list is explicit and easy to extend.</a:t>
            </a:r>
            <a:endParaRPr lang="en-US" sz="1400" dirty="0"/>
          </a:p>
        </p:txBody>
      </p:sp>
      <p:sp>
        <p:nvSpPr>
          <p:cNvPr id="10" name="Shape 8"/>
          <p:cNvSpPr/>
          <p:nvPr/>
        </p:nvSpPr>
        <p:spPr>
          <a:xfrm>
            <a:off x="548640" y="4965192"/>
            <a:ext cx="146304" cy="146304"/>
          </a:xfrm>
          <a:prstGeom prst="ellipse">
            <a:avLst/>
          </a:prstGeom>
          <a:solidFill>
            <a:srgbClr val="3D8B8B"/>
          </a:solidFill>
          <a:ln/>
        </p:spPr>
      </p:sp>
      <p:sp>
        <p:nvSpPr>
          <p:cNvPr id="11" name="Text 9"/>
          <p:cNvSpPr/>
          <p:nvPr/>
        </p:nvSpPr>
        <p:spPr>
          <a:xfrm>
            <a:off x="914400" y="4800600"/>
            <a:ext cx="10515600" cy="822960"/>
          </a:xfrm>
          <a:prstGeom prst="rect">
            <a:avLst/>
          </a:prstGeom>
          <a:noFill/>
          <a:ln/>
        </p:spPr>
        <p:txBody>
          <a:bodyPr wrap="square" rtlCol="0" anchor="t"/>
          <a:lstStyle/>
          <a:p>
            <a:pPr indent="0" marL="0">
              <a:buNone/>
            </a:pPr>
            <a:r>
              <a:rPr lang="en-US" sz="1400" dirty="0">
                <a:solidFill>
                  <a:srgbClr val="444444"/>
                </a:solidFill>
              </a:rPr>
              <a:t>Keep the two documented limitations (language field, pre-2024 Alberta gap) visible in any downstream analysis that touches those areas.</a:t>
            </a:r>
            <a:endParaRPr lang="en-US" sz="1400" dirty="0"/>
          </a:p>
        </p:txBody>
      </p:sp>
      <p:sp>
        <p:nvSpPr>
          <p:cNvPr id="12" name="Text 10"/>
          <p:cNvSpPr/>
          <p:nvPr/>
        </p:nvSpPr>
        <p:spPr>
          <a:xfrm>
            <a:off x="548640" y="6492240"/>
            <a:ext cx="8229600" cy="274320"/>
          </a:xfrm>
          <a:prstGeom prst="rect">
            <a:avLst/>
          </a:prstGeom>
          <a:noFill/>
          <a:ln/>
        </p:spPr>
        <p:txBody>
          <a:bodyPr wrap="square" rtlCol="0" anchor="ctr"/>
          <a:lstStyle/>
          <a:p>
            <a:pPr indent="0" marL="0">
              <a:buNone/>
            </a:pPr>
            <a:r>
              <a:rPr lang="en-US" sz="900" dirty="0">
                <a:solidFill>
                  <a:srgbClr val="999999"/>
                </a:solidFill>
              </a:rPr>
              <a:t>Task 4 — Baseline Forecasting Dataset</a:t>
            </a:r>
            <a:endParaRPr lang="en-US" sz="900" dirty="0"/>
          </a:p>
        </p:txBody>
      </p:sp>
      <p:sp>
        <p:nvSpPr>
          <p:cNvPr id="13" name="Text 11"/>
          <p:cNvSpPr/>
          <p:nvPr/>
        </p:nvSpPr>
        <p:spPr>
          <a:xfrm>
            <a:off x="11521440" y="6492240"/>
            <a:ext cx="457200" cy="274320"/>
          </a:xfrm>
          <a:prstGeom prst="rect">
            <a:avLst/>
          </a:prstGeom>
          <a:noFill/>
          <a:ln/>
        </p:spPr>
        <p:txBody>
          <a:bodyPr wrap="square" rtlCol="0" anchor="ctr"/>
          <a:lstStyle/>
          <a:p>
            <a:pPr algn="r" indent="0" marL="0">
              <a:buNone/>
            </a:pPr>
            <a:r>
              <a:rPr lang="en-US" sz="900" dirty="0">
                <a:solidFill>
                  <a:srgbClr val="999999"/>
                </a:solidFill>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2026-07-28T12:37:32Z</dcterms:created>
  <dcterms:modified xsi:type="dcterms:W3CDTF">2026-07-28T12:37:32Z</dcterms:modified>
</cp:coreProperties>
</file>