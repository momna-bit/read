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3A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3A5C"/>
                </a:solidFill>
                <a:latin typeface="Arial"/>
              </a:rPr>
              <a:t>Active Customer Count Growth (Sample Dates)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3D8B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3A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482214</c:v>
                </c:pt>
                <c:pt idx="1">
                  <c:v>585688</c:v>
                </c:pt>
                <c:pt idx="2">
                  <c:v>626361</c:v>
                </c:pt>
                <c:pt idx="3">
                  <c:v>642534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3A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C1E0"/>
                </a:solidFill>
              </a:rPr>
              <a:t>TASK 4  ·  TEXAS RESIDENTIAL CARE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Baseline Forecasting Dataset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4F0"/>
                </a:solidFill>
              </a:rPr>
              <a:t>A corrected, validated daily dataset — the input layer for future forecasting work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38100">
            <a:solidFill>
              <a:srgbClr val="3D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E0"/>
                </a:solidFill>
              </a:rPr>
              <a:t>Momna Ali  ·  Associate Data Scientist  ·  South Mass Market &amp; Canada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E0"/>
                </a:solidFill>
              </a:rPr>
              <a:t>Prepared for Jonathan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56232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56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73352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End-to-end pipeline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673352"/>
            <a:ext cx="6858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All five original corrections now run as one connected query producing one row per day, not standalone pieces.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70632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87752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Active customer count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587752"/>
            <a:ext cx="6858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Added via an event-based net-change calculation (enrollment/cancellation dates), avoiding a slow per-day join against millions of rows.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85032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850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502152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Queue reclassification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502152"/>
            <a:ext cx="6858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Applied Jonathan's confirmed list — retail-partner/hotline queues treated as Texas; compliance and legacy queues excluded entirely.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99432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99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416552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Full history covered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4416552"/>
            <a:ext cx="6858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One row per day from July 2022 through today — not just a sample window.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513832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513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5330952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Validated across four years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5330952"/>
            <a:ext cx="6858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Spot-checked from 2023 through July 2026, not just the original test window.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4 — Baseline Forecasting Dataset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Past-Due Filter &amp; Containment Rate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Past-due active-status filter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The active-status filter consistently removes 33–38% of past-due records every single day tested. Those records were inactive, pre-flow, or non-Texas-residential accounts inflating the original count — not real past-due exposure. This held true across every day checked in July 2022 and remains consistent through 2026.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8A"/>
                </a:solidFill>
              </a:rPr>
              <a:t>Talking point: roughly a third of past-due records in the original dataset were overstating real risk.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69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Containment rate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Rebuilt using the real definition: verified calls with zero queue time, divided by all verified-or-queued inbound calls. Sundays consistently show 100% containment — a strong sanity check, since no live agents are staffed that day. This pattern holds not just in the original test month but across every year from 2022 through 2026.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8A"/>
                </a:solidFill>
              </a:rPr>
              <a:t>Talking point: containment rate now reflects reality, not an inflated or misdefined number.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4 — Baseline Forecasting Dataset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FEEDBACK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Reclassification, Per Your Notes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Treat as Texas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9384"/>
            <a:ext cx="118872" cy="118872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96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HEB Hotline South — ENG / SPA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118872" cy="118872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951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Kroger Hotline South — ENG / SPA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8872" cy="118872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70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Sams Club Hotline South — ENG / SPA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55848"/>
            <a:ext cx="118872" cy="118872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46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OTC_Outbound_FCC_Consent (No / Yes_Active / SPA)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118872" cy="118872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216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DNPResidentialENG / DNPResidentialSPA — South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306824"/>
            <a:ext cx="118872" cy="118872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970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ResiACQ Escalations ENG/SPA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82312"/>
            <a:ext cx="118872" cy="118872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725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RESI CS Prepaid transfer ENG / SPA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Remove Entirely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1929384"/>
            <a:ext cx="118872" cy="1188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8196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JustEnergy_Compliance_Eng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359152"/>
            <a:ext cx="118872" cy="1188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24942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Tara_Compliance_Eng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788920"/>
            <a:ext cx="118872" cy="1188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6791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Terrapass Enrollments ENG SPA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218688"/>
            <a:ext cx="118872" cy="1188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HudsonCommReAffEng-NewYork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3648456"/>
            <a:ext cx="118872" cy="1188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5387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Default Route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078224"/>
            <a:ext cx="118872" cy="1188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9684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RoutingErrorFallbackQueue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4507992"/>
            <a:ext cx="118872" cy="1188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3982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SharedPool / SharedPool_Spanish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4937760"/>
            <a:ext cx="118872" cy="1188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8280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Pre Flow Retention SPA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5367528"/>
            <a:ext cx="118872" cy="1188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5257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z_ResiCSENG-COVID19 (legacy)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AF2EC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6235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8E5A"/>
                </a:solidFill>
              </a:rPr>
              <a:t>This is applied directly in the query — not a manual step. If new queues appear later, the exclusion list is a single place to update.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4 — Baseline Forecasting Dataset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Combining &amp; Language Reliability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Transfer combining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Regular and escalation-queue transfers are now combined without double-counting. The combined total is consistently lower than the two counted separately and summed — confirming calls transferred through both paths aren't counted twice. Sundays correctly show zero transfers, consistent with no live agents that day.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03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Language field reliability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Only about 28% of Care calls carry a reliable queue-based language tag (ENG/SPA). The remaining 72% route through queues — escalation, advanced handling, retail hotlines — with no language indicator at all. The account-level Language field defaults to English for unverified callers, so it isn't trustworthy either. Neither source alone is reliable at scale.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860B"/>
                </a:solidFill>
              </a:rPr>
              <a:t>Not used in this dataset directly, but documented since future analysis touching language should account for this gap.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4 — Baseline Forecasting Dataset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at a Glance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Active customer growth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86200" y="1709928"/>
            <a:ext cx="0" cy="649224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6916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427,540 active Texas-residential customers on July 1, 2022, growing steadily to 642,534 by July 2026 — consistent with the independently confirmed 640,860 total from Task 3.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Alberta cutoff confirmed at scale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86200" y="2670048"/>
            <a:ext cx="0" cy="649224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6517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AlbertaDataAvailability correctly flips from “not yet available” to “available” precisely at March 20, 2024, across every year tested.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Holiday flag accurate throughout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86200" y="3630168"/>
            <a:ext cx="0" cy="649224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611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July 4, Dec 25, and Jan 1 correctly flag as holidays every year from 2022 through 2026.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720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Sunday pattern holds across the timeline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86200" y="4590288"/>
            <a:ext cx="0" cy="649224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4572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100% containment and zero transfers on Sundays remain consistent from 2022 through 2026, not just in the original test month.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5321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No breakage across 4 years of data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86200" y="5550408"/>
            <a:ext cx="0" cy="649224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55321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Spot-checks across 2023–2026 show no NULL/broken rows or unexpected anomalies.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4 — Baseline Forecasting Dataset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Spot-Checked Across Four Years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7607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46304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0" y="1600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Cross-validation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0" y="19202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The July 2026 active count (642,534) lines up almost exactly with the 640,860 total independently confirmed in Task 3 — strong signal this number is trustworthy.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0" y="320040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0" y="3337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Alberta cutoff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0" y="365760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Every date before March 20, 2024 correctly shows “not yet available”; every date after correctly shows “available” — confirmed across 2023–2026, not just near the cutoff itself.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0" y="493776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EAF2EC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50292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</a:rPr>
              <a:t>Dataset is ready to serve as the forecasting model's input.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4 — Baseline Forecasting Dataset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From Here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146304" cy="146304"/>
          </a:xfrm>
          <a:prstGeom prst="ellipse">
            <a:avLst/>
          </a:prstGeom>
          <a:solidFill>
            <a:srgbClr val="3D8B8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Reconcile the small gap between the Task 3 (640,860) and Task 4 (642,534) active customer counts — confirm whether this is expected snapshot-timing variance or worth tightening.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46304" cy="146304"/>
          </a:xfrm>
          <a:prstGeom prst="ellipse">
            <a:avLst/>
          </a:prstGeom>
          <a:solidFill>
            <a:srgbClr val="3D8B8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4144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Decide on a refresh cadence for this dataset — rebuilt on a set schedule, or only rerun on demand.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38728"/>
            <a:ext cx="146304" cy="146304"/>
          </a:xfrm>
          <a:prstGeom prst="ellipse">
            <a:avLst/>
          </a:prstGeom>
          <a:solidFill>
            <a:srgbClr val="3D8B8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74136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Move the queue exclusion/reclassification list into a maintainable reference table, rather than hardcoded values in the query, so future updates don't require touching the SQL directly.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71416"/>
            <a:ext cx="146304" cy="146304"/>
          </a:xfrm>
          <a:prstGeom prst="ellipse">
            <a:avLst/>
          </a:prstGeom>
          <a:solidFill>
            <a:srgbClr val="3D8B8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06824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Confirm the rebuilt containment rate definition as final, so it doesn't need to be revisited again later.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404104"/>
            <a:ext cx="146304" cy="146304"/>
          </a:xfrm>
          <a:prstGeom prst="ellipse">
            <a:avLst/>
          </a:prstGeom>
          <a:solidFill>
            <a:srgbClr val="3D8B8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23951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Identify any other dashboards or reports currently using the old, uncorrected numbers that should be pointed at this dataset instead.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4 — Baseline Forecasting Dataset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2026-07-29T12:33:28Z</dcterms:created>
  <dcterms:modified xsi:type="dcterms:W3CDTF">2026-07-29T12:33:28Z</dcterms:modified>
</cp:coreProperties>
</file>