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A3A5C"/>
                </a:solidFill>
                <a:latin typeface="Arial"/>
              </a:defRPr>
            </a:pPr>
            <a:r>
              <a:rPr sz="1200" b="0" i="0" u="none" strike="noStrike">
                <a:solidFill>
                  <a:srgbClr val="1A3A5C"/>
                </a:solidFill>
                <a:latin typeface="Arial"/>
              </a:rPr>
              <a:t>Growth From Dataset Start to Today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Active Customers</c:v>
                </c:pt>
              </c:strCache>
            </c:strRef>
          </c:tx>
          <c:spPr>
            <a:solidFill>
              <a:srgbClr val="3D8B8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A3A5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Jul 2022</c:v>
                  </c:pt>
                  <c:pt idx="1">
                    <c:v>2023</c:v>
                  </c:pt>
                  <c:pt idx="2">
                    <c:v>2024</c:v>
                  </c:pt>
                  <c:pt idx="3">
                    <c:v>2025</c:v>
                  </c:pt>
                  <c:pt idx="4">
                    <c:v>Jul 2026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427540</c:v>
                </c:pt>
                <c:pt idx="1">
                  <c:v>482214</c:v>
                </c:pt>
                <c:pt idx="2">
                  <c:v>585688</c:v>
                </c:pt>
                <c:pt idx="3">
                  <c:v>626361</c:v>
                </c:pt>
                <c:pt idx="4">
                  <c:v>642534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A3A5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4444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DED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4444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92024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9FC1E0"/>
                </a:solidFill>
              </a:rPr>
              <a:t>TASK 4  ·  TEXAS RESIDENTIAL CARE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822960" y="2377440"/>
            <a:ext cx="10515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Baseline Forecasting Dataset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822960" y="34290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D6E4F0"/>
                </a:solidFill>
              </a:rPr>
              <a:t>A corrected, validated daily dataset — the input layer for future forecasting work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822960" y="4114800"/>
            <a:ext cx="2011680" cy="0"/>
          </a:xfrm>
          <a:prstGeom prst="line">
            <a:avLst/>
          </a:prstGeom>
          <a:noFill/>
          <a:ln w="38100">
            <a:solidFill>
              <a:srgbClr val="3D8B8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59893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C1E0"/>
                </a:solidFill>
              </a:rPr>
              <a:t>Momna Ali  ·  Associate Data Scientist  ·  South Mass Market &amp; Canada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22960" y="62636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C1E0"/>
                </a:solidFill>
              </a:rPr>
              <a:t>Prepared for Jonathan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C5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Was Built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64240" cy="841248"/>
          </a:xfrm>
          <a:prstGeom prst="roundRect">
            <a:avLst>
              <a:gd name="adj" fmla="val 7609"/>
            </a:avLst>
          </a:prstGeom>
          <a:solidFill>
            <a:srgbClr val="F5F6F7"/>
          </a:solidFill>
          <a:ln w="12700">
            <a:solidFill>
              <a:srgbClr val="E3E6E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856232"/>
            <a:ext cx="329184" cy="329184"/>
          </a:xfrm>
          <a:prstGeom prst="ellipse">
            <a:avLst/>
          </a:prstGeom>
          <a:solidFill>
            <a:srgbClr val="3E8E5A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85623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✓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234440" y="1673352"/>
            <a:ext cx="320040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3A5C"/>
                </a:solidFill>
              </a:rPr>
              <a:t>End-to-end pipeline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0" y="1673352"/>
            <a:ext cx="685800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</a:rPr>
              <a:t>All five original corrections now run as one connected query producing one row per day, not standalone pieces.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2514600"/>
            <a:ext cx="11064240" cy="841248"/>
          </a:xfrm>
          <a:prstGeom prst="roundRect">
            <a:avLst>
              <a:gd name="adj" fmla="val 7609"/>
            </a:avLst>
          </a:prstGeom>
          <a:solidFill>
            <a:srgbClr val="F5F6F7"/>
          </a:solidFill>
          <a:ln w="12700">
            <a:solidFill>
              <a:srgbClr val="E3E6E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2770632"/>
            <a:ext cx="329184" cy="329184"/>
          </a:xfrm>
          <a:prstGeom prst="ellipse">
            <a:avLst/>
          </a:prstGeom>
          <a:solidFill>
            <a:srgbClr val="3E8E5A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277063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✓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234440" y="2587752"/>
            <a:ext cx="320040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3A5C"/>
                </a:solidFill>
              </a:rPr>
              <a:t>Active customer count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72000" y="2587752"/>
            <a:ext cx="685800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</a:rPr>
              <a:t>New this round — added via an event-based net-change calculation, avoiding a slow per-day join against millions of rows.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48640" y="3429000"/>
            <a:ext cx="11064240" cy="841248"/>
          </a:xfrm>
          <a:prstGeom prst="roundRect">
            <a:avLst>
              <a:gd name="adj" fmla="val 7609"/>
            </a:avLst>
          </a:prstGeom>
          <a:solidFill>
            <a:srgbClr val="F5F6F7"/>
          </a:solidFill>
          <a:ln w="12700">
            <a:solidFill>
              <a:srgbClr val="E3E6E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3685032"/>
            <a:ext cx="329184" cy="329184"/>
          </a:xfrm>
          <a:prstGeom prst="ellipse">
            <a:avLst/>
          </a:prstGeom>
          <a:solidFill>
            <a:srgbClr val="3E8E5A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368503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✓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234440" y="3502152"/>
            <a:ext cx="320040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3A5C"/>
                </a:solidFill>
              </a:rPr>
              <a:t>Queue reclassification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572000" y="3502152"/>
            <a:ext cx="685800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</a:rPr>
              <a:t>New this round — applied Jonathan's confirmed list directly in the query.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48640" y="4343400"/>
            <a:ext cx="11064240" cy="841248"/>
          </a:xfrm>
          <a:prstGeom prst="roundRect">
            <a:avLst>
              <a:gd name="adj" fmla="val 7609"/>
            </a:avLst>
          </a:prstGeom>
          <a:solidFill>
            <a:srgbClr val="F5F6F7"/>
          </a:solidFill>
          <a:ln w="12700">
            <a:solidFill>
              <a:srgbClr val="E3E6E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31520" y="4599432"/>
            <a:ext cx="329184" cy="329184"/>
          </a:xfrm>
          <a:prstGeom prst="ellipse">
            <a:avLst/>
          </a:prstGeom>
          <a:solidFill>
            <a:srgbClr val="3E8E5A"/>
          </a:solidFill>
          <a:ln/>
        </p:spPr>
      </p:sp>
      <p:sp>
        <p:nvSpPr>
          <p:cNvPr id="21" name="Text 19"/>
          <p:cNvSpPr/>
          <p:nvPr/>
        </p:nvSpPr>
        <p:spPr>
          <a:xfrm>
            <a:off x="731520" y="459943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✓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234440" y="4416552"/>
            <a:ext cx="320040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3A5C"/>
                </a:solidFill>
              </a:rPr>
              <a:t>Full history covered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572000" y="4416552"/>
            <a:ext cx="685800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</a:rPr>
              <a:t>One row per day from July 2022 through today — not just a sample window.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48640" y="5257800"/>
            <a:ext cx="11064240" cy="841248"/>
          </a:xfrm>
          <a:prstGeom prst="roundRect">
            <a:avLst>
              <a:gd name="adj" fmla="val 7609"/>
            </a:avLst>
          </a:prstGeom>
          <a:solidFill>
            <a:srgbClr val="F5F6F7"/>
          </a:solidFill>
          <a:ln w="12700">
            <a:solidFill>
              <a:srgbClr val="E3E6E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31520" y="5513832"/>
            <a:ext cx="329184" cy="329184"/>
          </a:xfrm>
          <a:prstGeom prst="ellipse">
            <a:avLst/>
          </a:prstGeom>
          <a:solidFill>
            <a:srgbClr val="3E8E5A"/>
          </a:solidFill>
          <a:ln/>
        </p:spPr>
      </p:sp>
      <p:sp>
        <p:nvSpPr>
          <p:cNvPr id="26" name="Text 24"/>
          <p:cNvSpPr/>
          <p:nvPr/>
        </p:nvSpPr>
        <p:spPr>
          <a:xfrm>
            <a:off x="731520" y="551383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✓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234440" y="5330952"/>
            <a:ext cx="320040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3A5C"/>
                </a:solidFill>
              </a:rPr>
              <a:t>Validated across four years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4572000" y="5330952"/>
            <a:ext cx="685800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</a:rPr>
              <a:t>Spot-checked from 2023 through July 2026, not just the original test window.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48640" y="6492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</a:rPr>
              <a:t>Task 4 — Baseline Forecasting Dataset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C5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THIS ROUND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Customer Count: New Methodology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11064240" cy="1828800"/>
          </a:xfrm>
          <a:prstGeom prst="roundRect">
            <a:avLst>
              <a:gd name="adj" fmla="val 4000"/>
            </a:avLst>
          </a:prstGeom>
          <a:solidFill>
            <a:srgbClr val="F5F6F7"/>
          </a:solidFill>
          <a:ln w="12700">
            <a:solidFill>
              <a:srgbClr val="E3E6E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60020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3A5C"/>
                </a:solidFill>
              </a:rPr>
              <a:t>How it's calculated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1965960"/>
            <a:ext cx="10515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4444"/>
                </a:solidFill>
              </a:rPr>
              <a:t>Rather than counting the full customer table for every single day (too slow at this scale), the count is built from enrollment and cancellation events: a running baseline, adjusted up or down each day a customer's FlowStart or FlowEnd occurs. This is a genuinely new piece — the original corrections didn't include active customer count at all.</a:t>
            </a:r>
            <a:endParaRPr lang="en-US" sz="115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48640" y="3474720"/>
          <a:ext cx="658368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7406640" y="3474720"/>
            <a:ext cx="4206240" cy="2834640"/>
          </a:xfrm>
          <a:prstGeom prst="roundRect">
            <a:avLst>
              <a:gd name="adj" fmla="val 2581"/>
            </a:avLst>
          </a:prstGeom>
          <a:solidFill>
            <a:srgbClr val="EAF2EC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0" y="36118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E8E5A"/>
                </a:solidFill>
              </a:rPr>
              <a:t>Cross-validation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7680960" y="3977640"/>
            <a:ext cx="36576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</a:rPr>
              <a:t>Today's count (642,534) lines up almost exactly with the 640,860 total independently confirmed in Task 3 — two completely different queries, built for different purposes, landing within 0.3% of each other. Strong evidence this number is trustworthy.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548640" y="6492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</a:rPr>
              <a:t>Task 4 — Baseline Forecasting Dataset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C5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THIS ROUND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Queue Reclassification, Per Your Notes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5394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3A5C"/>
                </a:solidFill>
              </a:rPr>
              <a:t>Treat as Texas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929384"/>
            <a:ext cx="118872" cy="118872"/>
          </a:xfrm>
          <a:prstGeom prst="ellipse">
            <a:avLst/>
          </a:prstGeom>
          <a:solidFill>
            <a:srgbClr val="3E8E5A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819656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</a:rPr>
              <a:t>HEB Hotline South — ENG / SPA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2404872"/>
            <a:ext cx="118872" cy="118872"/>
          </a:xfrm>
          <a:prstGeom prst="ellipse">
            <a:avLst/>
          </a:prstGeom>
          <a:solidFill>
            <a:srgbClr val="3E8E5A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295144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</a:rPr>
              <a:t>Kroger Hotline South — ENG / SPA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2880360"/>
            <a:ext cx="118872" cy="118872"/>
          </a:xfrm>
          <a:prstGeom prst="ellipse">
            <a:avLst/>
          </a:prstGeom>
          <a:solidFill>
            <a:srgbClr val="3E8E5A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2770632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</a:rPr>
              <a:t>Sams Club Hotline South — ENG / SPA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3355848"/>
            <a:ext cx="118872" cy="118872"/>
          </a:xfrm>
          <a:prstGeom prst="ellipse">
            <a:avLst/>
          </a:prstGeom>
          <a:solidFill>
            <a:srgbClr val="3E8E5A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32461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</a:rPr>
              <a:t>OTC_Outbound_FCC_Consent (No / Yes_Active / SPA)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3831336"/>
            <a:ext cx="118872" cy="118872"/>
          </a:xfrm>
          <a:prstGeom prst="ellipse">
            <a:avLst/>
          </a:prstGeom>
          <a:solidFill>
            <a:srgbClr val="3E8E5A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3721608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</a:rPr>
              <a:t>DNPResidentialENG / DNPResidentialSPA — South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4306824"/>
            <a:ext cx="118872" cy="118872"/>
          </a:xfrm>
          <a:prstGeom prst="ellipse">
            <a:avLst/>
          </a:prstGeom>
          <a:solidFill>
            <a:srgbClr val="3E8E5A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4197096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</a:rPr>
              <a:t>ResiACQ Escalations ENG/SPA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48640" y="4782312"/>
            <a:ext cx="118872" cy="118872"/>
          </a:xfrm>
          <a:prstGeom prst="ellipse">
            <a:avLst/>
          </a:prstGeom>
          <a:solidFill>
            <a:srgbClr val="3E8E5A"/>
          </a:solidFill>
          <a:ln/>
        </p:spPr>
      </p:sp>
      <p:sp>
        <p:nvSpPr>
          <p:cNvPr id="18" name="Text 16"/>
          <p:cNvSpPr/>
          <p:nvPr/>
        </p:nvSpPr>
        <p:spPr>
          <a:xfrm>
            <a:off x="822960" y="4672584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</a:rPr>
              <a:t>RESI CS Prepaid transfer ENG / SPA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217920" y="1463040"/>
            <a:ext cx="5394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3A5C"/>
                </a:solidFill>
              </a:rPr>
              <a:t>Remove Entirely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217920" y="1929384"/>
            <a:ext cx="118872" cy="11887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21" name="Text 19"/>
          <p:cNvSpPr/>
          <p:nvPr/>
        </p:nvSpPr>
        <p:spPr>
          <a:xfrm>
            <a:off x="6492240" y="1819656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</a:rPr>
              <a:t>JustEnergy_Compliance_Eng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217920" y="2359152"/>
            <a:ext cx="118872" cy="11887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23" name="Text 21"/>
          <p:cNvSpPr/>
          <p:nvPr/>
        </p:nvSpPr>
        <p:spPr>
          <a:xfrm>
            <a:off x="6492240" y="2249424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</a:rPr>
              <a:t>Tara_Compliance_Eng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217920" y="2788920"/>
            <a:ext cx="118872" cy="11887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25" name="Text 23"/>
          <p:cNvSpPr/>
          <p:nvPr/>
        </p:nvSpPr>
        <p:spPr>
          <a:xfrm>
            <a:off x="6492240" y="2679192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</a:rPr>
              <a:t>Terrapass Enrollments ENG SPA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217920" y="3218688"/>
            <a:ext cx="118872" cy="11887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27" name="Text 25"/>
          <p:cNvSpPr/>
          <p:nvPr/>
        </p:nvSpPr>
        <p:spPr>
          <a:xfrm>
            <a:off x="6492240" y="31089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</a:rPr>
              <a:t>HudsonCommReAffEng-NewYork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217920" y="3648456"/>
            <a:ext cx="118872" cy="11887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29" name="Text 27"/>
          <p:cNvSpPr/>
          <p:nvPr/>
        </p:nvSpPr>
        <p:spPr>
          <a:xfrm>
            <a:off x="6492240" y="3538728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</a:rPr>
              <a:t>Default Route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217920" y="4078224"/>
            <a:ext cx="118872" cy="11887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1" name="Text 29"/>
          <p:cNvSpPr/>
          <p:nvPr/>
        </p:nvSpPr>
        <p:spPr>
          <a:xfrm>
            <a:off x="6492240" y="3968496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</a:rPr>
              <a:t>RoutingErrorFallbackQueue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217920" y="4507992"/>
            <a:ext cx="118872" cy="11887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3" name="Text 31"/>
          <p:cNvSpPr/>
          <p:nvPr/>
        </p:nvSpPr>
        <p:spPr>
          <a:xfrm>
            <a:off x="6492240" y="4398264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</a:rPr>
              <a:t>SharedPool / SharedPool_Spanish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217920" y="4937760"/>
            <a:ext cx="118872" cy="11887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5" name="Text 33"/>
          <p:cNvSpPr/>
          <p:nvPr/>
        </p:nvSpPr>
        <p:spPr>
          <a:xfrm>
            <a:off x="6492240" y="4828032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</a:rPr>
              <a:t>Pre Flow Retention SPA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6217920" y="5367528"/>
            <a:ext cx="118872" cy="11887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7" name="Text 35"/>
          <p:cNvSpPr/>
          <p:nvPr/>
        </p:nvSpPr>
        <p:spPr>
          <a:xfrm>
            <a:off x="6492240" y="525780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</a:rPr>
              <a:t>z_ResiCSENG-COVID19 (legacy)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548640" y="5532120"/>
            <a:ext cx="10881360" cy="777240"/>
          </a:xfrm>
          <a:prstGeom prst="roundRect">
            <a:avLst>
              <a:gd name="adj" fmla="val 9412"/>
            </a:avLst>
          </a:prstGeom>
          <a:solidFill>
            <a:srgbClr val="EAF2EC"/>
          </a:solidFill>
          <a:ln/>
        </p:spPr>
      </p:sp>
      <p:sp>
        <p:nvSpPr>
          <p:cNvPr id="39" name="Text 37"/>
          <p:cNvSpPr/>
          <p:nvPr/>
        </p:nvSpPr>
        <p:spPr>
          <a:xfrm>
            <a:off x="822960" y="5623560"/>
            <a:ext cx="10332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E8E5A"/>
                </a:solidFill>
              </a:rPr>
              <a:t>This is applied directly in the query — not a manual step. If new queues appear later, the exclusion list is a single place to update.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548640" y="6492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</a:rPr>
              <a:t>Task 4 — Baseline Forecasting Dataset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C5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Holds Up Across Four Years, Not Just the Test Window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64240" cy="1005840"/>
          </a:xfrm>
          <a:prstGeom prst="roundRect">
            <a:avLst>
              <a:gd name="adj" fmla="val 6364"/>
            </a:avLst>
          </a:prstGeom>
          <a:solidFill>
            <a:srgbClr val="F5F6F7"/>
          </a:solidFill>
          <a:ln w="12700">
            <a:solidFill>
              <a:srgbClr val="E3E6E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691640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3A5C"/>
                </a:solidFill>
              </a:rPr>
              <a:t>No breakage, 2023–2026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931920" y="1709928"/>
            <a:ext cx="0" cy="786384"/>
          </a:xfrm>
          <a:prstGeom prst="line">
            <a:avLst/>
          </a:prstGeom>
          <a:noFill/>
          <a:ln w="12700">
            <a:solidFill>
              <a:srgbClr val="D0D5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60520" y="1691640"/>
            <a:ext cx="7223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</a:rPr>
              <a:t>Spot-checked dates across the full history — no NULL/broken rows, no unexpected anomalies at any point tested.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2697480"/>
            <a:ext cx="11064240" cy="1005840"/>
          </a:xfrm>
          <a:prstGeom prst="roundRect">
            <a:avLst>
              <a:gd name="adj" fmla="val 6364"/>
            </a:avLst>
          </a:prstGeom>
          <a:solidFill>
            <a:srgbClr val="F5F6F7"/>
          </a:solidFill>
          <a:ln w="12700">
            <a:solidFill>
              <a:srgbClr val="E3E6E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788920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3A5C"/>
                </a:solidFill>
              </a:rPr>
              <a:t>Holiday flag accurate every year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931920" y="2807208"/>
            <a:ext cx="0" cy="786384"/>
          </a:xfrm>
          <a:prstGeom prst="line">
            <a:avLst/>
          </a:prstGeom>
          <a:noFill/>
          <a:ln w="12700">
            <a:solidFill>
              <a:srgbClr val="D0D5D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160520" y="2788920"/>
            <a:ext cx="7223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</a:rPr>
              <a:t>July 4, Dec 25, and Jan 1 correctly flag as holidays every single year from 2022 through 2026, not just in the original test month.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3794760"/>
            <a:ext cx="11064240" cy="1005840"/>
          </a:xfrm>
          <a:prstGeom prst="roundRect">
            <a:avLst>
              <a:gd name="adj" fmla="val 6364"/>
            </a:avLst>
          </a:prstGeom>
          <a:solidFill>
            <a:srgbClr val="F5F6F7"/>
          </a:solidFill>
          <a:ln w="12700">
            <a:solidFill>
              <a:srgbClr val="E3E6E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3886200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3A5C"/>
                </a:solidFill>
              </a:rPr>
              <a:t>Active count grows smoothly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931920" y="3904488"/>
            <a:ext cx="0" cy="786384"/>
          </a:xfrm>
          <a:prstGeom prst="line">
            <a:avLst/>
          </a:prstGeom>
          <a:noFill/>
          <a:ln w="12700">
            <a:solidFill>
              <a:srgbClr val="D0D5D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160520" y="3886200"/>
            <a:ext cx="7223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</a:rPr>
              <a:t>No sudden jumps or drops in active customer count at any point — consistent with genuine, steady enrollment growth rather than a data gap.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4892040"/>
            <a:ext cx="11064240" cy="1005840"/>
          </a:xfrm>
          <a:prstGeom prst="roundRect">
            <a:avLst>
              <a:gd name="adj" fmla="val 6364"/>
            </a:avLst>
          </a:prstGeom>
          <a:solidFill>
            <a:srgbClr val="F5F6F7"/>
          </a:solidFill>
          <a:ln w="12700">
            <a:solidFill>
              <a:srgbClr val="E3E6E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4983480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3A5C"/>
                </a:solidFill>
              </a:rPr>
              <a:t>Pipeline runs end-to-end without manual steps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931920" y="5001768"/>
            <a:ext cx="0" cy="786384"/>
          </a:xfrm>
          <a:prstGeom prst="line">
            <a:avLst/>
          </a:prstGeom>
          <a:noFill/>
          <a:ln w="12700">
            <a:solidFill>
              <a:srgbClr val="D0D5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160520" y="4983480"/>
            <a:ext cx="7223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</a:rPr>
              <a:t>All five corrections, the new active count, and the queue reclassification all execute as one connected query — nothing needs to be run or patched separately.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48640" y="6492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</a:rPr>
              <a:t>Task 4 — Baseline Forecasting Dataset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C5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This Goes From Here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673352"/>
            <a:ext cx="146304" cy="146304"/>
          </a:xfrm>
          <a:prstGeom prst="ellipse">
            <a:avLst/>
          </a:prstGeom>
          <a:solidFill>
            <a:srgbClr val="3D8B8B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508760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</a:rPr>
              <a:t>Reconcile the small gap between the Task 3 (640,860) and Task 4 (642,534) active customer counts — confirm whether this is expected snapshot-timing variance or worth tightening.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2606040"/>
            <a:ext cx="146304" cy="146304"/>
          </a:xfrm>
          <a:prstGeom prst="ellipse">
            <a:avLst/>
          </a:prstGeom>
          <a:solidFill>
            <a:srgbClr val="3D8B8B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441448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</a:rPr>
              <a:t>Decide on a refresh cadence for this dataset — rebuilt on a set schedule, or only rerun on demand.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3538728"/>
            <a:ext cx="146304" cy="146304"/>
          </a:xfrm>
          <a:prstGeom prst="ellipse">
            <a:avLst/>
          </a:prstGeom>
          <a:solidFill>
            <a:srgbClr val="3D8B8B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3374136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</a:rPr>
              <a:t>Move the queue exclusion/reclassification list into a maintainable reference table, rather than hardcoded values in the query, so future updates don't require touching the SQL directly.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4471416"/>
            <a:ext cx="146304" cy="146304"/>
          </a:xfrm>
          <a:prstGeom prst="ellipse">
            <a:avLst/>
          </a:prstGeom>
          <a:solidFill>
            <a:srgbClr val="3D8B8B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4306824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</a:rPr>
              <a:t>Confirm the rebuilt containment rate definition as final, so it doesn't need to be revisited again later.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5404104"/>
            <a:ext cx="146304" cy="146304"/>
          </a:xfrm>
          <a:prstGeom prst="ellipse">
            <a:avLst/>
          </a:prstGeom>
          <a:solidFill>
            <a:srgbClr val="3D8B8B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5239512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</a:rPr>
              <a:t>Identify any other dashboards or reports currently using the old, uncorrected numbers that should be pointed at this dataset instead.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48640" y="6492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</a:rPr>
              <a:t>Task 4 — Baseline Forecasting Dataset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2026-07-29T12:47:26Z</dcterms:created>
  <dcterms:modified xsi:type="dcterms:W3CDTF">2026-07-29T12:47:26Z</dcterms:modified>
</cp:coreProperties>
</file>