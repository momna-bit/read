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822960" y="2194560"/>
            <a:ext cx="10515600" cy="1005840"/>
          </a:xfrm>
          <a:prstGeom prst="rect">
            <a:avLst/>
          </a:prstGeom>
          <a:noFill/>
          <a:ln/>
        </p:spPr>
        <p:txBody>
          <a:bodyPr wrap="square" rtlCol="0" anchor="ctr"/>
          <a:lstStyle/>
          <a:p>
            <a:pPr indent="0" marL="0">
              <a:lnSpc>
                <a:spcPct val="115000"/>
              </a:lnSpc>
              <a:buNone/>
            </a:pPr>
            <a:r>
              <a:rPr lang="en-US" sz="3200" b="1" spc="100" kern="0" dirty="0">
                <a:solidFill>
                  <a:srgbClr val="FFFFFF"/>
                </a:solidFill>
                <a:latin typeface="Calibri" pitchFamily="34" charset="0"/>
                <a:ea typeface="Calibri" pitchFamily="34" charset="-122"/>
                <a:cs typeface="Calibri" pitchFamily="34" charset="-120"/>
              </a:rPr>
              <a:t>PROACTIVE USAGE &amp; BILL SHOCK ALERT MODEL</a:t>
            </a:r>
            <a:endParaRPr lang="en-US" sz="3200" dirty="0"/>
          </a:p>
        </p:txBody>
      </p:sp>
      <p:sp>
        <p:nvSpPr>
          <p:cNvPr id="3" name="Text 1"/>
          <p:cNvSpPr/>
          <p:nvPr/>
        </p:nvSpPr>
        <p:spPr>
          <a:xfrm>
            <a:off x="822960" y="3291840"/>
            <a:ext cx="10241280" cy="731520"/>
          </a:xfrm>
          <a:prstGeom prst="rect">
            <a:avLst/>
          </a:prstGeom>
          <a:noFill/>
          <a:ln/>
        </p:spPr>
        <p:txBody>
          <a:bodyPr wrap="square" rtlCol="0" anchor="ctr"/>
          <a:lstStyle/>
          <a:p>
            <a:pPr indent="0" marL="0">
              <a:lnSpc>
                <a:spcPct val="120000"/>
              </a:lnSpc>
              <a:buNone/>
            </a:pPr>
            <a:r>
              <a:rPr lang="en-US" sz="1600" dirty="0">
                <a:solidFill>
                  <a:srgbClr val="BFD3E0"/>
                </a:solidFill>
                <a:latin typeface="Calibri" pitchFamily="34" charset="0"/>
                <a:ea typeface="Calibri" pitchFamily="34" charset="-122"/>
                <a:cs typeface="Calibri" pitchFamily="34" charset="-120"/>
              </a:rPr>
              <a:t>Moving beyond “who's likely to call” toward catching bill shock before it happens — for callers and non-callers alike</a:t>
            </a:r>
            <a:endParaRPr lang="en-US" sz="1600" dirty="0"/>
          </a:p>
        </p:txBody>
      </p:sp>
      <p:sp>
        <p:nvSpPr>
          <p:cNvPr id="4" name="Shape 2"/>
          <p:cNvSpPr/>
          <p:nvPr/>
        </p:nvSpPr>
        <p:spPr>
          <a:xfrm>
            <a:off x="822960" y="4114800"/>
            <a:ext cx="502920" cy="54864"/>
          </a:xfrm>
          <a:prstGeom prst="rect">
            <a:avLst/>
          </a:prstGeom>
          <a:solidFill>
            <a:srgbClr val="0F6E6E"/>
          </a:solidFill>
          <a:ln/>
        </p:spPr>
      </p:sp>
      <p:sp>
        <p:nvSpPr>
          <p:cNvPr id="5" name="Text 3"/>
          <p:cNvSpPr/>
          <p:nvPr/>
        </p:nvSpPr>
        <p:spPr>
          <a:xfrm>
            <a:off x="822960" y="4297680"/>
            <a:ext cx="9144000" cy="365760"/>
          </a:xfrm>
          <a:prstGeom prst="rect">
            <a:avLst/>
          </a:prstGeom>
          <a:noFill/>
          <a:ln/>
        </p:spPr>
        <p:txBody>
          <a:bodyPr wrap="square" rtlCol="0" anchor="ctr"/>
          <a:lstStyle/>
          <a:p>
            <a:pPr indent="0" marL="0">
              <a:buNone/>
            </a:pPr>
            <a:r>
              <a:rPr lang="en-US" sz="1300" dirty="0">
                <a:solidFill>
                  <a:srgbClr val="8FA6BA"/>
                </a:solidFill>
                <a:latin typeface="Calibri" pitchFamily="34" charset="0"/>
                <a:ea typeface="Calibri" pitchFamily="34" charset="-122"/>
                <a:cs typeface="Calibri" pitchFamily="34" charset="-120"/>
              </a:rPr>
              <a:t>South Mass Market &amp; Canada  •  Texas Residential</a:t>
            </a:r>
            <a:endParaRPr lang="en-US" sz="1300" dirty="0"/>
          </a:p>
        </p:txBody>
      </p:sp>
      <p:sp>
        <p:nvSpPr>
          <p:cNvPr id="6" name="Text 4"/>
          <p:cNvSpPr/>
          <p:nvPr/>
        </p:nvSpPr>
        <p:spPr>
          <a:xfrm>
            <a:off x="822960" y="5989320"/>
            <a:ext cx="7315200" cy="320040"/>
          </a:xfrm>
          <a:prstGeom prst="rect">
            <a:avLst/>
          </a:prstGeom>
          <a:noFill/>
          <a:ln/>
        </p:spPr>
        <p:txBody>
          <a:bodyPr wrap="square" rtlCol="0" anchor="ctr"/>
          <a:lstStyle/>
          <a:p>
            <a:pPr indent="0" marL="0">
              <a:buNone/>
            </a:pPr>
            <a:r>
              <a:rPr lang="en-US" sz="1200" dirty="0">
                <a:solidFill>
                  <a:srgbClr val="8FA6BA"/>
                </a:solidFill>
                <a:latin typeface="Calibri" pitchFamily="34" charset="0"/>
                <a:ea typeface="Calibri" pitchFamily="34" charset="-122"/>
                <a:cs typeface="Calibri" pitchFamily="34" charset="-120"/>
              </a:rPr>
              <a:t>Prepared by Momna Ali  •  Prepared for Jonathan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indent="0" marL="0">
              <a:buNone/>
            </a:pPr>
            <a:r>
              <a:rPr lang="en-US" sz="2600" b="1" dirty="0">
                <a:solidFill>
                  <a:srgbClr val="1B2A41"/>
                </a:solidFill>
                <a:latin typeface="Calibri" pitchFamily="34" charset="0"/>
                <a:ea typeface="Calibri" pitchFamily="34" charset="-122"/>
                <a:cs typeface="Calibri" pitchFamily="34" charset="-120"/>
              </a:rPr>
              <a:t>The Ask &amp; Our Approach</a:t>
            </a:r>
            <a:endParaRPr lang="en-US" sz="2600" dirty="0"/>
          </a:p>
        </p:txBody>
      </p:sp>
      <p:sp>
        <p:nvSpPr>
          <p:cNvPr id="3" name="Text 1"/>
          <p:cNvSpPr/>
          <p:nvPr/>
        </p:nvSpPr>
        <p:spPr>
          <a:xfrm>
            <a:off x="548640" y="1463040"/>
            <a:ext cx="5394960" cy="365760"/>
          </a:xfrm>
          <a:prstGeom prst="rect">
            <a:avLst/>
          </a:prstGeom>
          <a:noFill/>
          <a:ln/>
        </p:spPr>
        <p:txBody>
          <a:bodyPr wrap="square"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What Jonathan Asked For</a:t>
            </a:r>
            <a:endParaRPr lang="en-US" sz="1500" dirty="0"/>
          </a:p>
        </p:txBody>
      </p:sp>
      <p:sp>
        <p:nvSpPr>
          <p:cNvPr id="4" name="Text 2"/>
          <p:cNvSpPr/>
          <p:nvPr/>
        </p:nvSpPr>
        <p:spPr>
          <a:xfrm>
            <a:off x="548640" y="1874520"/>
            <a:ext cx="5394960" cy="2011680"/>
          </a:xfrm>
          <a:prstGeom prst="rect">
            <a:avLst/>
          </a:prstGeom>
          <a:noFill/>
          <a:ln/>
        </p:spPr>
        <p:txBody>
          <a:bodyPr wrap="square" rtlCol="0" anchor="ctr"/>
          <a:lstStyle/>
          <a:p>
            <a:pPr indent="0" marL="0">
              <a:lnSpc>
                <a:spcPct val="125000"/>
              </a:lnSpc>
              <a:buNone/>
            </a:pPr>
            <a:r>
              <a:rPr lang="en-US" sz="1250" dirty="0">
                <a:solidFill>
                  <a:srgbClr val="3C3C3C"/>
                </a:solidFill>
                <a:latin typeface="Calibri" pitchFamily="34" charset="0"/>
                <a:ea typeface="Calibri" pitchFamily="34" charset="-122"/>
                <a:cs typeface="Calibri" pitchFamily="34" charset="-120"/>
              </a:rPr>
              <a:t>Start with the 24,878 bill-explanation/dispute callers. For each, calculate — as separate, not combined — fields: dollar bill increase, percent bill increase, usage increase per day of the service period, credit score, and tenure. Then compare against customers who didn't call, to find what actually distinguishes the two groups.</a:t>
            </a:r>
            <a:endParaRPr lang="en-US" sz="1250" dirty="0"/>
          </a:p>
        </p:txBody>
      </p:sp>
      <p:sp>
        <p:nvSpPr>
          <p:cNvPr id="5" name="Text 3"/>
          <p:cNvSpPr/>
          <p:nvPr/>
        </p:nvSpPr>
        <p:spPr>
          <a:xfrm>
            <a:off x="6263640" y="1463040"/>
            <a:ext cx="5349240" cy="365760"/>
          </a:xfrm>
          <a:prstGeom prst="rect">
            <a:avLst/>
          </a:prstGeom>
          <a:noFill/>
          <a:ln/>
        </p:spPr>
        <p:txBody>
          <a:bodyPr wrap="square" rtlCol="0" anchor="ctr"/>
          <a:lstStyle/>
          <a:p>
            <a:pPr indent="0" marL="0">
              <a:buNone/>
            </a:pPr>
            <a:r>
              <a:rPr lang="en-US" sz="1500" b="1" dirty="0">
                <a:solidFill>
                  <a:srgbClr val="1B2A41"/>
                </a:solidFill>
                <a:latin typeface="Calibri" pitchFamily="34" charset="0"/>
                <a:ea typeface="Calibri" pitchFamily="34" charset="-122"/>
                <a:cs typeface="Calibri" pitchFamily="34" charset="-120"/>
              </a:rPr>
              <a:t>How We Built It</a:t>
            </a:r>
            <a:endParaRPr lang="en-US" sz="1500" dirty="0"/>
          </a:p>
        </p:txBody>
      </p:sp>
      <p:sp>
        <p:nvSpPr>
          <p:cNvPr id="6" name="Text 4"/>
          <p:cNvSpPr/>
          <p:nvPr/>
        </p:nvSpPr>
        <p:spPr>
          <a:xfrm>
            <a:off x="6263640" y="1874520"/>
            <a:ext cx="5349240" cy="640080"/>
          </a:xfrm>
          <a:prstGeom prst="rect">
            <a:avLst/>
          </a:prstGeom>
          <a:noFill/>
          <a:ln/>
        </p:spPr>
        <p:txBody>
          <a:bodyPr wrap="square" rtlCol="0" anchor="ctr"/>
          <a:lstStyle/>
          <a:p>
            <a:pPr indent="0" marL="0">
              <a:lnSpc>
                <a:spcPct val="120000"/>
              </a:lnSpc>
              <a:buNone/>
            </a:pPr>
            <a:r>
              <a:rPr lang="en-US" sz="1200" dirty="0">
                <a:solidFill>
                  <a:srgbClr val="3C3C3C"/>
                </a:solidFill>
                <a:latin typeface="Calibri" pitchFamily="34" charset="0"/>
                <a:ea typeface="Calibri" pitchFamily="34" charset="-122"/>
                <a:cs typeface="Calibri" pitchFamily="34" charset="-120"/>
              </a:rPr>
              <a:t>•  Personal baseline: each customer's own trailing 12 bills, not a population average</a:t>
            </a:r>
            <a:endParaRPr lang="en-US" sz="1200" dirty="0"/>
          </a:p>
        </p:txBody>
      </p:sp>
      <p:sp>
        <p:nvSpPr>
          <p:cNvPr id="7" name="Text 5"/>
          <p:cNvSpPr/>
          <p:nvPr/>
        </p:nvSpPr>
        <p:spPr>
          <a:xfrm>
            <a:off x="6263640" y="2532888"/>
            <a:ext cx="5349240" cy="640080"/>
          </a:xfrm>
          <a:prstGeom prst="rect">
            <a:avLst/>
          </a:prstGeom>
          <a:noFill/>
          <a:ln/>
        </p:spPr>
        <p:txBody>
          <a:bodyPr wrap="square" rtlCol="0" anchor="ctr"/>
          <a:lstStyle/>
          <a:p>
            <a:pPr indent="0" marL="0">
              <a:lnSpc>
                <a:spcPct val="120000"/>
              </a:lnSpc>
              <a:buNone/>
            </a:pPr>
            <a:r>
              <a:rPr lang="en-US" sz="1200" dirty="0">
                <a:solidFill>
                  <a:srgbClr val="3C3C3C"/>
                </a:solidFill>
                <a:latin typeface="Calibri" pitchFamily="34" charset="0"/>
                <a:ea typeface="Calibri" pitchFamily="34" charset="-122"/>
                <a:cs typeface="Calibri" pitchFamily="34" charset="-120"/>
              </a:rPr>
              <a:t>•  Confidence tiers: flagged customers with fewer prior bills (short tenure) separately, since their baselines are less reliable</a:t>
            </a:r>
            <a:endParaRPr lang="en-US" sz="1200" dirty="0"/>
          </a:p>
        </p:txBody>
      </p:sp>
      <p:sp>
        <p:nvSpPr>
          <p:cNvPr id="8" name="Text 6"/>
          <p:cNvSpPr/>
          <p:nvPr/>
        </p:nvSpPr>
        <p:spPr>
          <a:xfrm>
            <a:off x="6263640" y="3191256"/>
            <a:ext cx="5349240" cy="640080"/>
          </a:xfrm>
          <a:prstGeom prst="rect">
            <a:avLst/>
          </a:prstGeom>
          <a:noFill/>
          <a:ln/>
        </p:spPr>
        <p:txBody>
          <a:bodyPr wrap="square" rtlCol="0" anchor="ctr"/>
          <a:lstStyle/>
          <a:p>
            <a:pPr indent="0" marL="0">
              <a:lnSpc>
                <a:spcPct val="120000"/>
              </a:lnSpc>
              <a:buNone/>
            </a:pPr>
            <a:r>
              <a:rPr lang="en-US" sz="1200" dirty="0">
                <a:solidFill>
                  <a:srgbClr val="3C3C3C"/>
                </a:solidFill>
                <a:latin typeface="Calibri" pitchFamily="34" charset="0"/>
                <a:ea typeface="Calibri" pitchFamily="34" charset="-122"/>
                <a:cs typeface="Calibri" pitchFamily="34" charset="-120"/>
              </a:rPr>
              <a:t>•  Outlier handling: used medians alongside averages, since a small number of extreme cases distorted raw averages</a:t>
            </a:r>
            <a:endParaRPr lang="en-US" sz="1200" dirty="0"/>
          </a:p>
        </p:txBody>
      </p:sp>
      <p:sp>
        <p:nvSpPr>
          <p:cNvPr id="9" name="Shape 7"/>
          <p:cNvSpPr/>
          <p:nvPr/>
        </p:nvSpPr>
        <p:spPr>
          <a:xfrm>
            <a:off x="548640" y="4526280"/>
            <a:ext cx="11064240" cy="1417320"/>
          </a:xfrm>
          <a:prstGeom prst="roundRect">
            <a:avLst>
              <a:gd name="adj" fmla="val 5161"/>
            </a:avLst>
          </a:prstGeom>
          <a:solidFill>
            <a:srgbClr val="F7F8FA"/>
          </a:solidFill>
          <a:ln/>
        </p:spPr>
      </p:sp>
      <p:sp>
        <p:nvSpPr>
          <p:cNvPr id="10" name="Text 8"/>
          <p:cNvSpPr/>
          <p:nvPr/>
        </p:nvSpPr>
        <p:spPr>
          <a:xfrm>
            <a:off x="822960" y="4690872"/>
            <a:ext cx="1828800" cy="365760"/>
          </a:xfrm>
          <a:prstGeom prst="rect">
            <a:avLst/>
          </a:prstGeom>
          <a:noFill/>
          <a:ln/>
        </p:spPr>
        <p:txBody>
          <a:bodyPr wrap="square" rtlCol="0" anchor="ctr"/>
          <a:lstStyle/>
          <a:p>
            <a:pPr indent="0" marL="0">
              <a:buNone/>
            </a:pPr>
            <a:r>
              <a:rPr lang="en-US" sz="1300" b="1" dirty="0">
                <a:solidFill>
                  <a:srgbClr val="0F6E6E"/>
                </a:solidFill>
                <a:latin typeface="Calibri" pitchFamily="34" charset="0"/>
                <a:ea typeface="Calibri" pitchFamily="34" charset="-122"/>
                <a:cs typeface="Calibri" pitchFamily="34" charset="-120"/>
              </a:rPr>
              <a:t>The goal:</a:t>
            </a:r>
            <a:endParaRPr lang="en-US" sz="1300" dirty="0"/>
          </a:p>
        </p:txBody>
      </p:sp>
      <p:sp>
        <p:nvSpPr>
          <p:cNvPr id="11" name="Text 9"/>
          <p:cNvSpPr/>
          <p:nvPr/>
        </p:nvSpPr>
        <p:spPr>
          <a:xfrm>
            <a:off x="822960" y="5029200"/>
            <a:ext cx="10332720" cy="822960"/>
          </a:xfrm>
          <a:prstGeom prst="rect">
            <a:avLst/>
          </a:prstGeom>
          <a:noFill/>
          <a:ln/>
        </p:spPr>
        <p:txBody>
          <a:bodyPr wrap="square" rtlCol="0" anchor="ctr"/>
          <a:lstStyle/>
          <a:p>
            <a:pPr indent="0" marL="0">
              <a:lnSpc>
                <a:spcPct val="125000"/>
              </a:lnSpc>
              <a:buNone/>
            </a:pPr>
            <a:r>
              <a:rPr lang="en-US" sz="1300" dirty="0">
                <a:solidFill>
                  <a:srgbClr val="3C3C3C"/>
                </a:solidFill>
                <a:latin typeface="Calibri" pitchFamily="34" charset="0"/>
                <a:ea typeface="Calibri" pitchFamily="34" charset="-122"/>
                <a:cs typeface="Calibri" pitchFamily="34" charset="-120"/>
              </a:rPr>
              <a:t>Identify customers trending toward a bill shock early enough to alert them — before the bill lands — so they can adjust usage and avoid it, whether or not they'd ever have called about it.</a:t>
            </a:r>
            <a:endParaRPr lang="en-US" sz="1300" dirty="0"/>
          </a:p>
        </p:txBody>
      </p:sp>
      <p:sp>
        <p:nvSpPr>
          <p:cNvPr id="12" name="Text 10"/>
          <p:cNvSpPr/>
          <p:nvPr/>
        </p:nvSpPr>
        <p:spPr>
          <a:xfrm>
            <a:off x="457200" y="6519672"/>
            <a:ext cx="8229600" cy="274320"/>
          </a:xfrm>
          <a:prstGeom prst="rect">
            <a:avLst/>
          </a:prstGeom>
          <a:noFill/>
          <a:ln/>
        </p:spPr>
        <p:txBody>
          <a:bodyPr wrap="square" rtlCol="0" anchor="ctr"/>
          <a:lstStyle/>
          <a:p>
            <a:pPr indent="0" marL="0">
              <a:buNone/>
            </a:pPr>
            <a:r>
              <a:rPr lang="en-US" sz="900" dirty="0">
                <a:solidFill>
                  <a:srgbClr val="9AA5B1"/>
                </a:solidFill>
                <a:latin typeface="Calibri" pitchFamily="34" charset="0"/>
                <a:ea typeface="Calibri" pitchFamily="34" charset="-122"/>
                <a:cs typeface="Calibri" pitchFamily="34" charset="-120"/>
              </a:rPr>
              <a:t>Task 7: Proactive Usage &amp; Bill Shock Alert Model</a:t>
            </a:r>
            <a:endParaRPr lang="en-US" sz="900" dirty="0"/>
          </a:p>
        </p:txBody>
      </p:sp>
      <p:sp>
        <p:nvSpPr>
          <p:cNvPr id="13" name="Text 11"/>
          <p:cNvSpPr/>
          <p:nvPr/>
        </p:nvSpPr>
        <p:spPr>
          <a:xfrm>
            <a:off x="10820095" y="6519672"/>
            <a:ext cx="914400" cy="274320"/>
          </a:xfrm>
          <a:prstGeom prst="rect">
            <a:avLst/>
          </a:prstGeom>
          <a:noFill/>
          <a:ln/>
        </p:spPr>
        <p:txBody>
          <a:bodyPr wrap="square"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indent="0" marL="0">
              <a:buNone/>
            </a:pPr>
            <a:r>
              <a:rPr lang="en-US" sz="2600" b="1" dirty="0">
                <a:solidFill>
                  <a:srgbClr val="1B2A41"/>
                </a:solidFill>
                <a:latin typeface="Calibri" pitchFamily="34" charset="0"/>
                <a:ea typeface="Calibri" pitchFamily="34" charset="-122"/>
                <a:cs typeface="Calibri" pitchFamily="34" charset="-120"/>
              </a:rPr>
              <a:t>What We Caught Along the Way</a:t>
            </a:r>
            <a:endParaRPr lang="en-US" sz="2600" dirty="0"/>
          </a:p>
        </p:txBody>
      </p:sp>
      <p:sp>
        <p:nvSpPr>
          <p:cNvPr id="3" name="Text 1"/>
          <p:cNvSpPr/>
          <p:nvPr/>
        </p:nvSpPr>
        <p:spPr>
          <a:xfrm>
            <a:off x="548640" y="960120"/>
            <a:ext cx="11064240" cy="457200"/>
          </a:xfrm>
          <a:prstGeom prst="rect">
            <a:avLst/>
          </a:prstGeom>
          <a:noFill/>
          <a:ln/>
        </p:spPr>
        <p:txBody>
          <a:bodyPr wrap="square" rtlCol="0" anchor="ctr"/>
          <a:lstStyle/>
          <a:p>
            <a:pPr indent="0" marL="0">
              <a:buNone/>
            </a:pPr>
            <a:r>
              <a:rPr lang="en-US" sz="1350" dirty="0">
                <a:solidFill>
                  <a:srgbClr val="44546A"/>
                </a:solidFill>
                <a:latin typeface="Calibri" pitchFamily="34" charset="0"/>
                <a:ea typeface="Calibri" pitchFamily="34" charset="-122"/>
                <a:cs typeface="Calibri" pitchFamily="34" charset="-120"/>
              </a:rPr>
              <a:t>Two real issues found and fixed before trusting any number</a:t>
            </a:r>
            <a:endParaRPr lang="en-US" sz="1350" dirty="0"/>
          </a:p>
        </p:txBody>
      </p:sp>
      <p:sp>
        <p:nvSpPr>
          <p:cNvPr id="4" name="Shape 2"/>
          <p:cNvSpPr/>
          <p:nvPr/>
        </p:nvSpPr>
        <p:spPr>
          <a:xfrm>
            <a:off x="609448" y="1691640"/>
            <a:ext cx="5257800" cy="4160520"/>
          </a:xfrm>
          <a:prstGeom prst="roundRect">
            <a:avLst>
              <a:gd name="adj" fmla="val 1758"/>
            </a:avLst>
          </a:prstGeom>
          <a:solidFill>
            <a:srgbClr val="F7F8FA"/>
          </a:solidFill>
          <a:ln/>
          <a:effectLst>
            <a:outerShdw sx="100000" sy="100000" kx="0" ky="0" algn="bl" rotWithShape="0" blurRad="101600" dist="25400" dir="5400000">
              <a:srgbClr val="000000">
                <a:alpha val="15000"/>
              </a:srgbClr>
            </a:outerShdw>
          </a:effectLst>
        </p:spPr>
      </p:sp>
      <p:sp>
        <p:nvSpPr>
          <p:cNvPr id="5" name="Shape 3"/>
          <p:cNvSpPr/>
          <p:nvPr/>
        </p:nvSpPr>
        <p:spPr>
          <a:xfrm>
            <a:off x="929488" y="1984248"/>
            <a:ext cx="457200" cy="54864"/>
          </a:xfrm>
          <a:prstGeom prst="rect">
            <a:avLst/>
          </a:prstGeom>
          <a:solidFill>
            <a:srgbClr val="C77B12"/>
          </a:solidFill>
          <a:ln/>
        </p:spPr>
      </p:sp>
      <p:sp>
        <p:nvSpPr>
          <p:cNvPr id="6" name="Text 4"/>
          <p:cNvSpPr/>
          <p:nvPr/>
        </p:nvSpPr>
        <p:spPr>
          <a:xfrm>
            <a:off x="929488" y="2148840"/>
            <a:ext cx="4617720" cy="548640"/>
          </a:xfrm>
          <a:prstGeom prst="rect">
            <a:avLst/>
          </a:prstGeom>
          <a:noFill/>
          <a:ln/>
        </p:spPr>
        <p:txBody>
          <a:bodyPr wrap="square" rtlCol="0" anchor="ctr"/>
          <a:lstStyle/>
          <a:p>
            <a:pPr indent="0" marL="0">
              <a:buNone/>
            </a:pPr>
            <a:r>
              <a:rPr lang="en-US" sz="1550" b="1" dirty="0">
                <a:solidFill>
                  <a:srgbClr val="1B2A41"/>
                </a:solidFill>
                <a:latin typeface="Calibri" pitchFamily="34" charset="0"/>
                <a:ea typeface="Calibri" pitchFamily="34" charset="-122"/>
                <a:cs typeface="Calibri" pitchFamily="34" charset="-120"/>
              </a:rPr>
              <a:t>1. Wrong Field for “Most Recent Bill”</a:t>
            </a:r>
            <a:endParaRPr lang="en-US" sz="1550" dirty="0"/>
          </a:p>
        </p:txBody>
      </p:sp>
      <p:sp>
        <p:nvSpPr>
          <p:cNvPr id="7" name="Text 5"/>
          <p:cNvSpPr/>
          <p:nvPr/>
        </p:nvSpPr>
        <p:spPr>
          <a:xfrm>
            <a:off x="929488" y="2788920"/>
            <a:ext cx="4617720" cy="960120"/>
          </a:xfrm>
          <a:prstGeom prst="rect">
            <a:avLst/>
          </a:prstGeom>
          <a:noFill/>
          <a:ln/>
        </p:spPr>
        <p:txBody>
          <a:bodyPr wrap="square"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  First attempt ranked each customer's bills using the BillOrder field, assuming 1 = most recent.</a:t>
            </a:r>
            <a:endParaRPr lang="en-US" sz="1150" dirty="0"/>
          </a:p>
        </p:txBody>
      </p:sp>
      <p:sp>
        <p:nvSpPr>
          <p:cNvPr id="8" name="Text 6"/>
          <p:cNvSpPr/>
          <p:nvPr/>
        </p:nvSpPr>
        <p:spPr>
          <a:xfrm>
            <a:off x="929488" y="3794760"/>
            <a:ext cx="4617720" cy="960120"/>
          </a:xfrm>
          <a:prstGeom prst="rect">
            <a:avLst/>
          </a:prstGeom>
          <a:noFill/>
          <a:ln/>
        </p:spPr>
        <p:txBody>
          <a:bodyPr wrap="square"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  Result: some customers showed 900%+ bill increases with usage actually going DOWN — a sign the baseline itself was wrong, not the customer.</a:t>
            </a:r>
            <a:endParaRPr lang="en-US" sz="1150" dirty="0"/>
          </a:p>
        </p:txBody>
      </p:sp>
      <p:sp>
        <p:nvSpPr>
          <p:cNvPr id="9" name="Text 7"/>
          <p:cNvSpPr/>
          <p:nvPr/>
        </p:nvSpPr>
        <p:spPr>
          <a:xfrm>
            <a:off x="929488" y="4800600"/>
            <a:ext cx="4617720" cy="960120"/>
          </a:xfrm>
          <a:prstGeom prst="rect">
            <a:avLst/>
          </a:prstGeom>
          <a:noFill/>
          <a:ln/>
        </p:spPr>
        <p:txBody>
          <a:bodyPr wrap="square"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  Fix: re-ranked every bill by actual Bill_Date instead of trusting BillOrder's direction. This alone corrected the baseline for anyone with limited billing history.</a:t>
            </a:r>
            <a:endParaRPr lang="en-US" sz="1150" dirty="0"/>
          </a:p>
        </p:txBody>
      </p:sp>
      <p:sp>
        <p:nvSpPr>
          <p:cNvPr id="10" name="Shape 8"/>
          <p:cNvSpPr/>
          <p:nvPr/>
        </p:nvSpPr>
        <p:spPr>
          <a:xfrm>
            <a:off x="6324448" y="1691640"/>
            <a:ext cx="5257800" cy="4160520"/>
          </a:xfrm>
          <a:prstGeom prst="roundRect">
            <a:avLst>
              <a:gd name="adj" fmla="val 1758"/>
            </a:avLst>
          </a:prstGeom>
          <a:solidFill>
            <a:srgbClr val="F7F8FA"/>
          </a:solidFill>
          <a:ln/>
          <a:effectLst>
            <a:outerShdw sx="100000" sy="100000" kx="0" ky="0" algn="bl" rotWithShape="0" blurRad="101600" dist="25400" dir="5400000">
              <a:srgbClr val="000000">
                <a:alpha val="15000"/>
              </a:srgbClr>
            </a:outerShdw>
          </a:effectLst>
        </p:spPr>
      </p:sp>
      <p:sp>
        <p:nvSpPr>
          <p:cNvPr id="11" name="Shape 9"/>
          <p:cNvSpPr/>
          <p:nvPr/>
        </p:nvSpPr>
        <p:spPr>
          <a:xfrm>
            <a:off x="6644488" y="1984248"/>
            <a:ext cx="457200" cy="54864"/>
          </a:xfrm>
          <a:prstGeom prst="rect">
            <a:avLst/>
          </a:prstGeom>
          <a:solidFill>
            <a:srgbClr val="0F6E6E"/>
          </a:solidFill>
          <a:ln/>
        </p:spPr>
      </p:sp>
      <p:sp>
        <p:nvSpPr>
          <p:cNvPr id="12" name="Text 10"/>
          <p:cNvSpPr/>
          <p:nvPr/>
        </p:nvSpPr>
        <p:spPr>
          <a:xfrm>
            <a:off x="6644488" y="2148840"/>
            <a:ext cx="4617720" cy="548640"/>
          </a:xfrm>
          <a:prstGeom prst="rect">
            <a:avLst/>
          </a:prstGeom>
          <a:noFill/>
          <a:ln/>
        </p:spPr>
        <p:txBody>
          <a:bodyPr wrap="square" rtlCol="0" anchor="ctr"/>
          <a:lstStyle/>
          <a:p>
            <a:pPr indent="0" marL="0">
              <a:buNone/>
            </a:pPr>
            <a:r>
              <a:rPr lang="en-US" sz="1550" b="1" dirty="0">
                <a:solidFill>
                  <a:srgbClr val="1B2A41"/>
                </a:solidFill>
                <a:latin typeface="Calibri" pitchFamily="34" charset="0"/>
                <a:ea typeface="Calibri" pitchFamily="34" charset="-122"/>
                <a:cs typeface="Calibri" pitchFamily="34" charset="-120"/>
              </a:rPr>
              <a:t>2. Averages Were Hiding the Real Pattern</a:t>
            </a:r>
            <a:endParaRPr lang="en-US" sz="1550" dirty="0"/>
          </a:p>
        </p:txBody>
      </p:sp>
      <p:sp>
        <p:nvSpPr>
          <p:cNvPr id="13" name="Text 11"/>
          <p:cNvSpPr/>
          <p:nvPr/>
        </p:nvSpPr>
        <p:spPr>
          <a:xfrm>
            <a:off x="6644488" y="2788920"/>
            <a:ext cx="4617720" cy="960120"/>
          </a:xfrm>
          <a:prstGeom prst="rect">
            <a:avLst/>
          </a:prstGeom>
          <a:noFill/>
          <a:ln/>
        </p:spPr>
        <p:txBody>
          <a:bodyPr wrap="square"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  Early summary stats showed wildly different averages vs. medians per group (e.g., 213% average vs. 35% median for one group).</a:t>
            </a:r>
            <a:endParaRPr lang="en-US" sz="1150" dirty="0"/>
          </a:p>
        </p:txBody>
      </p:sp>
      <p:sp>
        <p:nvSpPr>
          <p:cNvPr id="14" name="Text 12"/>
          <p:cNvSpPr/>
          <p:nvPr/>
        </p:nvSpPr>
        <p:spPr>
          <a:xfrm>
            <a:off x="6644488" y="3794760"/>
            <a:ext cx="4617720" cy="960120"/>
          </a:xfrm>
          <a:prstGeom prst="rect">
            <a:avLst/>
          </a:prstGeom>
          <a:noFill/>
          <a:ln/>
        </p:spPr>
        <p:txBody>
          <a:bodyPr wrap="square"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  That gap is the signature of a few extreme outliers dragging the average — not a true group difference.</a:t>
            </a:r>
            <a:endParaRPr lang="en-US" sz="1150" dirty="0"/>
          </a:p>
        </p:txBody>
      </p:sp>
      <p:sp>
        <p:nvSpPr>
          <p:cNvPr id="15" name="Text 13"/>
          <p:cNvSpPr/>
          <p:nvPr/>
        </p:nvSpPr>
        <p:spPr>
          <a:xfrm>
            <a:off x="6644488" y="4800600"/>
            <a:ext cx="4617720" cy="960120"/>
          </a:xfrm>
          <a:prstGeom prst="rect">
            <a:avLst/>
          </a:prstGeom>
          <a:noFill/>
          <a:ln/>
        </p:spPr>
        <p:txBody>
          <a:bodyPr wrap="square"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  Fix: added medians alongside averages, an outlier cap, and confidence tiers based on billing history length, so short-tenure noise couldn't distort the comparison.</a:t>
            </a:r>
            <a:endParaRPr lang="en-US" sz="1150" dirty="0"/>
          </a:p>
        </p:txBody>
      </p:sp>
      <p:sp>
        <p:nvSpPr>
          <p:cNvPr id="16" name="Text 14"/>
          <p:cNvSpPr/>
          <p:nvPr/>
        </p:nvSpPr>
        <p:spPr>
          <a:xfrm>
            <a:off x="457200" y="6519672"/>
            <a:ext cx="8229600" cy="274320"/>
          </a:xfrm>
          <a:prstGeom prst="rect">
            <a:avLst/>
          </a:prstGeom>
          <a:noFill/>
          <a:ln/>
        </p:spPr>
        <p:txBody>
          <a:bodyPr wrap="square" rtlCol="0" anchor="ctr"/>
          <a:lstStyle/>
          <a:p>
            <a:pPr indent="0" marL="0">
              <a:buNone/>
            </a:pPr>
            <a:r>
              <a:rPr lang="en-US" sz="900" dirty="0">
                <a:solidFill>
                  <a:srgbClr val="9AA5B1"/>
                </a:solidFill>
                <a:latin typeface="Calibri" pitchFamily="34" charset="0"/>
                <a:ea typeface="Calibri" pitchFamily="34" charset="-122"/>
                <a:cs typeface="Calibri" pitchFamily="34" charset="-120"/>
              </a:rPr>
              <a:t>Task 7: Proactive Usage &amp; Bill Shock Alert Model</a:t>
            </a:r>
            <a:endParaRPr lang="en-US" sz="900" dirty="0"/>
          </a:p>
        </p:txBody>
      </p:sp>
      <p:sp>
        <p:nvSpPr>
          <p:cNvPr id="17" name="Text 15"/>
          <p:cNvSpPr/>
          <p:nvPr/>
        </p:nvSpPr>
        <p:spPr>
          <a:xfrm>
            <a:off x="10820095" y="6519672"/>
            <a:ext cx="914400" cy="274320"/>
          </a:xfrm>
          <a:prstGeom prst="rect">
            <a:avLst/>
          </a:prstGeom>
          <a:noFill/>
          <a:ln/>
        </p:spPr>
        <p:txBody>
          <a:bodyPr wrap="square"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indent="0" marL="0">
              <a:buNone/>
            </a:pPr>
            <a:r>
              <a:rPr lang="en-US" sz="2600" b="1" dirty="0">
                <a:solidFill>
                  <a:srgbClr val="1B2A41"/>
                </a:solidFill>
                <a:latin typeface="Calibri" pitchFamily="34" charset="0"/>
                <a:ea typeface="Calibri" pitchFamily="34" charset="-122"/>
                <a:cs typeface="Calibri" pitchFamily="34" charset="-120"/>
              </a:rPr>
              <a:t>What Actually Distinguishes Callers From Non-Callers</a:t>
            </a:r>
            <a:endParaRPr lang="en-US" sz="2600" dirty="0"/>
          </a:p>
        </p:txBody>
      </p:sp>
      <p:sp>
        <p:nvSpPr>
          <p:cNvPr id="3" name="Text 1"/>
          <p:cNvSpPr/>
          <p:nvPr/>
        </p:nvSpPr>
        <p:spPr>
          <a:xfrm>
            <a:off x="548640" y="960120"/>
            <a:ext cx="11064240" cy="457200"/>
          </a:xfrm>
          <a:prstGeom prst="rect">
            <a:avLst/>
          </a:prstGeom>
          <a:noFill/>
          <a:ln/>
        </p:spPr>
        <p:txBody>
          <a:bodyPr wrap="square" rtlCol="0" anchor="ctr"/>
          <a:lstStyle/>
          <a:p>
            <a:pPr indent="0" marL="0">
              <a:buNone/>
            </a:pPr>
            <a:r>
              <a:rPr lang="en-US" sz="1350" dirty="0">
                <a:solidFill>
                  <a:srgbClr val="44546A"/>
                </a:solidFill>
                <a:latin typeface="Calibri" pitchFamily="34" charset="0"/>
                <a:ea typeface="Calibri" pitchFamily="34" charset="-122"/>
                <a:cs typeface="Calibri" pitchFamily="34" charset="-120"/>
              </a:rPr>
              <a:t>Restricted to high-confidence baselines (12+ prior bills) in both groups for a fair comparison</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737360" y="1828800"/>
          <a:ext cx="8686800" cy="914400"/>
        </p:xfrm>
        <a:graphic>
          <a:graphicData uri="http://schemas.openxmlformats.org/drawingml/2006/table">
            <a:tbl>
              <a:tblPr/>
              <a:tblGrid>
                <a:gridCol w="3200400"/>
                <a:gridCol w="2743200"/>
                <a:gridCol w="2743200"/>
              </a:tblGrid>
              <a:tr h="50292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Callers</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1B2A4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Non-Callers</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1B2A41"/>
                    </a:solidFill>
                  </a:tcPr>
                </a:tc>
              </a:tr>
              <a:tr h="502920">
                <a:tc>
                  <a:txBody>
                    <a:bodyPr/>
                    <a:lstStyle/>
                    <a:p>
                      <a:pPr algn="ctr" indent="0" marL="0">
                        <a:buNone/>
                      </a:pPr>
                      <a:r>
                        <a:rPr lang="en-US" sz="1300" b="1" dirty="0">
                          <a:solidFill>
                            <a:srgbClr val="3C3C3C"/>
                          </a:solidFill>
                          <a:latin typeface="Calibri" pitchFamily="34" charset="0"/>
                          <a:ea typeface="Calibri" pitchFamily="34" charset="-122"/>
                          <a:cs typeface="Calibri" pitchFamily="34" charset="-120"/>
                        </a:rPr>
                        <a:t>Median $ increase</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$77.62</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$66.69</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r h="502920">
                <a:tc>
                  <a:txBody>
                    <a:bodyPr/>
                    <a:lstStyle/>
                    <a:p>
                      <a:pPr algn="ctr" indent="0" marL="0">
                        <a:buNone/>
                      </a:pPr>
                      <a:r>
                        <a:rPr lang="en-US" sz="1300" b="1" dirty="0">
                          <a:solidFill>
                            <a:srgbClr val="3C3C3C"/>
                          </a:solidFill>
                          <a:latin typeface="Calibri" pitchFamily="34" charset="0"/>
                          <a:ea typeface="Calibri" pitchFamily="34" charset="-122"/>
                          <a:cs typeface="Calibri" pitchFamily="34" charset="-120"/>
                        </a:rPr>
                        <a:t>Median % increase</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41.05%</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35.64%</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r>
              <a:tr h="502920">
                <a:tc>
                  <a:txBody>
                    <a:bodyPr/>
                    <a:lstStyle/>
                    <a:p>
                      <a:pPr algn="ctr" indent="0" marL="0">
                        <a:buNone/>
                      </a:pPr>
                      <a:r>
                        <a:rPr lang="en-US" sz="1300" b="1" dirty="0">
                          <a:solidFill>
                            <a:srgbClr val="3C3C3C"/>
                          </a:solidFill>
                          <a:latin typeface="Calibri" pitchFamily="34" charset="0"/>
                          <a:ea typeface="Calibri" pitchFamily="34" charset="-122"/>
                          <a:cs typeface="Calibri" pitchFamily="34" charset="-120"/>
                        </a:rPr>
                        <a:t>Usage increase / day</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17.74</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15.03</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r h="502920">
                <a:tc>
                  <a:txBody>
                    <a:bodyPr/>
                    <a:lstStyle/>
                    <a:p>
                      <a:pPr algn="ctr" indent="0" marL="0">
                        <a:buNone/>
                      </a:pPr>
                      <a:r>
                        <a:rPr lang="en-US" sz="1300" b="1" dirty="0">
                          <a:solidFill>
                            <a:srgbClr val="3C3C3C"/>
                          </a:solidFill>
                          <a:latin typeface="Calibri" pitchFamily="34" charset="0"/>
                          <a:ea typeface="Calibri" pitchFamily="34" charset="-122"/>
                          <a:cs typeface="Calibri" pitchFamily="34" charset="-120"/>
                        </a:rPr>
                        <a:t>Credit score (avg)</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787</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824</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r>
              <a:tr h="502920">
                <a:tc>
                  <a:txBody>
                    <a:bodyPr/>
                    <a:lstStyle/>
                    <a:p>
                      <a:pPr algn="ctr" indent="0" marL="0">
                        <a:buNone/>
                      </a:pPr>
                      <a:r>
                        <a:rPr lang="en-US" sz="1300" b="1" dirty="0">
                          <a:solidFill>
                            <a:srgbClr val="3C3C3C"/>
                          </a:solidFill>
                          <a:latin typeface="Calibri" pitchFamily="34" charset="0"/>
                          <a:ea typeface="Calibri" pitchFamily="34" charset="-122"/>
                          <a:cs typeface="Calibri" pitchFamily="34" charset="-120"/>
                        </a:rPr>
                        <a:t>Tenure (avg days)</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1,441</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3C3C3C"/>
                          </a:solidFill>
                          <a:latin typeface="Calibri" pitchFamily="34" charset="0"/>
                          <a:ea typeface="Calibri" pitchFamily="34" charset="-122"/>
                          <a:cs typeface="Calibri" pitchFamily="34" charset="-120"/>
                        </a:rPr>
                        <a:t>1,588</a:t>
                      </a:r>
                      <a:endParaRPr lang="en-US" sz="130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bl>
          </a:graphicData>
        </a:graphic>
      </p:graphicFrame>
      <p:sp>
        <p:nvSpPr>
          <p:cNvPr id="5" name="Shape 2"/>
          <p:cNvSpPr/>
          <p:nvPr/>
        </p:nvSpPr>
        <p:spPr>
          <a:xfrm>
            <a:off x="822960" y="5074920"/>
            <a:ext cx="10515600" cy="1234440"/>
          </a:xfrm>
          <a:prstGeom prst="roundRect">
            <a:avLst>
              <a:gd name="adj" fmla="val 5926"/>
            </a:avLst>
          </a:prstGeom>
          <a:solidFill>
            <a:srgbClr val="F7F8FA"/>
          </a:solidFill>
          <a:ln/>
        </p:spPr>
      </p:sp>
      <p:sp>
        <p:nvSpPr>
          <p:cNvPr id="6" name="Text 3"/>
          <p:cNvSpPr/>
          <p:nvPr/>
        </p:nvSpPr>
        <p:spPr>
          <a:xfrm>
            <a:off x="1097280" y="5230368"/>
            <a:ext cx="5486400" cy="365760"/>
          </a:xfrm>
          <a:prstGeom prst="rect">
            <a:avLst/>
          </a:prstGeom>
          <a:noFill/>
          <a:ln/>
        </p:spPr>
        <p:txBody>
          <a:bodyPr wrap="square" rtlCol="0" anchor="ctr"/>
          <a:lstStyle/>
          <a:p>
            <a:pPr indent="0" marL="0">
              <a:buNone/>
            </a:pPr>
            <a:r>
              <a:rPr lang="en-US" sz="1300" b="1" dirty="0">
                <a:solidFill>
                  <a:srgbClr val="1E7B4D"/>
                </a:solidFill>
                <a:latin typeface="Calibri" pitchFamily="34" charset="0"/>
                <a:ea typeface="Calibri" pitchFamily="34" charset="-122"/>
                <a:cs typeface="Calibri" pitchFamily="34" charset="-120"/>
              </a:rPr>
              <a:t>Every metric points the same direction:</a:t>
            </a:r>
            <a:endParaRPr lang="en-US" sz="1300" dirty="0"/>
          </a:p>
        </p:txBody>
      </p:sp>
      <p:sp>
        <p:nvSpPr>
          <p:cNvPr id="7" name="Text 4"/>
          <p:cNvSpPr/>
          <p:nvPr/>
        </p:nvSpPr>
        <p:spPr>
          <a:xfrm>
            <a:off x="1097280" y="5577840"/>
            <a:ext cx="9966960" cy="685800"/>
          </a:xfrm>
          <a:prstGeom prst="rect">
            <a:avLst/>
          </a:prstGeom>
          <a:noFill/>
          <a:ln/>
        </p:spPr>
        <p:txBody>
          <a:bodyPr wrap="square" rtlCol="0" anchor="ctr"/>
          <a:lstStyle/>
          <a:p>
            <a:pPr indent="0" marL="0">
              <a:lnSpc>
                <a:spcPct val="120000"/>
              </a:lnSpc>
              <a:buNone/>
            </a:pPr>
            <a:r>
              <a:rPr lang="en-US" sz="1250" dirty="0">
                <a:solidFill>
                  <a:srgbClr val="3C3C3C"/>
                </a:solidFill>
                <a:latin typeface="Calibri" pitchFamily="34" charset="0"/>
                <a:ea typeface="Calibri" pitchFamily="34" charset="-122"/>
                <a:cs typeface="Calibri" pitchFamily="34" charset="-120"/>
              </a:rPr>
              <a:t>Callers see bigger bill increases, higher usage growth, lower credit scores, and shorter tenure than non-callers — a consistent, credible signal that supports building a real alert threshold.</a:t>
            </a:r>
            <a:endParaRPr lang="en-US" sz="1250" dirty="0"/>
          </a:p>
        </p:txBody>
      </p:sp>
      <p:sp>
        <p:nvSpPr>
          <p:cNvPr id="8" name="Text 5"/>
          <p:cNvSpPr/>
          <p:nvPr/>
        </p:nvSpPr>
        <p:spPr>
          <a:xfrm>
            <a:off x="457200" y="6519672"/>
            <a:ext cx="8229600" cy="274320"/>
          </a:xfrm>
          <a:prstGeom prst="rect">
            <a:avLst/>
          </a:prstGeom>
          <a:noFill/>
          <a:ln/>
        </p:spPr>
        <p:txBody>
          <a:bodyPr wrap="square" rtlCol="0" anchor="ctr"/>
          <a:lstStyle/>
          <a:p>
            <a:pPr indent="0" marL="0">
              <a:buNone/>
            </a:pPr>
            <a:r>
              <a:rPr lang="en-US" sz="900" dirty="0">
                <a:solidFill>
                  <a:srgbClr val="9AA5B1"/>
                </a:solidFill>
                <a:latin typeface="Calibri" pitchFamily="34" charset="0"/>
                <a:ea typeface="Calibri" pitchFamily="34" charset="-122"/>
                <a:cs typeface="Calibri" pitchFamily="34" charset="-120"/>
              </a:rPr>
              <a:t>Task 7: Proactive Usage &amp; Bill Shock Alert Model</a:t>
            </a:r>
            <a:endParaRPr lang="en-US" sz="900" dirty="0"/>
          </a:p>
        </p:txBody>
      </p:sp>
      <p:sp>
        <p:nvSpPr>
          <p:cNvPr id="9" name="Text 6"/>
          <p:cNvSpPr/>
          <p:nvPr/>
        </p:nvSpPr>
        <p:spPr>
          <a:xfrm>
            <a:off x="10820095" y="6519672"/>
            <a:ext cx="914400" cy="274320"/>
          </a:xfrm>
          <a:prstGeom prst="rect">
            <a:avLst/>
          </a:prstGeom>
          <a:noFill/>
          <a:ln/>
        </p:spPr>
        <p:txBody>
          <a:bodyPr wrap="square"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indent="0" marL="0">
              <a:buNone/>
            </a:pPr>
            <a:r>
              <a:rPr lang="en-US" sz="2600" b="1" dirty="0">
                <a:solidFill>
                  <a:srgbClr val="1B2A41"/>
                </a:solidFill>
                <a:latin typeface="Calibri" pitchFamily="34" charset="0"/>
                <a:ea typeface="Calibri" pitchFamily="34" charset="-122"/>
                <a:cs typeface="Calibri" pitchFamily="34" charset="-120"/>
              </a:rPr>
              <a:t>Threshold Options</a:t>
            </a:r>
            <a:endParaRPr lang="en-US" sz="2600" dirty="0"/>
          </a:p>
        </p:txBody>
      </p:sp>
      <p:sp>
        <p:nvSpPr>
          <p:cNvPr id="3" name="Text 1"/>
          <p:cNvSpPr/>
          <p:nvPr/>
        </p:nvSpPr>
        <p:spPr>
          <a:xfrm>
            <a:off x="548640" y="960120"/>
            <a:ext cx="11064240" cy="457200"/>
          </a:xfrm>
          <a:prstGeom prst="rect">
            <a:avLst/>
          </a:prstGeom>
          <a:noFill/>
          <a:ln/>
        </p:spPr>
        <p:txBody>
          <a:bodyPr wrap="square" rtlCol="0" anchor="ctr"/>
          <a:lstStyle/>
          <a:p>
            <a:pPr indent="0" marL="0">
              <a:buNone/>
            </a:pPr>
            <a:r>
              <a:rPr lang="en-US" sz="1350" dirty="0">
                <a:solidFill>
                  <a:srgbClr val="44546A"/>
                </a:solidFill>
                <a:latin typeface="Calibri" pitchFamily="34" charset="0"/>
                <a:ea typeface="Calibri" pitchFamily="34" charset="-122"/>
                <a:cs typeface="Calibri" pitchFamily="34" charset="-120"/>
              </a:rPr>
              <a:t>Bill increase % crossed with credit score — a menu, not a single answer</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1783080"/>
          <a:ext cx="10149840" cy="914400"/>
        </p:xfrm>
        <a:graphic>
          <a:graphicData uri="http://schemas.openxmlformats.org/drawingml/2006/table">
            <a:tbl>
              <a:tblPr/>
              <a:tblGrid>
                <a:gridCol w="2377440"/>
                <a:gridCol w="2194560"/>
                <a:gridCol w="2788920"/>
                <a:gridCol w="2788920"/>
              </a:tblGrid>
              <a:tr h="50292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 Increase</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1B2A4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Credit ≤</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1B2A4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 of Callers Caught</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1B2A41"/>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 of Non-Callers Flagged</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1B2A41"/>
                    </a:solidFill>
                  </a:tcPr>
                </a:tc>
              </a:tr>
              <a:tr h="502920">
                <a:tc>
                  <a:txBody>
                    <a:bodyPr/>
                    <a:lstStyle/>
                    <a:p>
                      <a:pPr algn="ctr" indent="0" marL="0">
                        <a:buNone/>
                      </a:pPr>
                      <a:r>
                        <a:rPr lang="en-US" sz="1250" b="1" dirty="0">
                          <a:solidFill>
                            <a:srgbClr val="3C3C3C"/>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3C3C3C"/>
                          </a:solidFill>
                          <a:latin typeface="Calibri" pitchFamily="34" charset="0"/>
                          <a:ea typeface="Calibri" pitchFamily="34" charset="-122"/>
                          <a:cs typeface="Calibri" pitchFamily="34" charset="-120"/>
                        </a:rPr>
                        <a:t>800</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C3C3C"/>
                          </a:solidFill>
                          <a:latin typeface="Calibri" pitchFamily="34" charset="0"/>
                          <a:ea typeface="Calibri" pitchFamily="34" charset="-122"/>
                          <a:cs typeface="Calibri" pitchFamily="34" charset="-120"/>
                        </a:rPr>
                        <a:t>23.4%</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C3C3C"/>
                          </a:solidFill>
                          <a:latin typeface="Calibri" pitchFamily="34" charset="0"/>
                          <a:ea typeface="Calibri" pitchFamily="34" charset="-122"/>
                          <a:cs typeface="Calibri" pitchFamily="34" charset="-120"/>
                        </a:rPr>
                        <a:t>17.4%</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r h="502920">
                <a:tc>
                  <a:txBody>
                    <a:bodyPr/>
                    <a:lstStyle/>
                    <a:p>
                      <a:pPr algn="ctr" indent="0" marL="0">
                        <a:buNone/>
                      </a:pPr>
                      <a:r>
                        <a:rPr lang="en-US" sz="1250" b="1" dirty="0">
                          <a:solidFill>
                            <a:srgbClr val="3C3C3C"/>
                          </a:solidFill>
                          <a:latin typeface="Calibri" pitchFamily="34" charset="0"/>
                          <a:ea typeface="Calibri" pitchFamily="34" charset="-122"/>
                          <a:cs typeface="Calibri" pitchFamily="34" charset="-120"/>
                        </a:rPr>
                        <a:t>30%</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c>
                  <a:txBody>
                    <a:bodyPr/>
                    <a:lstStyle/>
                    <a:p>
                      <a:pPr algn="ctr" indent="0" marL="0">
                        <a:buNone/>
                      </a:pPr>
                      <a:r>
                        <a:rPr lang="en-US" sz="1250" b="1" dirty="0">
                          <a:solidFill>
                            <a:srgbClr val="3C3C3C"/>
                          </a:solidFill>
                          <a:latin typeface="Calibri" pitchFamily="34" charset="0"/>
                          <a:ea typeface="Calibri" pitchFamily="34" charset="-122"/>
                          <a:cs typeface="Calibri" pitchFamily="34" charset="-120"/>
                        </a:rPr>
                        <a:t>700</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c>
                  <a:txBody>
                    <a:bodyPr/>
                    <a:lstStyle/>
                    <a:p>
                      <a:pPr algn="ctr" indent="0" marL="0">
                        <a:buNone/>
                      </a:pPr>
                      <a:r>
                        <a:rPr lang="en-US" sz="1250" dirty="0">
                          <a:solidFill>
                            <a:srgbClr val="3C3C3C"/>
                          </a:solidFill>
                          <a:latin typeface="Calibri" pitchFamily="34" charset="0"/>
                          <a:ea typeface="Calibri" pitchFamily="34" charset="-122"/>
                          <a:cs typeface="Calibri" pitchFamily="34" charset="-120"/>
                        </a:rPr>
                        <a:t>16.0%</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c>
                  <a:txBody>
                    <a:bodyPr/>
                    <a:lstStyle/>
                    <a:p>
                      <a:pPr algn="ctr" indent="0" marL="0">
                        <a:buNone/>
                      </a:pPr>
                      <a:r>
                        <a:rPr lang="en-US" sz="1250" dirty="0">
                          <a:solidFill>
                            <a:srgbClr val="3C3C3C"/>
                          </a:solidFill>
                          <a:latin typeface="Calibri" pitchFamily="34" charset="0"/>
                          <a:ea typeface="Calibri" pitchFamily="34" charset="-122"/>
                          <a:cs typeface="Calibri" pitchFamily="34" charset="-120"/>
                        </a:rPr>
                        <a:t>10.8%</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r>
              <a:tr h="502920">
                <a:tc>
                  <a:txBody>
                    <a:bodyPr/>
                    <a:lstStyle/>
                    <a:p>
                      <a:pPr algn="ctr" indent="0" marL="0">
                        <a:buNone/>
                      </a:pPr>
                      <a:r>
                        <a:rPr lang="en-US" sz="1250" b="1" dirty="0">
                          <a:solidFill>
                            <a:srgbClr val="3C3C3C"/>
                          </a:solidFill>
                          <a:latin typeface="Calibri" pitchFamily="34" charset="0"/>
                          <a:ea typeface="Calibri" pitchFamily="34" charset="-122"/>
                          <a:cs typeface="Calibri" pitchFamily="34" charset="-120"/>
                        </a:rPr>
                        <a:t>40%</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3C3C3C"/>
                          </a:solidFill>
                          <a:latin typeface="Calibri" pitchFamily="34" charset="0"/>
                          <a:ea typeface="Calibri" pitchFamily="34" charset="-122"/>
                          <a:cs typeface="Calibri" pitchFamily="34" charset="-120"/>
                        </a:rPr>
                        <a:t>800</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C3C3C"/>
                          </a:solidFill>
                          <a:latin typeface="Calibri" pitchFamily="34" charset="0"/>
                          <a:ea typeface="Calibri" pitchFamily="34" charset="-122"/>
                          <a:cs typeface="Calibri" pitchFamily="34" charset="-120"/>
                        </a:rPr>
                        <a:t>19.0%</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C3C3C"/>
                          </a:solidFill>
                          <a:latin typeface="Calibri" pitchFamily="34" charset="0"/>
                          <a:ea typeface="Calibri" pitchFamily="34" charset="-122"/>
                          <a:cs typeface="Calibri" pitchFamily="34" charset="-120"/>
                        </a:rPr>
                        <a:t>13.2%</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FFFFF"/>
                    </a:solidFill>
                  </a:tcPr>
                </a:tc>
              </a:tr>
              <a:tr h="502920">
                <a:tc>
                  <a:txBody>
                    <a:bodyPr/>
                    <a:lstStyle/>
                    <a:p>
                      <a:pPr algn="ctr" indent="0" marL="0">
                        <a:buNone/>
                      </a:pPr>
                      <a:r>
                        <a:rPr lang="en-US" sz="1250" b="1" dirty="0">
                          <a:solidFill>
                            <a:srgbClr val="3C3C3C"/>
                          </a:solidFill>
                          <a:latin typeface="Calibri" pitchFamily="34" charset="0"/>
                          <a:ea typeface="Calibri" pitchFamily="34" charset="-122"/>
                          <a:cs typeface="Calibri" pitchFamily="34" charset="-120"/>
                        </a:rPr>
                        <a:t>50%</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c>
                  <a:txBody>
                    <a:bodyPr/>
                    <a:lstStyle/>
                    <a:p>
                      <a:pPr algn="ctr" indent="0" marL="0">
                        <a:buNone/>
                      </a:pPr>
                      <a:r>
                        <a:rPr lang="en-US" sz="1250" b="1" dirty="0">
                          <a:solidFill>
                            <a:srgbClr val="3C3C3C"/>
                          </a:solidFill>
                          <a:latin typeface="Calibri" pitchFamily="34" charset="0"/>
                          <a:ea typeface="Calibri" pitchFamily="34" charset="-122"/>
                          <a:cs typeface="Calibri" pitchFamily="34" charset="-120"/>
                        </a:rPr>
                        <a:t>700</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c>
                  <a:txBody>
                    <a:bodyPr/>
                    <a:lstStyle/>
                    <a:p>
                      <a:pPr algn="ctr" indent="0" marL="0">
                        <a:buNone/>
                      </a:pPr>
                      <a:r>
                        <a:rPr lang="en-US" sz="1250" dirty="0">
                          <a:solidFill>
                            <a:srgbClr val="3C3C3C"/>
                          </a:solidFill>
                          <a:latin typeface="Calibri" pitchFamily="34" charset="0"/>
                          <a:ea typeface="Calibri" pitchFamily="34" charset="-122"/>
                          <a:cs typeface="Calibri" pitchFamily="34" charset="-120"/>
                        </a:rPr>
                        <a:t>10.1%</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c>
                  <a:txBody>
                    <a:bodyPr/>
                    <a:lstStyle/>
                    <a:p>
                      <a:pPr algn="ctr" indent="0" marL="0">
                        <a:buNone/>
                      </a:pPr>
                      <a:r>
                        <a:rPr lang="en-US" sz="1250" dirty="0">
                          <a:solidFill>
                            <a:srgbClr val="3C3C3C"/>
                          </a:solidFill>
                          <a:latin typeface="Calibri" pitchFamily="34" charset="0"/>
                          <a:ea typeface="Calibri" pitchFamily="34" charset="-122"/>
                          <a:cs typeface="Calibri" pitchFamily="34" charset="-120"/>
                        </a:rPr>
                        <a:t>5.8%</a:t>
                      </a:r>
                      <a:endParaRPr lang="en-US" sz="1250" dirty="0">
                        <a:latin typeface="Calibri" charset="0"/>
                        <a:ea typeface="Calibri" charset="0"/>
                        <a:cs typeface="Calibri" charset="0"/>
                      </a:endParaRPr>
                    </a:p>
                  </a:txBody>
                  <a:tcPr marL="91440" marR="91440" marT="45720" marB="45720" anchor="ctr">
                    <a:lnL w="6350" cap="flat" cmpd="sng" algn="ctr">
                      <a:solidFill>
                        <a:srgbClr val="E3E7EC"/>
                      </a:solidFill>
                      <a:prstDash val="solid"/>
                      <a:round/>
                      <a:headEnd type="none" w="med" len="med"/>
                      <a:tailEnd type="none" w="med" len="med"/>
                    </a:lnL>
                    <a:lnR w="6350" cap="flat" cmpd="sng" algn="ctr">
                      <a:solidFill>
                        <a:srgbClr val="E3E7EC"/>
                      </a:solidFill>
                      <a:prstDash val="solid"/>
                      <a:round/>
                      <a:headEnd type="none" w="med" len="med"/>
                      <a:tailEnd type="none" w="med" len="med"/>
                    </a:lnR>
                    <a:lnT w="6350" cap="flat" cmpd="sng" algn="ctr">
                      <a:solidFill>
                        <a:srgbClr val="E3E7EC"/>
                      </a:solidFill>
                      <a:prstDash val="solid"/>
                      <a:round/>
                      <a:headEnd type="none" w="med" len="med"/>
                      <a:tailEnd type="none" w="med" len="med"/>
                    </a:lnT>
                    <a:lnB w="6350" cap="flat" cmpd="sng" algn="ctr">
                      <a:solidFill>
                        <a:srgbClr val="E3E7EC"/>
                      </a:solidFill>
                      <a:prstDash val="solid"/>
                      <a:round/>
                      <a:headEnd type="none" w="med" len="med"/>
                      <a:tailEnd type="none" w="med" len="med"/>
                    </a:lnB>
                    <a:solidFill>
                      <a:srgbClr val="F7F8FA"/>
                    </a:solidFill>
                  </a:tcPr>
                </a:tc>
              </a:tr>
            </a:tbl>
          </a:graphicData>
        </a:graphic>
      </p:graphicFrame>
      <p:sp>
        <p:nvSpPr>
          <p:cNvPr id="5" name="Shape 2"/>
          <p:cNvSpPr/>
          <p:nvPr/>
        </p:nvSpPr>
        <p:spPr>
          <a:xfrm>
            <a:off x="822960" y="4617720"/>
            <a:ext cx="5212080" cy="1554480"/>
          </a:xfrm>
          <a:prstGeom prst="roundRect">
            <a:avLst>
              <a:gd name="adj" fmla="val 4706"/>
            </a:avLst>
          </a:prstGeom>
          <a:solidFill>
            <a:srgbClr val="F7F8FA"/>
          </a:solidFill>
          <a:ln/>
        </p:spPr>
      </p:sp>
      <p:sp>
        <p:nvSpPr>
          <p:cNvPr id="6" name="Text 3"/>
          <p:cNvSpPr/>
          <p:nvPr/>
        </p:nvSpPr>
        <p:spPr>
          <a:xfrm>
            <a:off x="1097280" y="4800600"/>
            <a:ext cx="4663440" cy="365760"/>
          </a:xfrm>
          <a:prstGeom prst="rect">
            <a:avLst/>
          </a:prstGeom>
          <a:noFill/>
          <a:ln/>
        </p:spPr>
        <p:txBody>
          <a:bodyPr wrap="square" rtlCol="0" anchor="ctr"/>
          <a:lstStyle/>
          <a:p>
            <a:pPr indent="0" marL="0">
              <a:buNone/>
            </a:pPr>
            <a:r>
              <a:rPr lang="en-US" sz="1400" b="1" dirty="0">
                <a:solidFill>
                  <a:srgbClr val="0F6E6E"/>
                </a:solidFill>
                <a:latin typeface="Calibri" pitchFamily="34" charset="0"/>
                <a:ea typeface="Calibri" pitchFamily="34" charset="-122"/>
                <a:cs typeface="Calibri" pitchFamily="34" charset="-120"/>
              </a:rPr>
              <a:t>Widest Reach</a:t>
            </a:r>
            <a:endParaRPr lang="en-US" sz="1400" dirty="0"/>
          </a:p>
        </p:txBody>
      </p:sp>
      <p:sp>
        <p:nvSpPr>
          <p:cNvPr id="7" name="Text 4"/>
          <p:cNvSpPr/>
          <p:nvPr/>
        </p:nvSpPr>
        <p:spPr>
          <a:xfrm>
            <a:off x="1097280" y="5212080"/>
            <a:ext cx="4663440" cy="868680"/>
          </a:xfrm>
          <a:prstGeom prst="rect">
            <a:avLst/>
          </a:prstGeom>
          <a:noFill/>
          <a:ln/>
        </p:spPr>
        <p:txBody>
          <a:bodyPr wrap="square" rtlCol="0" anchor="ctr"/>
          <a:lstStyle/>
          <a:p>
            <a:pPr indent="0" marL="0">
              <a:lnSpc>
                <a:spcPct val="120000"/>
              </a:lnSpc>
              <a:buNone/>
            </a:pPr>
            <a:r>
              <a:rPr lang="en-US" sz="1200" dirty="0">
                <a:solidFill>
                  <a:srgbClr val="3C3C3C"/>
                </a:solidFill>
                <a:latin typeface="Calibri" pitchFamily="34" charset="0"/>
                <a:ea typeface="Calibri" pitchFamily="34" charset="-122"/>
                <a:cs typeface="Calibri" pitchFamily="34" charset="-120"/>
              </a:rPr>
              <a:t>30% / credit ≤800 catches the most future callers (23.4%), at a higher overall alert volume.</a:t>
            </a:r>
            <a:endParaRPr lang="en-US" sz="1200" dirty="0"/>
          </a:p>
        </p:txBody>
      </p:sp>
      <p:sp>
        <p:nvSpPr>
          <p:cNvPr id="8" name="Shape 5"/>
          <p:cNvSpPr/>
          <p:nvPr/>
        </p:nvSpPr>
        <p:spPr>
          <a:xfrm>
            <a:off x="6492240" y="4617720"/>
            <a:ext cx="5212080" cy="1554480"/>
          </a:xfrm>
          <a:prstGeom prst="roundRect">
            <a:avLst>
              <a:gd name="adj" fmla="val 4706"/>
            </a:avLst>
          </a:prstGeom>
          <a:solidFill>
            <a:srgbClr val="F7F8FA"/>
          </a:solidFill>
          <a:ln/>
        </p:spPr>
      </p:sp>
      <p:sp>
        <p:nvSpPr>
          <p:cNvPr id="9" name="Text 6"/>
          <p:cNvSpPr/>
          <p:nvPr/>
        </p:nvSpPr>
        <p:spPr>
          <a:xfrm>
            <a:off x="6766560" y="4800600"/>
            <a:ext cx="4663440" cy="365760"/>
          </a:xfrm>
          <a:prstGeom prst="rect">
            <a:avLst/>
          </a:prstGeom>
          <a:noFill/>
          <a:ln/>
        </p:spPr>
        <p:txBody>
          <a:bodyPr wrap="square" rtlCol="0" anchor="ctr"/>
          <a:lstStyle/>
          <a:p>
            <a:pPr indent="0" marL="0">
              <a:buNone/>
            </a:pPr>
            <a:r>
              <a:rPr lang="en-US" sz="1400" b="1" dirty="0">
                <a:solidFill>
                  <a:srgbClr val="C77B12"/>
                </a:solidFill>
                <a:latin typeface="Calibri" pitchFamily="34" charset="0"/>
                <a:ea typeface="Calibri" pitchFamily="34" charset="-122"/>
                <a:cs typeface="Calibri" pitchFamily="34" charset="-120"/>
              </a:rPr>
              <a:t>Most Efficient</a:t>
            </a:r>
            <a:endParaRPr lang="en-US" sz="1400" dirty="0"/>
          </a:p>
        </p:txBody>
      </p:sp>
      <p:sp>
        <p:nvSpPr>
          <p:cNvPr id="10" name="Text 7"/>
          <p:cNvSpPr/>
          <p:nvPr/>
        </p:nvSpPr>
        <p:spPr>
          <a:xfrm>
            <a:off x="6766560" y="5212080"/>
            <a:ext cx="4663440" cy="868680"/>
          </a:xfrm>
          <a:prstGeom prst="rect">
            <a:avLst/>
          </a:prstGeom>
          <a:noFill/>
          <a:ln/>
        </p:spPr>
        <p:txBody>
          <a:bodyPr wrap="square" rtlCol="0" anchor="ctr"/>
          <a:lstStyle/>
          <a:p>
            <a:pPr indent="0" marL="0">
              <a:lnSpc>
                <a:spcPct val="120000"/>
              </a:lnSpc>
              <a:buNone/>
            </a:pPr>
            <a:r>
              <a:rPr lang="en-US" sz="1200" dirty="0">
                <a:solidFill>
                  <a:srgbClr val="3C3C3C"/>
                </a:solidFill>
                <a:latin typeface="Calibri" pitchFamily="34" charset="0"/>
                <a:ea typeface="Calibri" pitchFamily="34" charset="-122"/>
                <a:cs typeface="Calibri" pitchFamily="34" charset="-120"/>
              </a:rPr>
              <a:t>50% / credit ≤700 has the best signal-per-alert ratio, but only catches ~1 in 10 future callers.</a:t>
            </a:r>
            <a:endParaRPr lang="en-US" sz="1200" dirty="0"/>
          </a:p>
        </p:txBody>
      </p:sp>
      <p:sp>
        <p:nvSpPr>
          <p:cNvPr id="11" name="Text 8"/>
          <p:cNvSpPr/>
          <p:nvPr/>
        </p:nvSpPr>
        <p:spPr>
          <a:xfrm>
            <a:off x="457200" y="6519672"/>
            <a:ext cx="8229600" cy="274320"/>
          </a:xfrm>
          <a:prstGeom prst="rect">
            <a:avLst/>
          </a:prstGeom>
          <a:noFill/>
          <a:ln/>
        </p:spPr>
        <p:txBody>
          <a:bodyPr wrap="square" rtlCol="0" anchor="ctr"/>
          <a:lstStyle/>
          <a:p>
            <a:pPr indent="0" marL="0">
              <a:buNone/>
            </a:pPr>
            <a:r>
              <a:rPr lang="en-US" sz="900" dirty="0">
                <a:solidFill>
                  <a:srgbClr val="9AA5B1"/>
                </a:solidFill>
                <a:latin typeface="Calibri" pitchFamily="34" charset="0"/>
                <a:ea typeface="Calibri" pitchFamily="34" charset="-122"/>
                <a:cs typeface="Calibri" pitchFamily="34" charset="-120"/>
              </a:rPr>
              <a:t>Task 7: Proactive Usage &amp; Bill Shock Alert Model</a:t>
            </a:r>
            <a:endParaRPr lang="en-US" sz="900" dirty="0"/>
          </a:p>
        </p:txBody>
      </p:sp>
      <p:sp>
        <p:nvSpPr>
          <p:cNvPr id="12" name="Text 9"/>
          <p:cNvSpPr/>
          <p:nvPr/>
        </p:nvSpPr>
        <p:spPr>
          <a:xfrm>
            <a:off x="10820095" y="6519672"/>
            <a:ext cx="914400" cy="274320"/>
          </a:xfrm>
          <a:prstGeom prst="rect">
            <a:avLst/>
          </a:prstGeom>
          <a:noFill/>
          <a:ln/>
        </p:spPr>
        <p:txBody>
          <a:bodyPr wrap="square"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640080"/>
          </a:xfrm>
          <a:prstGeom prst="rect">
            <a:avLst/>
          </a:prstGeom>
          <a:noFill/>
          <a:ln/>
        </p:spPr>
        <p:txBody>
          <a:bodyPr wrap="square" rtlCol="0" anchor="ctr"/>
          <a:lstStyle/>
          <a:p>
            <a:pPr indent="0" marL="0">
              <a:buNone/>
            </a:pPr>
            <a:r>
              <a:rPr lang="en-US" sz="2600" b="1" dirty="0">
                <a:solidFill>
                  <a:srgbClr val="1B2A41"/>
                </a:solidFill>
                <a:latin typeface="Calibri" pitchFamily="34" charset="0"/>
                <a:ea typeface="Calibri" pitchFamily="34" charset="-122"/>
                <a:cs typeface="Calibri" pitchFamily="34" charset="-120"/>
              </a:rPr>
              <a:t>Key Findings</a:t>
            </a:r>
            <a:endParaRPr lang="en-US" sz="2600" dirty="0"/>
          </a:p>
        </p:txBody>
      </p:sp>
      <p:sp>
        <p:nvSpPr>
          <p:cNvPr id="3" name="Shape 1"/>
          <p:cNvSpPr/>
          <p:nvPr/>
        </p:nvSpPr>
        <p:spPr>
          <a:xfrm>
            <a:off x="548640" y="1691640"/>
            <a:ext cx="11064240" cy="932688"/>
          </a:xfrm>
          <a:prstGeom prst="roundRect">
            <a:avLst>
              <a:gd name="adj" fmla="val 5882"/>
            </a:avLst>
          </a:prstGeom>
          <a:solidFill>
            <a:srgbClr val="F7F8FA"/>
          </a:solidFill>
          <a:ln/>
        </p:spPr>
      </p:sp>
      <p:sp>
        <p:nvSpPr>
          <p:cNvPr id="4" name="Shape 2"/>
          <p:cNvSpPr/>
          <p:nvPr/>
        </p:nvSpPr>
        <p:spPr>
          <a:xfrm>
            <a:off x="777240" y="1837944"/>
            <a:ext cx="365760" cy="54864"/>
          </a:xfrm>
          <a:prstGeom prst="rect">
            <a:avLst/>
          </a:prstGeom>
          <a:solidFill>
            <a:srgbClr val="0F6E6E"/>
          </a:solidFill>
          <a:ln/>
        </p:spPr>
      </p:sp>
      <p:sp>
        <p:nvSpPr>
          <p:cNvPr id="5" name="Text 3"/>
          <p:cNvSpPr/>
          <p:nvPr/>
        </p:nvSpPr>
        <p:spPr>
          <a:xfrm>
            <a:off x="777240" y="1965960"/>
            <a:ext cx="10607040" cy="365760"/>
          </a:xfrm>
          <a:prstGeom prst="rect">
            <a:avLst/>
          </a:prstGeom>
          <a:noFill/>
          <a:ln/>
        </p:spPr>
        <p:txBody>
          <a:bodyPr wrap="square"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Callers show a consistent, real bill-shock signal</a:t>
            </a:r>
            <a:endParaRPr lang="en-US" sz="1400" dirty="0"/>
          </a:p>
        </p:txBody>
      </p:sp>
      <p:sp>
        <p:nvSpPr>
          <p:cNvPr id="6" name="Text 4"/>
          <p:cNvSpPr/>
          <p:nvPr/>
        </p:nvSpPr>
        <p:spPr>
          <a:xfrm>
            <a:off x="777240" y="2313432"/>
            <a:ext cx="10607040" cy="365760"/>
          </a:xfrm>
          <a:prstGeom prst="rect">
            <a:avLst/>
          </a:prstGeom>
          <a:noFill/>
          <a:ln/>
        </p:spPr>
        <p:txBody>
          <a:bodyPr wrap="square" rtlCol="0" anchor="ctr"/>
          <a:lstStyle/>
          <a:p>
            <a:pPr indent="0" marL="0">
              <a:buNone/>
            </a:pPr>
            <a:r>
              <a:rPr lang="en-US" sz="1200" dirty="0">
                <a:solidFill>
                  <a:srgbClr val="3C3C3C"/>
                </a:solidFill>
                <a:latin typeface="Calibri" pitchFamily="34" charset="0"/>
                <a:ea typeface="Calibri" pitchFamily="34" charset="-122"/>
                <a:cs typeface="Calibri" pitchFamily="34" charset="-120"/>
              </a:rPr>
              <a:t>Higher dollar and percent bill increases, more usage growth, lower credit, shorter tenure — every factor points the same direction.</a:t>
            </a:r>
            <a:endParaRPr lang="en-US" sz="1200" dirty="0"/>
          </a:p>
        </p:txBody>
      </p:sp>
      <p:sp>
        <p:nvSpPr>
          <p:cNvPr id="7" name="Shape 5"/>
          <p:cNvSpPr/>
          <p:nvPr/>
        </p:nvSpPr>
        <p:spPr>
          <a:xfrm>
            <a:off x="548640" y="2788920"/>
            <a:ext cx="11064240" cy="932688"/>
          </a:xfrm>
          <a:prstGeom prst="roundRect">
            <a:avLst>
              <a:gd name="adj" fmla="val 5882"/>
            </a:avLst>
          </a:prstGeom>
          <a:solidFill>
            <a:srgbClr val="F7F8FA"/>
          </a:solidFill>
          <a:ln/>
        </p:spPr>
      </p:sp>
      <p:sp>
        <p:nvSpPr>
          <p:cNvPr id="8" name="Shape 6"/>
          <p:cNvSpPr/>
          <p:nvPr/>
        </p:nvSpPr>
        <p:spPr>
          <a:xfrm>
            <a:off x="777240" y="2935224"/>
            <a:ext cx="365760" cy="54864"/>
          </a:xfrm>
          <a:prstGeom prst="rect">
            <a:avLst/>
          </a:prstGeom>
          <a:solidFill>
            <a:srgbClr val="44546A"/>
          </a:solidFill>
          <a:ln/>
        </p:spPr>
      </p:sp>
      <p:sp>
        <p:nvSpPr>
          <p:cNvPr id="9" name="Text 7"/>
          <p:cNvSpPr/>
          <p:nvPr/>
        </p:nvSpPr>
        <p:spPr>
          <a:xfrm>
            <a:off x="777240" y="3063240"/>
            <a:ext cx="10607040" cy="365760"/>
          </a:xfrm>
          <a:prstGeom prst="rect">
            <a:avLst/>
          </a:prstGeom>
          <a:noFill/>
          <a:ln/>
        </p:spPr>
        <p:txBody>
          <a:bodyPr wrap="square"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Personal baselines need a confidence check</a:t>
            </a:r>
            <a:endParaRPr lang="en-US" sz="1400" dirty="0"/>
          </a:p>
        </p:txBody>
      </p:sp>
      <p:sp>
        <p:nvSpPr>
          <p:cNvPr id="10" name="Text 8"/>
          <p:cNvSpPr/>
          <p:nvPr/>
        </p:nvSpPr>
        <p:spPr>
          <a:xfrm>
            <a:off x="777240" y="3410712"/>
            <a:ext cx="10607040" cy="365760"/>
          </a:xfrm>
          <a:prstGeom prst="rect">
            <a:avLst/>
          </a:prstGeom>
          <a:noFill/>
          <a:ln/>
        </p:spPr>
        <p:txBody>
          <a:bodyPr wrap="square" rtlCol="0" anchor="ctr"/>
          <a:lstStyle/>
          <a:p>
            <a:pPr indent="0" marL="0">
              <a:buNone/>
            </a:pPr>
            <a:r>
              <a:rPr lang="en-US" sz="1200" dirty="0">
                <a:solidFill>
                  <a:srgbClr val="3C3C3C"/>
                </a:solidFill>
                <a:latin typeface="Calibri" pitchFamily="34" charset="0"/>
                <a:ea typeface="Calibri" pitchFamily="34" charset="-122"/>
                <a:cs typeface="Calibri" pitchFamily="34" charset="-120"/>
              </a:rPr>
              <a:t>Short-tenure customers' baselines are unreliable on their own; medians and confidence tiers keep the analysis honest.</a:t>
            </a:r>
            <a:endParaRPr lang="en-US" sz="1200" dirty="0"/>
          </a:p>
        </p:txBody>
      </p:sp>
      <p:sp>
        <p:nvSpPr>
          <p:cNvPr id="11" name="Shape 9"/>
          <p:cNvSpPr/>
          <p:nvPr/>
        </p:nvSpPr>
        <p:spPr>
          <a:xfrm>
            <a:off x="548640" y="3886200"/>
            <a:ext cx="11064240" cy="932688"/>
          </a:xfrm>
          <a:prstGeom prst="roundRect">
            <a:avLst>
              <a:gd name="adj" fmla="val 5882"/>
            </a:avLst>
          </a:prstGeom>
          <a:solidFill>
            <a:srgbClr val="F7F8FA"/>
          </a:solidFill>
          <a:ln/>
        </p:spPr>
      </p:sp>
      <p:sp>
        <p:nvSpPr>
          <p:cNvPr id="12" name="Shape 10"/>
          <p:cNvSpPr/>
          <p:nvPr/>
        </p:nvSpPr>
        <p:spPr>
          <a:xfrm>
            <a:off x="777240" y="4032504"/>
            <a:ext cx="365760" cy="54864"/>
          </a:xfrm>
          <a:prstGeom prst="rect">
            <a:avLst/>
          </a:prstGeom>
          <a:solidFill>
            <a:srgbClr val="1E7B4D"/>
          </a:solidFill>
          <a:ln/>
        </p:spPr>
      </p:sp>
      <p:sp>
        <p:nvSpPr>
          <p:cNvPr id="13" name="Text 11"/>
          <p:cNvSpPr/>
          <p:nvPr/>
        </p:nvSpPr>
        <p:spPr>
          <a:xfrm>
            <a:off x="777240" y="4160520"/>
            <a:ext cx="10607040" cy="365760"/>
          </a:xfrm>
          <a:prstGeom prst="rect">
            <a:avLst/>
          </a:prstGeom>
          <a:noFill/>
          <a:ln/>
        </p:spPr>
        <p:txBody>
          <a:bodyPr wrap="square"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The alert model is a dial, not a switch</a:t>
            </a:r>
            <a:endParaRPr lang="en-US" sz="1400" dirty="0"/>
          </a:p>
        </p:txBody>
      </p:sp>
      <p:sp>
        <p:nvSpPr>
          <p:cNvPr id="14" name="Text 12"/>
          <p:cNvSpPr/>
          <p:nvPr/>
        </p:nvSpPr>
        <p:spPr>
          <a:xfrm>
            <a:off x="777240" y="4507992"/>
            <a:ext cx="10607040" cy="365760"/>
          </a:xfrm>
          <a:prstGeom prst="rect">
            <a:avLst/>
          </a:prstGeom>
          <a:noFill/>
          <a:ln/>
        </p:spPr>
        <p:txBody>
          <a:bodyPr wrap="square" rtlCol="0" anchor="ctr"/>
          <a:lstStyle/>
          <a:p>
            <a:pPr indent="0" marL="0">
              <a:buNone/>
            </a:pPr>
            <a:r>
              <a:rPr lang="en-US" sz="1200" dirty="0">
                <a:solidFill>
                  <a:srgbClr val="3C3C3C"/>
                </a:solidFill>
                <a:latin typeface="Calibri" pitchFamily="34" charset="0"/>
                <a:ea typeface="Calibri" pitchFamily="34" charset="-122"/>
                <a:cs typeface="Calibri" pitchFamily="34" charset="-120"/>
              </a:rPr>
              <a:t>Threshold choice trades off reach vs. volume — there's no single right answer, it depends on what Jonathan wants to optimize for.</a:t>
            </a:r>
            <a:endParaRPr lang="en-US" sz="1200" dirty="0"/>
          </a:p>
        </p:txBody>
      </p:sp>
      <p:sp>
        <p:nvSpPr>
          <p:cNvPr id="15" name="Shape 13"/>
          <p:cNvSpPr/>
          <p:nvPr/>
        </p:nvSpPr>
        <p:spPr>
          <a:xfrm>
            <a:off x="548640" y="4983480"/>
            <a:ext cx="11064240" cy="932688"/>
          </a:xfrm>
          <a:prstGeom prst="roundRect">
            <a:avLst>
              <a:gd name="adj" fmla="val 5882"/>
            </a:avLst>
          </a:prstGeom>
          <a:solidFill>
            <a:srgbClr val="F7F8FA"/>
          </a:solidFill>
          <a:ln/>
        </p:spPr>
      </p:sp>
      <p:sp>
        <p:nvSpPr>
          <p:cNvPr id="16" name="Shape 14"/>
          <p:cNvSpPr/>
          <p:nvPr/>
        </p:nvSpPr>
        <p:spPr>
          <a:xfrm>
            <a:off x="777240" y="5129784"/>
            <a:ext cx="365760" cy="54864"/>
          </a:xfrm>
          <a:prstGeom prst="rect">
            <a:avLst/>
          </a:prstGeom>
          <a:solidFill>
            <a:srgbClr val="C77B12"/>
          </a:solidFill>
          <a:ln/>
        </p:spPr>
      </p:sp>
      <p:sp>
        <p:nvSpPr>
          <p:cNvPr id="17" name="Text 15"/>
          <p:cNvSpPr/>
          <p:nvPr/>
        </p:nvSpPr>
        <p:spPr>
          <a:xfrm>
            <a:off x="777240" y="5257800"/>
            <a:ext cx="10607040" cy="365760"/>
          </a:xfrm>
          <a:prstGeom prst="rect">
            <a:avLst/>
          </a:prstGeom>
          <a:noFill/>
          <a:ln/>
        </p:spPr>
        <p:txBody>
          <a:bodyPr wrap="square" rtlCol="0" anchor="ctr"/>
          <a:lstStyle/>
          <a:p>
            <a:pPr indent="0" marL="0">
              <a:buNone/>
            </a:pPr>
            <a:r>
              <a:rPr lang="en-US" sz="1400" b="1" dirty="0">
                <a:solidFill>
                  <a:srgbClr val="1B2A41"/>
                </a:solidFill>
                <a:latin typeface="Calibri" pitchFamily="34" charset="0"/>
                <a:ea typeface="Calibri" pitchFamily="34" charset="-122"/>
                <a:cs typeface="Calibri" pitchFamily="34" charset="-120"/>
              </a:rPr>
              <a:t>Non-caller flags are not false positives</a:t>
            </a:r>
            <a:endParaRPr lang="en-US" sz="1400" dirty="0"/>
          </a:p>
        </p:txBody>
      </p:sp>
      <p:sp>
        <p:nvSpPr>
          <p:cNvPr id="18" name="Text 16"/>
          <p:cNvSpPr/>
          <p:nvPr/>
        </p:nvSpPr>
        <p:spPr>
          <a:xfrm>
            <a:off x="777240" y="5605272"/>
            <a:ext cx="10607040" cy="365760"/>
          </a:xfrm>
          <a:prstGeom prst="rect">
            <a:avLst/>
          </a:prstGeom>
          <a:noFill/>
          <a:ln/>
        </p:spPr>
        <p:txBody>
          <a:bodyPr wrap="square" rtlCol="0" anchor="ctr"/>
          <a:lstStyle/>
          <a:p>
            <a:pPr indent="0" marL="0">
              <a:buNone/>
            </a:pPr>
            <a:r>
              <a:rPr lang="en-US" sz="1200" dirty="0">
                <a:solidFill>
                  <a:srgbClr val="3C3C3C"/>
                </a:solidFill>
                <a:latin typeface="Calibri" pitchFamily="34" charset="0"/>
                <a:ea typeface="Calibri" pitchFamily="34" charset="-122"/>
                <a:cs typeface="Calibri" pitchFamily="34" charset="-120"/>
              </a:rPr>
              <a:t>Someone flagged who never called is still heading toward a real bill increase — an early alert helps them too.</a:t>
            </a:r>
            <a:endParaRPr lang="en-US" sz="1200" dirty="0"/>
          </a:p>
        </p:txBody>
      </p:sp>
      <p:sp>
        <p:nvSpPr>
          <p:cNvPr id="19" name="Text 17"/>
          <p:cNvSpPr/>
          <p:nvPr/>
        </p:nvSpPr>
        <p:spPr>
          <a:xfrm>
            <a:off x="457200" y="6519672"/>
            <a:ext cx="8229600" cy="274320"/>
          </a:xfrm>
          <a:prstGeom prst="rect">
            <a:avLst/>
          </a:prstGeom>
          <a:noFill/>
          <a:ln/>
        </p:spPr>
        <p:txBody>
          <a:bodyPr wrap="square" rtlCol="0" anchor="ctr"/>
          <a:lstStyle/>
          <a:p>
            <a:pPr indent="0" marL="0">
              <a:buNone/>
            </a:pPr>
            <a:r>
              <a:rPr lang="en-US" sz="900" dirty="0">
                <a:solidFill>
                  <a:srgbClr val="9AA5B1"/>
                </a:solidFill>
                <a:latin typeface="Calibri" pitchFamily="34" charset="0"/>
                <a:ea typeface="Calibri" pitchFamily="34" charset="-122"/>
                <a:cs typeface="Calibri" pitchFamily="34" charset="-120"/>
              </a:rPr>
              <a:t>Task 7: Proactive Usage &amp; Bill Shock Alert Model</a:t>
            </a:r>
            <a:endParaRPr lang="en-US" sz="900" dirty="0"/>
          </a:p>
        </p:txBody>
      </p:sp>
      <p:sp>
        <p:nvSpPr>
          <p:cNvPr id="20" name="Text 18"/>
          <p:cNvSpPr/>
          <p:nvPr/>
        </p:nvSpPr>
        <p:spPr>
          <a:xfrm>
            <a:off x="10820095" y="6519672"/>
            <a:ext cx="914400" cy="274320"/>
          </a:xfrm>
          <a:prstGeom prst="rect">
            <a:avLst/>
          </a:prstGeom>
          <a:noFill/>
          <a:ln/>
        </p:spPr>
        <p:txBody>
          <a:bodyPr wrap="square"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640080" y="457200"/>
            <a:ext cx="9144000" cy="640080"/>
          </a:xfrm>
          <a:prstGeom prst="rect">
            <a:avLst/>
          </a:prstGeom>
          <a:noFill/>
          <a:ln/>
        </p:spPr>
        <p:txBody>
          <a:bodyPr wrap="square" rtlCol="0" anchor="ctr"/>
          <a:lstStyle/>
          <a:p>
            <a:pPr indent="0" marL="0">
              <a:buNone/>
            </a:pPr>
            <a:r>
              <a:rPr lang="en-US" sz="3000" b="1" spc="100" kern="0" dirty="0">
                <a:solidFill>
                  <a:srgbClr val="FFFFFF"/>
                </a:solidFill>
                <a:latin typeface="Calibri" pitchFamily="34" charset="0"/>
                <a:ea typeface="Calibri" pitchFamily="34" charset="-122"/>
                <a:cs typeface="Calibri" pitchFamily="34" charset="-120"/>
              </a:rPr>
              <a:t>NEXT STEPS</a:t>
            </a:r>
            <a:endParaRPr lang="en-US" sz="3000" dirty="0"/>
          </a:p>
        </p:txBody>
      </p:sp>
      <p:sp>
        <p:nvSpPr>
          <p:cNvPr id="3" name="Text 1"/>
          <p:cNvSpPr/>
          <p:nvPr/>
        </p:nvSpPr>
        <p:spPr>
          <a:xfrm>
            <a:off x="640080" y="1078992"/>
            <a:ext cx="9144000" cy="411480"/>
          </a:xfrm>
          <a:prstGeom prst="rect">
            <a:avLst/>
          </a:prstGeom>
          <a:noFill/>
          <a:ln/>
        </p:spPr>
        <p:txBody>
          <a:bodyPr wrap="square" rtlCol="0" anchor="ctr"/>
          <a:lstStyle/>
          <a:p>
            <a:pPr indent="0" marL="0">
              <a:buNone/>
            </a:pPr>
            <a:r>
              <a:rPr lang="en-US" sz="1500" dirty="0">
                <a:solidFill>
                  <a:srgbClr val="BFD3E0"/>
                </a:solidFill>
                <a:latin typeface="Calibri" pitchFamily="34" charset="0"/>
                <a:ea typeface="Calibri" pitchFamily="34" charset="-122"/>
                <a:cs typeface="Calibri" pitchFamily="34" charset="-120"/>
              </a:rPr>
              <a:t>Where this goes from here</a:t>
            </a:r>
            <a:endParaRPr lang="en-US" sz="1500" dirty="0"/>
          </a:p>
        </p:txBody>
      </p:sp>
      <p:sp>
        <p:nvSpPr>
          <p:cNvPr id="4" name="Shape 2"/>
          <p:cNvSpPr/>
          <p:nvPr/>
        </p:nvSpPr>
        <p:spPr>
          <a:xfrm>
            <a:off x="640080" y="1828800"/>
            <a:ext cx="411480" cy="411480"/>
          </a:xfrm>
          <a:prstGeom prst="ellipse">
            <a:avLst/>
          </a:prstGeom>
          <a:solidFill>
            <a:srgbClr val="0F6E6E"/>
          </a:solidFill>
          <a:ln/>
        </p:spPr>
      </p:sp>
      <p:sp>
        <p:nvSpPr>
          <p:cNvPr id="5" name="Text 3"/>
          <p:cNvSpPr/>
          <p:nvPr/>
        </p:nvSpPr>
        <p:spPr>
          <a:xfrm>
            <a:off x="640080" y="182880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34440" y="1764792"/>
            <a:ext cx="102412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Pick a threshold combination</a:t>
            </a:r>
            <a:endParaRPr lang="en-US" sz="1400" dirty="0"/>
          </a:p>
        </p:txBody>
      </p:sp>
      <p:sp>
        <p:nvSpPr>
          <p:cNvPr id="7" name="Text 5"/>
          <p:cNvSpPr/>
          <p:nvPr/>
        </p:nvSpPr>
        <p:spPr>
          <a:xfrm>
            <a:off x="1234440" y="2103120"/>
            <a:ext cx="10241280" cy="502920"/>
          </a:xfrm>
          <a:prstGeom prst="rect">
            <a:avLst/>
          </a:prstGeom>
          <a:noFill/>
          <a:ln/>
        </p:spPr>
        <p:txBody>
          <a:bodyPr wrap="square" rtlCol="0" anchor="ctr"/>
          <a:lstStyle/>
          <a:p>
            <a:pPr indent="0" marL="0">
              <a:lnSpc>
                <a:spcPct val="110000"/>
              </a:lnSpc>
              <a:buNone/>
            </a:pPr>
            <a:r>
              <a:rPr lang="en-US" sz="1150" dirty="0">
                <a:solidFill>
                  <a:srgbClr val="AFC2D4"/>
                </a:solidFill>
                <a:latin typeface="Calibri" pitchFamily="34" charset="0"/>
                <a:ea typeface="Calibri" pitchFamily="34" charset="-122"/>
                <a:cs typeface="Calibri" pitchFamily="34" charset="-120"/>
              </a:rPr>
              <a:t>Jonathan's call — depends on operational cost per alert (agent capacity, SMS/email budget) vs. how much reach matters.</a:t>
            </a:r>
            <a:endParaRPr lang="en-US" sz="1150" dirty="0"/>
          </a:p>
        </p:txBody>
      </p:sp>
      <p:sp>
        <p:nvSpPr>
          <p:cNvPr id="8" name="Shape 6"/>
          <p:cNvSpPr/>
          <p:nvPr/>
        </p:nvSpPr>
        <p:spPr>
          <a:xfrm>
            <a:off x="640080" y="2724912"/>
            <a:ext cx="411480" cy="411480"/>
          </a:xfrm>
          <a:prstGeom prst="ellipse">
            <a:avLst/>
          </a:prstGeom>
          <a:solidFill>
            <a:srgbClr val="0F6E6E"/>
          </a:solidFill>
          <a:ln/>
        </p:spPr>
      </p:sp>
      <p:sp>
        <p:nvSpPr>
          <p:cNvPr id="9" name="Text 7"/>
          <p:cNvSpPr/>
          <p:nvPr/>
        </p:nvSpPr>
        <p:spPr>
          <a:xfrm>
            <a:off x="640080" y="2724912"/>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234440" y="2660904"/>
            <a:ext cx="102412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Build the actual alert trigger and communication</a:t>
            </a:r>
            <a:endParaRPr lang="en-US" sz="1400" dirty="0"/>
          </a:p>
        </p:txBody>
      </p:sp>
      <p:sp>
        <p:nvSpPr>
          <p:cNvPr id="11" name="Text 9"/>
          <p:cNvSpPr/>
          <p:nvPr/>
        </p:nvSpPr>
        <p:spPr>
          <a:xfrm>
            <a:off x="1234440" y="2999232"/>
            <a:ext cx="10241280" cy="502920"/>
          </a:xfrm>
          <a:prstGeom prst="rect">
            <a:avLst/>
          </a:prstGeom>
          <a:noFill/>
          <a:ln/>
        </p:spPr>
        <p:txBody>
          <a:bodyPr wrap="square" rtlCol="0" anchor="ctr"/>
          <a:lstStyle/>
          <a:p>
            <a:pPr indent="0" marL="0">
              <a:lnSpc>
                <a:spcPct val="110000"/>
              </a:lnSpc>
              <a:buNone/>
            </a:pPr>
            <a:r>
              <a:rPr lang="en-US" sz="1150" dirty="0">
                <a:solidFill>
                  <a:srgbClr val="AFC2D4"/>
                </a:solidFill>
                <a:latin typeface="Calibri" pitchFamily="34" charset="0"/>
                <a:ea typeface="Calibri" pitchFamily="34" charset="-122"/>
                <a:cs typeface="Calibri" pitchFamily="34" charset="-120"/>
              </a:rPr>
              <a:t>Turn the chosen threshold into a live daily flag, paired with a customer-facing usage nudge message.</a:t>
            </a:r>
            <a:endParaRPr lang="en-US" sz="1150" dirty="0"/>
          </a:p>
        </p:txBody>
      </p:sp>
      <p:sp>
        <p:nvSpPr>
          <p:cNvPr id="12" name="Shape 10"/>
          <p:cNvSpPr/>
          <p:nvPr/>
        </p:nvSpPr>
        <p:spPr>
          <a:xfrm>
            <a:off x="640080" y="3621024"/>
            <a:ext cx="411480" cy="411480"/>
          </a:xfrm>
          <a:prstGeom prst="ellipse">
            <a:avLst/>
          </a:prstGeom>
          <a:solidFill>
            <a:srgbClr val="0F6E6E"/>
          </a:solidFill>
          <a:ln/>
        </p:spPr>
      </p:sp>
      <p:sp>
        <p:nvSpPr>
          <p:cNvPr id="13" name="Text 11"/>
          <p:cNvSpPr/>
          <p:nvPr/>
        </p:nvSpPr>
        <p:spPr>
          <a:xfrm>
            <a:off x="640080" y="3621024"/>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34440" y="3557016"/>
            <a:ext cx="102412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Validate against a holdout period</a:t>
            </a:r>
            <a:endParaRPr lang="en-US" sz="1400" dirty="0"/>
          </a:p>
        </p:txBody>
      </p:sp>
      <p:sp>
        <p:nvSpPr>
          <p:cNvPr id="15" name="Text 13"/>
          <p:cNvSpPr/>
          <p:nvPr/>
        </p:nvSpPr>
        <p:spPr>
          <a:xfrm>
            <a:off x="1234440" y="3895344"/>
            <a:ext cx="10241280" cy="502920"/>
          </a:xfrm>
          <a:prstGeom prst="rect">
            <a:avLst/>
          </a:prstGeom>
          <a:noFill/>
          <a:ln/>
        </p:spPr>
        <p:txBody>
          <a:bodyPr wrap="square" rtlCol="0" anchor="ctr"/>
          <a:lstStyle/>
          <a:p>
            <a:pPr indent="0" marL="0">
              <a:lnSpc>
                <a:spcPct val="110000"/>
              </a:lnSpc>
              <a:buNone/>
            </a:pPr>
            <a:r>
              <a:rPr lang="en-US" sz="1150" dirty="0">
                <a:solidFill>
                  <a:srgbClr val="AFC2D4"/>
                </a:solidFill>
                <a:latin typeface="Calibri" pitchFamily="34" charset="0"/>
                <a:ea typeface="Calibri" pitchFamily="34" charset="-122"/>
                <a:cs typeface="Calibri" pitchFamily="34" charset="-120"/>
              </a:rPr>
              <a:t>Test the chosen threshold on a future window of real data before rolling out broadly.</a:t>
            </a:r>
            <a:endParaRPr lang="en-US" sz="1150" dirty="0"/>
          </a:p>
        </p:txBody>
      </p:sp>
      <p:sp>
        <p:nvSpPr>
          <p:cNvPr id="16" name="Shape 14"/>
          <p:cNvSpPr/>
          <p:nvPr/>
        </p:nvSpPr>
        <p:spPr>
          <a:xfrm>
            <a:off x="640080" y="4517136"/>
            <a:ext cx="411480" cy="411480"/>
          </a:xfrm>
          <a:prstGeom prst="ellipse">
            <a:avLst/>
          </a:prstGeom>
          <a:solidFill>
            <a:srgbClr val="0F6E6E"/>
          </a:solidFill>
          <a:ln/>
        </p:spPr>
      </p:sp>
      <p:sp>
        <p:nvSpPr>
          <p:cNvPr id="17" name="Text 15"/>
          <p:cNvSpPr/>
          <p:nvPr/>
        </p:nvSpPr>
        <p:spPr>
          <a:xfrm>
            <a:off x="640080" y="4517136"/>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234440" y="4453128"/>
            <a:ext cx="102412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Track outcomes</a:t>
            </a:r>
            <a:endParaRPr lang="en-US" sz="1400" dirty="0"/>
          </a:p>
        </p:txBody>
      </p:sp>
      <p:sp>
        <p:nvSpPr>
          <p:cNvPr id="19" name="Text 17"/>
          <p:cNvSpPr/>
          <p:nvPr/>
        </p:nvSpPr>
        <p:spPr>
          <a:xfrm>
            <a:off x="1234440" y="4791456"/>
            <a:ext cx="10241280" cy="502920"/>
          </a:xfrm>
          <a:prstGeom prst="rect">
            <a:avLst/>
          </a:prstGeom>
          <a:noFill/>
          <a:ln/>
        </p:spPr>
        <p:txBody>
          <a:bodyPr wrap="square" rtlCol="0" anchor="ctr"/>
          <a:lstStyle/>
          <a:p>
            <a:pPr indent="0" marL="0">
              <a:lnSpc>
                <a:spcPct val="110000"/>
              </a:lnSpc>
              <a:buNone/>
            </a:pPr>
            <a:r>
              <a:rPr lang="en-US" sz="1150" dirty="0">
                <a:solidFill>
                  <a:srgbClr val="AFC2D4"/>
                </a:solidFill>
                <a:latin typeface="Calibri" pitchFamily="34" charset="0"/>
                <a:ea typeface="Calibri" pitchFamily="34" charset="-122"/>
                <a:cs typeface="Calibri" pitchFamily="34" charset="-120"/>
              </a:rPr>
              <a:t>Once live, measure whether alerted customers actually reduce usage or call in less — the real test of whether this works.</a:t>
            </a:r>
            <a:endParaRPr lang="en-US" sz="1150" dirty="0"/>
          </a:p>
        </p:txBody>
      </p:sp>
      <p:sp>
        <p:nvSpPr>
          <p:cNvPr id="20" name="Text 18"/>
          <p:cNvSpPr/>
          <p:nvPr/>
        </p:nvSpPr>
        <p:spPr>
          <a:xfrm>
            <a:off x="457200" y="6519672"/>
            <a:ext cx="8229600" cy="274320"/>
          </a:xfrm>
          <a:prstGeom prst="rect">
            <a:avLst/>
          </a:prstGeom>
          <a:noFill/>
          <a:ln/>
        </p:spPr>
        <p:txBody>
          <a:bodyPr wrap="square" rtlCol="0" anchor="ctr"/>
          <a:lstStyle/>
          <a:p>
            <a:pPr indent="0" marL="0">
              <a:buNone/>
            </a:pPr>
            <a:r>
              <a:rPr lang="en-US" sz="900" dirty="0">
                <a:solidFill>
                  <a:srgbClr val="9AA5B1"/>
                </a:solidFill>
                <a:latin typeface="Calibri" pitchFamily="34" charset="0"/>
                <a:ea typeface="Calibri" pitchFamily="34" charset="-122"/>
                <a:cs typeface="Calibri" pitchFamily="34" charset="-120"/>
              </a:rPr>
              <a:t>Task 7: Proactive Usage &amp; Bill Shock Alert Model</a:t>
            </a:r>
            <a:endParaRPr lang="en-US" sz="900" dirty="0"/>
          </a:p>
        </p:txBody>
      </p:sp>
      <p:sp>
        <p:nvSpPr>
          <p:cNvPr id="21" name="Text 19"/>
          <p:cNvSpPr/>
          <p:nvPr/>
        </p:nvSpPr>
        <p:spPr>
          <a:xfrm>
            <a:off x="10820095" y="6519672"/>
            <a:ext cx="914400" cy="274320"/>
          </a:xfrm>
          <a:prstGeom prst="rect">
            <a:avLst/>
          </a:prstGeom>
          <a:noFill/>
          <a:ln/>
        </p:spPr>
        <p:txBody>
          <a:bodyPr wrap="square"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2026-07-29T14:24:34Z</dcterms:created>
  <dcterms:modified xsi:type="dcterms:W3CDTF">2026-07-29T14:24:34Z</dcterms:modified>
</cp:coreProperties>
</file>